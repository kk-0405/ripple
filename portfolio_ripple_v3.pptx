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164592"/>
          </a:xfrm>
          <a:prstGeom prst="rect">
            <a:avLst/>
          </a:prstGeom>
          <a:solidFill>
            <a:srgbClr val="1B3A6B"/>
          </a:solidFill>
          <a:ln/>
        </p:spPr>
      </p:sp>
      <p:sp>
        <p:nvSpPr>
          <p:cNvPr id="4" name="Shape 2"/>
          <p:cNvSpPr/>
          <p:nvPr/>
        </p:nvSpPr>
        <p:spPr>
          <a:xfrm>
            <a:off x="8229600" y="164592"/>
            <a:ext cx="3959352" cy="6693408"/>
          </a:xfrm>
          <a:prstGeom prst="rect">
            <a:avLst/>
          </a:prstGeom>
          <a:solidFill>
            <a:srgbClr val="EEF2FA"/>
          </a:solidFill>
          <a:ln/>
        </p:spPr>
      </p:sp>
      <p:sp>
        <p:nvSpPr>
          <p:cNvPr id="5" name="Shape 3"/>
          <p:cNvSpPr/>
          <p:nvPr/>
        </p:nvSpPr>
        <p:spPr>
          <a:xfrm>
            <a:off x="8229600" y="164592"/>
            <a:ext cx="0" cy="6693408"/>
          </a:xfrm>
          <a:prstGeom prst="line">
            <a:avLst/>
          </a:prstGeom>
          <a:noFill/>
          <a:ln w="9525">
            <a:solidFill>
              <a:srgbClr val="4A6FA5"/>
            </a:solidFill>
            <a:prstDash val="solid"/>
          </a:ln>
        </p:spPr>
      </p:sp>
      <p:sp>
        <p:nvSpPr>
          <p:cNvPr id="6" name="Text 4"/>
          <p:cNvSpPr/>
          <p:nvPr/>
        </p:nvSpPr>
        <p:spPr>
          <a:xfrm>
            <a:off x="548640" y="1097280"/>
            <a:ext cx="6858000" cy="1188720"/>
          </a:xfrm>
          <a:prstGeom prst="rect">
            <a:avLst/>
          </a:prstGeom>
          <a:noFill/>
          <a:ln/>
        </p:spPr>
        <p:txBody>
          <a:bodyPr wrap="square" rtlCol="0" anchor="ctr"/>
          <a:lstStyle/>
          <a:p>
            <a:pPr indent="0" marL="0">
              <a:buNone/>
            </a:pPr>
            <a:r>
              <a:rPr lang="en-US" sz="6000" b="1" dirty="0">
                <a:solidFill>
                  <a:srgbClr val="1B3A6B"/>
                </a:solidFill>
                <a:latin typeface="Yu Mincho" pitchFamily="34" charset="0"/>
                <a:ea typeface="Yu Mincho" pitchFamily="34" charset="-122"/>
                <a:cs typeface="Yu Mincho" pitchFamily="34" charset="-120"/>
              </a:rPr>
              <a:t>Ripple</a:t>
            </a:r>
            <a:endParaRPr lang="en-US" sz="6000" dirty="0"/>
          </a:p>
        </p:txBody>
      </p:sp>
      <p:sp>
        <p:nvSpPr>
          <p:cNvPr id="7" name="Text 5"/>
          <p:cNvSpPr/>
          <p:nvPr/>
        </p:nvSpPr>
        <p:spPr>
          <a:xfrm>
            <a:off x="548640" y="2331720"/>
            <a:ext cx="6858000" cy="502920"/>
          </a:xfrm>
          <a:prstGeom prst="rect">
            <a:avLst/>
          </a:prstGeom>
          <a:noFill/>
          <a:ln/>
        </p:spPr>
        <p:txBody>
          <a:bodyPr wrap="square" rtlCol="0" anchor="ctr"/>
          <a:lstStyle/>
          <a:p>
            <a:pPr indent="0" marL="0">
              <a:buNone/>
            </a:pPr>
            <a:r>
              <a:rPr lang="en-US" sz="2200" dirty="0">
                <a:solidFill>
                  <a:srgbClr val="2D5096"/>
                </a:solidFill>
                <a:latin typeface="Yu Gothic" pitchFamily="34" charset="0"/>
                <a:ea typeface="Yu Gothic" pitchFamily="34" charset="-122"/>
                <a:cs typeface="Yu Gothic" pitchFamily="34" charset="-120"/>
              </a:rPr>
              <a:t>Find Your Sound</a:t>
            </a:r>
            <a:endParaRPr lang="en-US" sz="2200" dirty="0"/>
          </a:p>
        </p:txBody>
      </p:sp>
      <p:sp>
        <p:nvSpPr>
          <p:cNvPr id="8" name="Shape 6"/>
          <p:cNvSpPr/>
          <p:nvPr/>
        </p:nvSpPr>
        <p:spPr>
          <a:xfrm>
            <a:off x="548640" y="2971800"/>
            <a:ext cx="4572000" cy="0"/>
          </a:xfrm>
          <a:prstGeom prst="line">
            <a:avLst/>
          </a:prstGeom>
          <a:noFill/>
          <a:ln w="19050">
            <a:solidFill>
              <a:srgbClr val="1B3A6B"/>
            </a:solidFill>
            <a:prstDash val="solid"/>
          </a:ln>
        </p:spPr>
      </p:sp>
      <p:sp>
        <p:nvSpPr>
          <p:cNvPr id="9" name="Text 7"/>
          <p:cNvSpPr/>
          <p:nvPr/>
        </p:nvSpPr>
        <p:spPr>
          <a:xfrm>
            <a:off x="548640" y="3154680"/>
            <a:ext cx="6858000" cy="320040"/>
          </a:xfrm>
          <a:prstGeom prst="rect">
            <a:avLst/>
          </a:prstGeom>
          <a:noFill/>
          <a:ln/>
        </p:spPr>
        <p:txBody>
          <a:bodyPr wrap="square" rtlCol="0" anchor="ctr"/>
          <a:lstStyle/>
          <a:p>
            <a:pPr indent="0" marL="0">
              <a:buNone/>
            </a:pPr>
            <a:r>
              <a:rPr lang="en-US" sz="1300" dirty="0">
                <a:solidFill>
                  <a:srgbClr val="888888"/>
                </a:solidFill>
                <a:latin typeface="Yu Gothic" pitchFamily="34" charset="0"/>
                <a:ea typeface="Yu Gothic" pitchFamily="34" charset="-122"/>
                <a:cs typeface="Yu Gothic" pitchFamily="34" charset="-120"/>
              </a:rPr>
              <a:t>類似曲検索アプリ</a:t>
            </a:r>
            <a:endParaRPr lang="en-US" sz="1300" dirty="0"/>
          </a:p>
        </p:txBody>
      </p:sp>
      <p:sp>
        <p:nvSpPr>
          <p:cNvPr id="10" name="Shape 8"/>
          <p:cNvSpPr/>
          <p:nvPr/>
        </p:nvSpPr>
        <p:spPr>
          <a:xfrm>
            <a:off x="548640" y="3703320"/>
            <a:ext cx="2103120" cy="329184"/>
          </a:xfrm>
          <a:prstGeom prst="rect">
            <a:avLst/>
          </a:prstGeom>
          <a:solidFill>
            <a:srgbClr val="1B3A6B"/>
          </a:solidFill>
          <a:ln/>
        </p:spPr>
      </p:sp>
      <p:sp>
        <p:nvSpPr>
          <p:cNvPr id="11" name="Text 9"/>
          <p:cNvSpPr/>
          <p:nvPr/>
        </p:nvSpPr>
        <p:spPr>
          <a:xfrm>
            <a:off x="548640" y="3703320"/>
            <a:ext cx="2103120" cy="329184"/>
          </a:xfrm>
          <a:prstGeom prst="rect">
            <a:avLst/>
          </a:prstGeom>
          <a:noFill/>
          <a:ln/>
        </p:spPr>
        <p:txBody>
          <a:bodyPr wrap="square"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AI 活用</a:t>
            </a:r>
            <a:endParaRPr lang="en-US" sz="1000" dirty="0"/>
          </a:p>
        </p:txBody>
      </p:sp>
      <p:sp>
        <p:nvSpPr>
          <p:cNvPr id="12" name="Shape 10"/>
          <p:cNvSpPr/>
          <p:nvPr/>
        </p:nvSpPr>
        <p:spPr>
          <a:xfrm>
            <a:off x="2880360" y="3703320"/>
            <a:ext cx="2103120" cy="329184"/>
          </a:xfrm>
          <a:prstGeom prst="rect">
            <a:avLst/>
          </a:prstGeom>
          <a:solidFill>
            <a:srgbClr val="1B3A6B"/>
          </a:solidFill>
          <a:ln/>
        </p:spPr>
      </p:sp>
      <p:sp>
        <p:nvSpPr>
          <p:cNvPr id="13" name="Text 11"/>
          <p:cNvSpPr/>
          <p:nvPr/>
        </p:nvSpPr>
        <p:spPr>
          <a:xfrm>
            <a:off x="2880360" y="3703320"/>
            <a:ext cx="2103120" cy="329184"/>
          </a:xfrm>
          <a:prstGeom prst="rect">
            <a:avLst/>
          </a:prstGeom>
          <a:noFill/>
          <a:ln/>
        </p:spPr>
        <p:txBody>
          <a:bodyPr wrap="square"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完全無料構成</a:t>
            </a:r>
            <a:endParaRPr lang="en-US" sz="1000" dirty="0"/>
          </a:p>
        </p:txBody>
      </p:sp>
      <p:sp>
        <p:nvSpPr>
          <p:cNvPr id="14" name="Shape 12"/>
          <p:cNvSpPr/>
          <p:nvPr/>
        </p:nvSpPr>
        <p:spPr>
          <a:xfrm>
            <a:off x="5212080" y="3703320"/>
            <a:ext cx="2103120" cy="329184"/>
          </a:xfrm>
          <a:prstGeom prst="rect">
            <a:avLst/>
          </a:prstGeom>
          <a:solidFill>
            <a:srgbClr val="1B3A6B"/>
          </a:solidFill>
          <a:ln/>
        </p:spPr>
      </p:sp>
      <p:sp>
        <p:nvSpPr>
          <p:cNvPr id="15" name="Text 13"/>
          <p:cNvSpPr/>
          <p:nvPr/>
        </p:nvSpPr>
        <p:spPr>
          <a:xfrm>
            <a:off x="5212080" y="3703320"/>
            <a:ext cx="2103120" cy="329184"/>
          </a:xfrm>
          <a:prstGeom prst="rect">
            <a:avLst/>
          </a:prstGeom>
          <a:noFill/>
          <a:ln/>
        </p:spPr>
        <p:txBody>
          <a:bodyPr wrap="square" rtlCol="0" anchor="ctr"/>
          <a:lstStyle/>
          <a:p>
            <a:pPr algn="ctr" indent="0" marL="0">
              <a:buNone/>
            </a:pPr>
            <a:r>
              <a:rPr lang="en-US" sz="1000" b="1" dirty="0">
                <a:solidFill>
                  <a:srgbClr val="FFFFFF"/>
                </a:solidFill>
                <a:latin typeface="Yu Gothic" pitchFamily="34" charset="0"/>
                <a:ea typeface="Yu Gothic" pitchFamily="34" charset="-122"/>
                <a:cs typeface="Yu Gothic" pitchFamily="34" charset="-120"/>
              </a:rPr>
              <a:t>フルスタック実装</a:t>
            </a:r>
            <a:endParaRPr lang="en-US" sz="1000" dirty="0"/>
          </a:p>
        </p:txBody>
      </p:sp>
      <p:sp>
        <p:nvSpPr>
          <p:cNvPr id="16" name="Text 14"/>
          <p:cNvSpPr/>
          <p:nvPr/>
        </p:nvSpPr>
        <p:spPr>
          <a:xfrm>
            <a:off x="548640" y="4251960"/>
            <a:ext cx="6858000" cy="274320"/>
          </a:xfrm>
          <a:prstGeom prst="rect">
            <a:avLst/>
          </a:prstGeom>
          <a:noFill/>
          <a:ln/>
        </p:spPr>
        <p:txBody>
          <a:bodyPr wrap="square" rtlCol="0" anchor="ctr"/>
          <a:lstStyle/>
          <a:p>
            <a:pPr indent="0" marL="0">
              <a:buNone/>
            </a:pPr>
            <a:r>
              <a:rPr lang="en-US" sz="1100" u="sng" dirty="0">
                <a:solidFill>
                  <a:srgbClr val="2D5096"/>
                </a:solidFill>
                <a:latin typeface="Yu Gothic" pitchFamily="34" charset="0"/>
                <a:ea typeface="Yu Gothic" pitchFamily="34" charset="-122"/>
                <a:cs typeface="Yu Gothic" pitchFamily="34" charset="-120"/>
              </a:rPr>
              <a:t>https://ripplefm.vercel.app</a:t>
            </a:r>
            <a:endParaRPr lang="en-US" sz="1100" dirty="0"/>
          </a:p>
        </p:txBody>
      </p:sp>
      <p:sp>
        <p:nvSpPr>
          <p:cNvPr id="17" name="Text 15"/>
          <p:cNvSpPr/>
          <p:nvPr/>
        </p:nvSpPr>
        <p:spPr>
          <a:xfrm>
            <a:off x="548640" y="4590288"/>
            <a:ext cx="6858000" cy="274320"/>
          </a:xfrm>
          <a:prstGeom prst="rect">
            <a:avLst/>
          </a:prstGeom>
          <a:noFill/>
          <a:ln/>
        </p:spPr>
        <p:txBody>
          <a:bodyPr wrap="square" rtlCol="0" anchor="ctr"/>
          <a:lstStyle/>
          <a:p>
            <a:pPr indent="0" marL="0">
              <a:buNone/>
            </a:pPr>
            <a:r>
              <a:rPr lang="en-US" sz="1100" u="sng" dirty="0">
                <a:solidFill>
                  <a:srgbClr val="2D5096"/>
                </a:solidFill>
                <a:latin typeface="Yu Gothic" pitchFamily="34" charset="0"/>
                <a:ea typeface="Yu Gothic" pitchFamily="34" charset="-122"/>
                <a:cs typeface="Yu Gothic" pitchFamily="34" charset="-120"/>
              </a:rPr>
              <a:t>https://github.com/KK-0405/Ripple</a:t>
            </a:r>
            <a:endParaRPr lang="en-US" sz="1100" dirty="0"/>
          </a:p>
        </p:txBody>
      </p:sp>
      <p:pic>
        <p:nvPicPr>
          <p:cNvPr id="18" name="Image 0" descr="preencoded.png">    </p:cNvPr>
          <p:cNvPicPr>
            <a:picLocks noChangeAspect="1"/>
          </p:cNvPicPr>
          <p:nvPr/>
        </p:nvPicPr>
        <p:blipFill>
          <a:blip r:embed="rId1"/>
          <a:stretch>
            <a:fillRect/>
          </a:stretch>
        </p:blipFill>
        <p:spPr>
          <a:xfrm>
            <a:off x="548640" y="4956048"/>
            <a:ext cx="1417320" cy="1417320"/>
          </a:xfrm>
          <a:prstGeom prst="rect">
            <a:avLst/>
          </a:prstGeom>
        </p:spPr>
      </p:pic>
      <p:sp>
        <p:nvSpPr>
          <p:cNvPr id="19" name="Text 16"/>
          <p:cNvSpPr/>
          <p:nvPr/>
        </p:nvSpPr>
        <p:spPr>
          <a:xfrm>
            <a:off x="2834640" y="6309360"/>
            <a:ext cx="5120640" cy="256032"/>
          </a:xfrm>
          <a:prstGeom prst="rect">
            <a:avLst/>
          </a:prstGeom>
          <a:noFill/>
          <a:ln/>
        </p:spPr>
        <p:txBody>
          <a:bodyPr wrap="square" rtlCol="0" anchor="ctr"/>
          <a:lstStyle/>
          <a:p>
            <a:pPr indent="0" marL="0">
              <a:buNone/>
            </a:pPr>
            <a:r>
              <a:rPr lang="en-US" sz="850" dirty="0">
                <a:solidFill>
                  <a:srgbClr val="888888"/>
                </a:solidFill>
                <a:latin typeface="Yu Gothic" pitchFamily="34" charset="0"/>
                <a:ea typeface="Yu Gothic" pitchFamily="34" charset="-122"/>
                <a:cs typeface="Yu Gothic" pitchFamily="34" charset="-120"/>
              </a:rPr>
              <a:t>6,494行  ·  29ファイル  ·  4コンポーネント  ·  12 APIエンドポイント</a:t>
            </a:r>
            <a:endParaRPr lang="en-US" sz="850" dirty="0"/>
          </a:p>
        </p:txBody>
      </p:sp>
      <p:sp>
        <p:nvSpPr>
          <p:cNvPr id="20" name="Text 17"/>
          <p:cNvSpPr/>
          <p:nvPr/>
        </p:nvSpPr>
        <p:spPr>
          <a:xfrm>
            <a:off x="548640" y="6309360"/>
            <a:ext cx="3657600" cy="256032"/>
          </a:xfrm>
          <a:prstGeom prst="rect">
            <a:avLst/>
          </a:prstGeom>
          <a:noFill/>
          <a:ln/>
        </p:spPr>
        <p:txBody>
          <a:bodyPr wrap="square" rtlCol="0" anchor="ctr"/>
          <a:lstStyle/>
          <a:p>
            <a:pPr indent="0" marL="0">
              <a:buNone/>
            </a:pPr>
            <a:r>
              <a:rPr lang="en-US" sz="1000" dirty="0">
                <a:solidFill>
                  <a:srgbClr val="888888"/>
                </a:solidFill>
                <a:latin typeface="Yu Gothic" pitchFamily="34" charset="0"/>
                <a:ea typeface="Yu Gothic" pitchFamily="34" charset="-122"/>
                <a:cs typeface="Yu Gothic" pitchFamily="34" charset="-120"/>
              </a:rPr>
              <a:t>2026年3月　｜　開発期間：7日</a:t>
            </a:r>
            <a:endParaRPr lang="en-US" sz="1000" dirty="0"/>
          </a:p>
        </p:txBody>
      </p:sp>
      <p:sp>
        <p:nvSpPr>
          <p:cNvPr id="21" name="Text 18"/>
          <p:cNvSpPr/>
          <p:nvPr/>
        </p:nvSpPr>
        <p:spPr>
          <a:xfrm>
            <a:off x="8458200" y="502920"/>
            <a:ext cx="3474720" cy="347472"/>
          </a:xfrm>
          <a:prstGeom prst="rect">
            <a:avLst/>
          </a:prstGeom>
          <a:noFill/>
          <a:ln/>
        </p:spPr>
        <p:txBody>
          <a:bodyPr wrap="square" rtlCol="0" anchor="ctr"/>
          <a:lstStyle/>
          <a:p>
            <a:pPr indent="0" marL="0">
              <a:buNone/>
            </a:pPr>
            <a:r>
              <a:rPr lang="en-US" sz="1400" b="1" dirty="0">
                <a:solidFill>
                  <a:srgbClr val="1B3A6B"/>
                </a:solidFill>
                <a:latin typeface="Yu Mincho" pitchFamily="34" charset="0"/>
                <a:ea typeface="Yu Mincho" pitchFamily="34" charset="-122"/>
                <a:cs typeface="Yu Mincho" pitchFamily="34" charset="-120"/>
              </a:rPr>
              <a:t>概要</a:t>
            </a:r>
            <a:endParaRPr lang="en-US" sz="1400" dirty="0"/>
          </a:p>
        </p:txBody>
      </p:sp>
      <p:sp>
        <p:nvSpPr>
          <p:cNvPr id="22" name="Shape 19"/>
          <p:cNvSpPr/>
          <p:nvPr/>
        </p:nvSpPr>
        <p:spPr>
          <a:xfrm>
            <a:off x="8458200" y="896112"/>
            <a:ext cx="3474720" cy="0"/>
          </a:xfrm>
          <a:prstGeom prst="line">
            <a:avLst/>
          </a:prstGeom>
          <a:noFill/>
          <a:ln w="6350">
            <a:solidFill>
              <a:srgbClr val="4A6FA5"/>
            </a:solidFill>
            <a:prstDash val="solid"/>
          </a:ln>
        </p:spPr>
      </p:sp>
      <p:sp>
        <p:nvSpPr>
          <p:cNvPr id="23" name="Text 20"/>
          <p:cNvSpPr/>
          <p:nvPr/>
        </p:nvSpPr>
        <p:spPr>
          <a:xfrm>
            <a:off x="8458200" y="1097280"/>
            <a:ext cx="914400" cy="274320"/>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対象</a:t>
            </a:r>
            <a:endParaRPr lang="en-US" sz="900" dirty="0"/>
          </a:p>
        </p:txBody>
      </p:sp>
      <p:sp>
        <p:nvSpPr>
          <p:cNvPr id="24" name="Text 21"/>
          <p:cNvSpPr/>
          <p:nvPr/>
        </p:nvSpPr>
        <p:spPr>
          <a:xfrm>
            <a:off x="9509760" y="1051560"/>
            <a:ext cx="2468880" cy="50292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音楽ファンとDJ</a:t>
            </a:r>
            <a:endParaRPr lang="en-US" sz="1000" dirty="0"/>
          </a:p>
        </p:txBody>
      </p:sp>
      <p:sp>
        <p:nvSpPr>
          <p:cNvPr id="25" name="Shape 22"/>
          <p:cNvSpPr/>
          <p:nvPr/>
        </p:nvSpPr>
        <p:spPr>
          <a:xfrm>
            <a:off x="8458200" y="1737360"/>
            <a:ext cx="3474720" cy="0"/>
          </a:xfrm>
          <a:prstGeom prst="line">
            <a:avLst/>
          </a:prstGeom>
          <a:noFill/>
          <a:ln w="3810">
            <a:solidFill>
              <a:srgbClr val="C5D0E6"/>
            </a:solidFill>
            <a:prstDash val="solid"/>
          </a:ln>
        </p:spPr>
      </p:sp>
      <p:sp>
        <p:nvSpPr>
          <p:cNvPr id="26" name="Text 23"/>
          <p:cNvSpPr/>
          <p:nvPr/>
        </p:nvSpPr>
        <p:spPr>
          <a:xfrm>
            <a:off x="8458200" y="2011680"/>
            <a:ext cx="914400" cy="274320"/>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機能</a:t>
            </a:r>
            <a:endParaRPr lang="en-US" sz="900" dirty="0"/>
          </a:p>
        </p:txBody>
      </p:sp>
      <p:sp>
        <p:nvSpPr>
          <p:cNvPr id="27" name="Text 24"/>
          <p:cNvSpPr/>
          <p:nvPr/>
        </p:nvSpPr>
        <p:spPr>
          <a:xfrm>
            <a:off x="9509760" y="1965960"/>
            <a:ext cx="2468880" cy="50292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楽曲検索・AI類似曲提案</a:t>
            </a:r>
            <a:endParaRPr lang="en-US" sz="1000" dirty="0"/>
          </a:p>
          <a:p>
            <a:pPr indent="0" marL="0">
              <a:buNone/>
            </a:pPr>
            <a:r>
              <a:rPr lang="en-US" sz="1000" dirty="0">
                <a:solidFill>
                  <a:srgbClr val="444444"/>
                </a:solidFill>
                <a:latin typeface="Yu Gothic" pitchFamily="34" charset="0"/>
                <a:ea typeface="Yu Gothic" pitchFamily="34" charset="-122"/>
                <a:cs typeface="Yu Gothic" pitchFamily="34" charset="-120"/>
              </a:rPr>
              <a:t>プレイリスト管理</a:t>
            </a:r>
            <a:endParaRPr lang="en-US" sz="1000" dirty="0"/>
          </a:p>
          <a:p>
            <a:pPr indent="0" marL="0">
              <a:buNone/>
            </a:pPr>
            <a:r>
              <a:rPr lang="en-US" sz="1000" dirty="0">
                <a:solidFill>
                  <a:srgbClr val="444444"/>
                </a:solidFill>
                <a:latin typeface="Yu Gothic" pitchFamily="34" charset="0"/>
                <a:ea typeface="Yu Gothic" pitchFamily="34" charset="-122"/>
                <a:cs typeface="Yu Gothic" pitchFamily="34" charset="-120"/>
              </a:rPr>
              <a:t>YouTube Music書き出し（※テストユーザーのみ）</a:t>
            </a:r>
            <a:endParaRPr lang="en-US" sz="1000" dirty="0"/>
          </a:p>
        </p:txBody>
      </p:sp>
      <p:sp>
        <p:nvSpPr>
          <p:cNvPr id="28" name="Shape 25"/>
          <p:cNvSpPr/>
          <p:nvPr/>
        </p:nvSpPr>
        <p:spPr>
          <a:xfrm>
            <a:off x="8458200" y="2651760"/>
            <a:ext cx="3474720" cy="0"/>
          </a:xfrm>
          <a:prstGeom prst="line">
            <a:avLst/>
          </a:prstGeom>
          <a:noFill/>
          <a:ln w="3810">
            <a:solidFill>
              <a:srgbClr val="C5D0E6"/>
            </a:solidFill>
            <a:prstDash val="solid"/>
          </a:ln>
        </p:spPr>
      </p:sp>
      <p:sp>
        <p:nvSpPr>
          <p:cNvPr id="29" name="Text 26"/>
          <p:cNvSpPr/>
          <p:nvPr/>
        </p:nvSpPr>
        <p:spPr>
          <a:xfrm>
            <a:off x="8458200" y="2926080"/>
            <a:ext cx="914400" cy="274320"/>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技術</a:t>
            </a:r>
            <a:endParaRPr lang="en-US" sz="900" dirty="0"/>
          </a:p>
        </p:txBody>
      </p:sp>
      <p:sp>
        <p:nvSpPr>
          <p:cNvPr id="30" name="Text 27"/>
          <p:cNvSpPr/>
          <p:nvPr/>
        </p:nvSpPr>
        <p:spPr>
          <a:xfrm>
            <a:off x="9509760" y="2880360"/>
            <a:ext cx="2468880" cy="50292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Next.js / React / TypeScript</a:t>
            </a:r>
            <a:endParaRPr lang="en-US" sz="1000" dirty="0"/>
          </a:p>
          <a:p>
            <a:pPr indent="0" marL="0">
              <a:buNone/>
            </a:pPr>
            <a:r>
              <a:rPr lang="en-US" sz="1000" dirty="0">
                <a:solidFill>
                  <a:srgbClr val="444444"/>
                </a:solidFill>
                <a:latin typeface="Yu Gothic" pitchFamily="34" charset="0"/>
                <a:ea typeface="Yu Gothic" pitchFamily="34" charset="-122"/>
                <a:cs typeface="Yu Gothic" pitchFamily="34" charset="-120"/>
              </a:rPr>
              <a:t>Tailwind CSS v4</a:t>
            </a:r>
            <a:endParaRPr lang="en-US" sz="1000" dirty="0"/>
          </a:p>
        </p:txBody>
      </p:sp>
      <p:sp>
        <p:nvSpPr>
          <p:cNvPr id="31" name="Shape 28"/>
          <p:cNvSpPr/>
          <p:nvPr/>
        </p:nvSpPr>
        <p:spPr>
          <a:xfrm>
            <a:off x="8458200" y="3566160"/>
            <a:ext cx="3474720" cy="0"/>
          </a:xfrm>
          <a:prstGeom prst="line">
            <a:avLst/>
          </a:prstGeom>
          <a:noFill/>
          <a:ln w="3810">
            <a:solidFill>
              <a:srgbClr val="C5D0E6"/>
            </a:solidFill>
            <a:prstDash val="solid"/>
          </a:ln>
        </p:spPr>
      </p:sp>
      <p:sp>
        <p:nvSpPr>
          <p:cNvPr id="32" name="Text 29"/>
          <p:cNvSpPr/>
          <p:nvPr/>
        </p:nvSpPr>
        <p:spPr>
          <a:xfrm>
            <a:off x="8458200" y="3840480"/>
            <a:ext cx="914400" cy="274320"/>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インフラ</a:t>
            </a:r>
            <a:endParaRPr lang="en-US" sz="900" dirty="0"/>
          </a:p>
        </p:txBody>
      </p:sp>
      <p:sp>
        <p:nvSpPr>
          <p:cNvPr id="33" name="Text 30"/>
          <p:cNvSpPr/>
          <p:nvPr/>
        </p:nvSpPr>
        <p:spPr>
          <a:xfrm>
            <a:off x="9509760" y="3794760"/>
            <a:ext cx="2468880" cy="50292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Vercel (ホスティング)</a:t>
            </a:r>
            <a:endParaRPr lang="en-US" sz="1000" dirty="0"/>
          </a:p>
          <a:p>
            <a:pPr indent="0" marL="0">
              <a:buNone/>
            </a:pPr>
            <a:r>
              <a:rPr lang="en-US" sz="1000" dirty="0">
                <a:solidFill>
                  <a:srgbClr val="444444"/>
                </a:solidFill>
                <a:latin typeface="Yu Gothic" pitchFamily="34" charset="0"/>
                <a:ea typeface="Yu Gothic" pitchFamily="34" charset="-122"/>
                <a:cs typeface="Yu Gothic" pitchFamily="34" charset="-120"/>
              </a:rPr>
              <a:t>Supabase (DB / Auth)</a:t>
            </a:r>
            <a:endParaRPr lang="en-US" sz="1000" dirty="0"/>
          </a:p>
        </p:txBody>
      </p:sp>
      <p:sp>
        <p:nvSpPr>
          <p:cNvPr id="34" name="Shape 31"/>
          <p:cNvSpPr/>
          <p:nvPr/>
        </p:nvSpPr>
        <p:spPr>
          <a:xfrm>
            <a:off x="8458200" y="4480560"/>
            <a:ext cx="3474720" cy="0"/>
          </a:xfrm>
          <a:prstGeom prst="line">
            <a:avLst/>
          </a:prstGeom>
          <a:noFill/>
          <a:ln w="3810">
            <a:solidFill>
              <a:srgbClr val="C5D0E6"/>
            </a:solidFill>
            <a:prstDash val="solid"/>
          </a:ln>
        </p:spPr>
      </p:sp>
      <p:sp>
        <p:nvSpPr>
          <p:cNvPr id="35" name="Text 32"/>
          <p:cNvSpPr/>
          <p:nvPr/>
        </p:nvSpPr>
        <p:spPr>
          <a:xfrm>
            <a:off x="8458200" y="4754880"/>
            <a:ext cx="914400" cy="274320"/>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AI</a:t>
            </a:r>
            <a:endParaRPr lang="en-US" sz="900" dirty="0"/>
          </a:p>
        </p:txBody>
      </p:sp>
      <p:sp>
        <p:nvSpPr>
          <p:cNvPr id="36" name="Text 33"/>
          <p:cNvSpPr/>
          <p:nvPr/>
        </p:nvSpPr>
        <p:spPr>
          <a:xfrm>
            <a:off x="9509760" y="4709160"/>
            <a:ext cx="2468880" cy="50292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Google Gemini API</a:t>
            </a:r>
            <a:endParaRPr lang="en-US" sz="1000" dirty="0"/>
          </a:p>
          <a:p>
            <a:pPr indent="0" marL="0">
              <a:buNone/>
            </a:pPr>
            <a:r>
              <a:rPr lang="en-US" sz="1000" dirty="0">
                <a:solidFill>
                  <a:srgbClr val="444444"/>
                </a:solidFill>
                <a:latin typeface="Yu Gothic" pitchFamily="34" charset="0"/>
                <a:ea typeface="Yu Gothic" pitchFamily="34" charset="-122"/>
                <a:cs typeface="Yu Gothic" pitchFamily="34" charset="-120"/>
              </a:rPr>
              <a:t>（類似曲推薦・メタデータ解析）</a:t>
            </a:r>
            <a:endParaRPr lang="en-US" sz="1000" dirty="0"/>
          </a:p>
        </p:txBody>
      </p:sp>
      <p:sp>
        <p:nvSpPr>
          <p:cNvPr id="37" name="Shape 34"/>
          <p:cNvSpPr/>
          <p:nvPr/>
        </p:nvSpPr>
        <p:spPr>
          <a:xfrm>
            <a:off x="8458200" y="5394960"/>
            <a:ext cx="3474720" cy="0"/>
          </a:xfrm>
          <a:prstGeom prst="line">
            <a:avLst/>
          </a:prstGeom>
          <a:noFill/>
          <a:ln w="3810">
            <a:solidFill>
              <a:srgbClr val="C5D0E6"/>
            </a:solidFill>
            <a:prstDash val="solid"/>
          </a:ln>
        </p:spPr>
      </p:sp>
      <p:sp>
        <p:nvSpPr>
          <p:cNvPr id="38" name="Text 35"/>
          <p:cNvSpPr/>
          <p:nvPr/>
        </p:nvSpPr>
        <p:spPr>
          <a:xfrm>
            <a:off x="8458200" y="5669280"/>
            <a:ext cx="914400" cy="274320"/>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費用</a:t>
            </a:r>
            <a:endParaRPr lang="en-US" sz="900" dirty="0"/>
          </a:p>
        </p:txBody>
      </p:sp>
      <p:sp>
        <p:nvSpPr>
          <p:cNvPr id="39" name="Text 36"/>
          <p:cNvSpPr/>
          <p:nvPr/>
        </p:nvSpPr>
        <p:spPr>
          <a:xfrm>
            <a:off x="9509760" y="5623560"/>
            <a:ext cx="2468880" cy="50292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月額 ¥0</a:t>
            </a:r>
            <a:endParaRPr lang="en-US" sz="1000" dirty="0"/>
          </a:p>
          <a:p>
            <a:pPr indent="0" marL="0">
              <a:buNone/>
            </a:pPr>
            <a:r>
              <a:rPr lang="en-US" sz="1000" dirty="0">
                <a:solidFill>
                  <a:srgbClr val="444444"/>
                </a:solidFill>
                <a:latin typeface="Yu Gothic" pitchFamily="34" charset="0"/>
                <a:ea typeface="Yu Gothic" pitchFamily="34" charset="-122"/>
                <a:cs typeface="Yu Gothic" pitchFamily="34" charset="-120"/>
              </a:rPr>
              <a:t>（すべて無料枠のみ使用）</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73152"/>
          </a:xfrm>
          <a:prstGeom prst="rect">
            <a:avLst/>
          </a:prstGeom>
          <a:solidFill>
            <a:srgbClr val="1B3A6B"/>
          </a:solidFill>
          <a:ln/>
        </p:spPr>
      </p:sp>
      <p:sp>
        <p:nvSpPr>
          <p:cNvPr id="4" name="Text 2"/>
          <p:cNvSpPr/>
          <p:nvPr/>
        </p:nvSpPr>
        <p:spPr>
          <a:xfrm>
            <a:off x="10972800" y="109728"/>
            <a:ext cx="1005840" cy="201168"/>
          </a:xfrm>
          <a:prstGeom prst="rect">
            <a:avLst/>
          </a:prstGeom>
          <a:noFill/>
          <a:ln/>
        </p:spPr>
        <p:txBody>
          <a:bodyPr wrap="square" rtlCol="0" anchor="ctr"/>
          <a:lstStyle/>
          <a:p>
            <a:pPr algn="r" indent="0" marL="0">
              <a:buNone/>
            </a:pPr>
            <a:r>
              <a:rPr lang="en-US" sz="800" dirty="0">
                <a:solidFill>
                  <a:srgbClr val="888888"/>
                </a:solidFill>
                <a:latin typeface="Yu Gothic" pitchFamily="34" charset="0"/>
                <a:ea typeface="Yu Gothic" pitchFamily="34" charset="-122"/>
                <a:cs typeface="Yu Gothic" pitchFamily="34" charset="-120"/>
              </a:rPr>
              <a:t>2 / 11</a:t>
            </a:r>
            <a:endParaRPr lang="en-US" sz="800" dirty="0"/>
          </a:p>
        </p:txBody>
      </p:sp>
      <p:sp>
        <p:nvSpPr>
          <p:cNvPr id="5" name="Text 3"/>
          <p:cNvSpPr/>
          <p:nvPr/>
        </p:nvSpPr>
        <p:spPr>
          <a:xfrm>
            <a:off x="411480" y="137160"/>
            <a:ext cx="10424160" cy="457200"/>
          </a:xfrm>
          <a:prstGeom prst="rect">
            <a:avLst/>
          </a:prstGeom>
          <a:noFill/>
          <a:ln/>
        </p:spPr>
        <p:txBody>
          <a:bodyPr wrap="square" rtlCol="0" anchor="ctr"/>
          <a:lstStyle/>
          <a:p>
            <a:pPr algn="l" indent="0" marL="0">
              <a:buNone/>
            </a:pPr>
            <a:r>
              <a:rPr lang="en-US" sz="1600" b="1" dirty="0">
                <a:solidFill>
                  <a:srgbClr val="1B3A6B"/>
                </a:solidFill>
                <a:latin typeface="Yu Mincho" pitchFamily="34" charset="0"/>
                <a:ea typeface="Yu Mincho" pitchFamily="34" charset="-122"/>
                <a:cs typeface="Yu Mincho" pitchFamily="34" charset="-120"/>
              </a:rPr>
              <a:t>未経験エンジニアがAIと無料サービスだけで類似曲検索アプリを完成させた</a:t>
            </a:r>
            <a:endParaRPr lang="en-US" sz="1600" dirty="0"/>
          </a:p>
        </p:txBody>
      </p:sp>
      <p:sp>
        <p:nvSpPr>
          <p:cNvPr id="6" name="Shape 4"/>
          <p:cNvSpPr/>
          <p:nvPr/>
        </p:nvSpPr>
        <p:spPr>
          <a:xfrm>
            <a:off x="411480" y="658368"/>
            <a:ext cx="11365992" cy="0"/>
          </a:xfrm>
          <a:prstGeom prst="line">
            <a:avLst/>
          </a:prstGeom>
          <a:noFill/>
          <a:ln w="9525">
            <a:solidFill>
              <a:srgbClr val="4A6FA5"/>
            </a:solidFill>
            <a:prstDash val="solid"/>
          </a:ln>
        </p:spPr>
      </p:sp>
      <p:sp>
        <p:nvSpPr>
          <p:cNvPr id="7" name="Text 5"/>
          <p:cNvSpPr/>
          <p:nvPr/>
        </p:nvSpPr>
        <p:spPr>
          <a:xfrm>
            <a:off x="411480" y="749808"/>
            <a:ext cx="11365992" cy="320040"/>
          </a:xfrm>
          <a:prstGeom prst="rect">
            <a:avLst/>
          </a:prstGeom>
          <a:noFill/>
          <a:ln/>
        </p:spPr>
        <p:txBody>
          <a:bodyPr wrap="square" rtlCol="0" anchor="ctr"/>
          <a:lstStyle/>
          <a:p>
            <a:pPr indent="0" marL="0">
              <a:buNone/>
            </a:pPr>
            <a:r>
              <a:rPr lang="en-US" sz="1150" dirty="0">
                <a:solidFill>
                  <a:srgbClr val="444444"/>
                </a:solidFill>
                <a:latin typeface="Yu Gothic" pitchFamily="34" charset="0"/>
                <a:ea typeface="Yu Gothic" pitchFamily="34" charset="-122"/>
                <a:cs typeface="Yu Gothic" pitchFamily="34" charset="-120"/>
              </a:rPr>
              <a:t>「曲を1つ入れるだけで似た曲が次々見つかる」── 自分のDJ活動の課題をAI技術で解決した個人開発アプリ。</a:t>
            </a:r>
            <a:endParaRPr lang="en-US" sz="1150" dirty="0"/>
          </a:p>
        </p:txBody>
      </p:sp>
      <p:sp>
        <p:nvSpPr>
          <p:cNvPr id="8" name="Shape 6"/>
          <p:cNvSpPr/>
          <p:nvPr/>
        </p:nvSpPr>
        <p:spPr>
          <a:xfrm>
            <a:off x="411480" y="1170432"/>
            <a:ext cx="3703320" cy="5394960"/>
          </a:xfrm>
          <a:prstGeom prst="rect">
            <a:avLst/>
          </a:prstGeom>
          <a:solidFill>
            <a:srgbClr val="EEF2FA"/>
          </a:solidFill>
          <a:ln w="6350">
            <a:solidFill>
              <a:srgbClr val="C5D0E6"/>
            </a:solidFill>
            <a:prstDash val="solid"/>
          </a:ln>
        </p:spPr>
      </p:sp>
      <p:sp>
        <p:nvSpPr>
          <p:cNvPr id="9" name="Shape 7"/>
          <p:cNvSpPr/>
          <p:nvPr/>
        </p:nvSpPr>
        <p:spPr>
          <a:xfrm>
            <a:off x="411480" y="1170432"/>
            <a:ext cx="3703320" cy="73152"/>
          </a:xfrm>
          <a:prstGeom prst="rect">
            <a:avLst/>
          </a:prstGeom>
          <a:solidFill>
            <a:srgbClr val="1B3A6B"/>
          </a:solidFill>
          <a:ln/>
        </p:spPr>
      </p:sp>
      <p:sp>
        <p:nvSpPr>
          <p:cNvPr id="10" name="Shape 8"/>
          <p:cNvSpPr/>
          <p:nvPr/>
        </p:nvSpPr>
        <p:spPr>
          <a:xfrm>
            <a:off x="594360" y="1298448"/>
            <a:ext cx="475488" cy="475488"/>
          </a:xfrm>
          <a:prstGeom prst="ellipse">
            <a:avLst/>
          </a:prstGeom>
          <a:solidFill>
            <a:srgbClr val="1B3A6B"/>
          </a:solidFill>
          <a:ln/>
        </p:spPr>
      </p:sp>
      <p:sp>
        <p:nvSpPr>
          <p:cNvPr id="11" name="Text 9"/>
          <p:cNvSpPr/>
          <p:nvPr/>
        </p:nvSpPr>
        <p:spPr>
          <a:xfrm>
            <a:off x="594360" y="1298448"/>
            <a:ext cx="475488" cy="47548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機能</a:t>
            </a:r>
            <a:endParaRPr lang="en-US" sz="1000" dirty="0"/>
          </a:p>
        </p:txBody>
      </p:sp>
      <p:sp>
        <p:nvSpPr>
          <p:cNvPr id="12" name="Text 10"/>
          <p:cNvSpPr/>
          <p:nvPr/>
        </p:nvSpPr>
        <p:spPr>
          <a:xfrm>
            <a:off x="1188720" y="1316736"/>
            <a:ext cx="2788920" cy="411480"/>
          </a:xfrm>
          <a:prstGeom prst="rect">
            <a:avLst/>
          </a:prstGeom>
          <a:noFill/>
          <a:ln/>
        </p:spPr>
        <p:txBody>
          <a:bodyPr wrap="square" rtlCol="0" anchor="ctr"/>
          <a:lstStyle/>
          <a:p>
            <a:pPr indent="0" marL="0">
              <a:buNone/>
            </a:pPr>
            <a:r>
              <a:rPr lang="en-US" sz="1400" b="1" dirty="0">
                <a:solidFill>
                  <a:srgbClr val="1B3A6B"/>
                </a:solidFill>
                <a:latin typeface="Yu Mincho" pitchFamily="34" charset="0"/>
                <a:ea typeface="Yu Mincho" pitchFamily="34" charset="-122"/>
                <a:cs typeface="Yu Mincho" pitchFamily="34" charset="-120"/>
              </a:rPr>
              <a:t>アプリでできること</a:t>
            </a:r>
            <a:endParaRPr lang="en-US" sz="1400" dirty="0"/>
          </a:p>
        </p:txBody>
      </p:sp>
      <p:sp>
        <p:nvSpPr>
          <p:cNvPr id="13" name="Shape 11"/>
          <p:cNvSpPr/>
          <p:nvPr/>
        </p:nvSpPr>
        <p:spPr>
          <a:xfrm>
            <a:off x="548640" y="1847088"/>
            <a:ext cx="3429000" cy="0"/>
          </a:xfrm>
          <a:prstGeom prst="line">
            <a:avLst/>
          </a:prstGeom>
          <a:noFill/>
          <a:ln w="6350">
            <a:solidFill>
              <a:srgbClr val="C5D0E6"/>
            </a:solidFill>
            <a:prstDash val="solid"/>
          </a:ln>
        </p:spPr>
      </p:sp>
      <p:sp>
        <p:nvSpPr>
          <p:cNvPr id="14" name="Text 12"/>
          <p:cNvSpPr/>
          <p:nvPr/>
        </p:nvSpPr>
        <p:spPr>
          <a:xfrm>
            <a:off x="548640" y="1920240"/>
            <a:ext cx="3429000" cy="228600"/>
          </a:xfrm>
          <a:prstGeom prst="rect">
            <a:avLst/>
          </a:prstGeom>
          <a:noFill/>
          <a:ln/>
        </p:spPr>
        <p:txBody>
          <a:bodyPr wrap="square" rtlCol="0" anchor="ctr"/>
          <a:lstStyle/>
          <a:p>
            <a:pPr indent="0" marL="0">
              <a:buNone/>
            </a:pPr>
            <a:r>
              <a:rPr lang="en-US" sz="900" b="1" dirty="0">
                <a:solidFill>
                  <a:srgbClr val="2D5096"/>
                </a:solidFill>
                <a:latin typeface="Yu Gothic" pitchFamily="34" charset="0"/>
                <a:ea typeface="Yu Gothic" pitchFamily="34" charset="-122"/>
                <a:cs typeface="Yu Gothic" pitchFamily="34" charset="-120"/>
              </a:rPr>
              <a:t>主要機能</a:t>
            </a:r>
            <a:endParaRPr lang="en-US" sz="900" dirty="0"/>
          </a:p>
        </p:txBody>
      </p:sp>
      <p:sp>
        <p:nvSpPr>
          <p:cNvPr id="15" name="Text 13"/>
          <p:cNvSpPr/>
          <p:nvPr/>
        </p:nvSpPr>
        <p:spPr>
          <a:xfrm>
            <a:off x="594360" y="2176272"/>
            <a:ext cx="3383280" cy="320040"/>
          </a:xfrm>
          <a:prstGeom prst="rect">
            <a:avLst/>
          </a:prstGeom>
          <a:noFill/>
          <a:ln/>
        </p:spPr>
        <p:txBody>
          <a:bodyPr wrap="square" rtlCol="0" anchor="ctr"/>
          <a:lstStyle/>
          <a:p>
            <a:pPr indent="0" marL="0">
              <a:buNone/>
            </a:pPr>
            <a:r>
              <a:rPr lang="en-US" sz="1050" dirty="0">
                <a:solidFill>
                  <a:srgbClr val="444444"/>
                </a:solidFill>
                <a:latin typeface="Yu Gothic" pitchFamily="34" charset="0"/>
                <a:ea typeface="Yu Gothic" pitchFamily="34" charset="-122"/>
                <a:cs typeface="Yu Gothic" pitchFamily="34" charset="-120"/>
              </a:rPr>
              <a:t>▸  楽曲検索 ＆ プレビュー再生</a:t>
            </a:r>
            <a:endParaRPr lang="en-US" sz="1050" dirty="0"/>
          </a:p>
        </p:txBody>
      </p:sp>
      <p:sp>
        <p:nvSpPr>
          <p:cNvPr id="16" name="Text 14"/>
          <p:cNvSpPr/>
          <p:nvPr/>
        </p:nvSpPr>
        <p:spPr>
          <a:xfrm>
            <a:off x="594360" y="2523744"/>
            <a:ext cx="3383280" cy="320040"/>
          </a:xfrm>
          <a:prstGeom prst="rect">
            <a:avLst/>
          </a:prstGeom>
          <a:noFill/>
          <a:ln/>
        </p:spPr>
        <p:txBody>
          <a:bodyPr wrap="square" rtlCol="0" anchor="ctr"/>
          <a:lstStyle/>
          <a:p>
            <a:pPr indent="0" marL="0">
              <a:buNone/>
            </a:pPr>
            <a:r>
              <a:rPr lang="en-US" sz="1050" dirty="0">
                <a:solidFill>
                  <a:srgbClr val="444444"/>
                </a:solidFill>
                <a:latin typeface="Yu Gothic" pitchFamily="34" charset="0"/>
                <a:ea typeface="Yu Gothic" pitchFamily="34" charset="-122"/>
                <a:cs typeface="Yu Gothic" pitchFamily="34" charset="-120"/>
              </a:rPr>
              <a:t>▸  AIによる類似曲提案（最大30曲）</a:t>
            </a:r>
            <a:endParaRPr lang="en-US" sz="1050" dirty="0"/>
          </a:p>
        </p:txBody>
      </p:sp>
      <p:sp>
        <p:nvSpPr>
          <p:cNvPr id="17" name="Text 15"/>
          <p:cNvSpPr/>
          <p:nvPr/>
        </p:nvSpPr>
        <p:spPr>
          <a:xfrm>
            <a:off x="594360" y="2871216"/>
            <a:ext cx="3383280" cy="320040"/>
          </a:xfrm>
          <a:prstGeom prst="rect">
            <a:avLst/>
          </a:prstGeom>
          <a:noFill/>
          <a:ln/>
        </p:spPr>
        <p:txBody>
          <a:bodyPr wrap="square" rtlCol="0" anchor="ctr"/>
          <a:lstStyle/>
          <a:p>
            <a:pPr indent="0" marL="0">
              <a:buNone/>
            </a:pPr>
            <a:r>
              <a:rPr lang="en-US" sz="1050" dirty="0">
                <a:solidFill>
                  <a:srgbClr val="444444"/>
                </a:solidFill>
                <a:latin typeface="Yu Gothic" pitchFamily="34" charset="0"/>
                <a:ea typeface="Yu Gothic" pitchFamily="34" charset="-122"/>
                <a:cs typeface="Yu Gothic" pitchFamily="34" charset="-120"/>
              </a:rPr>
              <a:t>▸  プレイリスト作成・保存・管理</a:t>
            </a:r>
            <a:endParaRPr lang="en-US" sz="1050" dirty="0"/>
          </a:p>
        </p:txBody>
      </p:sp>
      <p:sp>
        <p:nvSpPr>
          <p:cNvPr id="18" name="Text 16"/>
          <p:cNvSpPr/>
          <p:nvPr/>
        </p:nvSpPr>
        <p:spPr>
          <a:xfrm>
            <a:off x="594360" y="3218688"/>
            <a:ext cx="3383280" cy="320040"/>
          </a:xfrm>
          <a:prstGeom prst="rect">
            <a:avLst/>
          </a:prstGeom>
          <a:noFill/>
          <a:ln/>
        </p:spPr>
        <p:txBody>
          <a:bodyPr wrap="square" rtlCol="0" anchor="ctr"/>
          <a:lstStyle/>
          <a:p>
            <a:pPr indent="0" marL="0">
              <a:buNone/>
            </a:pPr>
            <a:r>
              <a:rPr lang="en-US" sz="1050" dirty="0">
                <a:solidFill>
                  <a:srgbClr val="444444"/>
                </a:solidFill>
                <a:latin typeface="Yu Gothic" pitchFamily="34" charset="0"/>
                <a:ea typeface="Yu Gothic" pitchFamily="34" charset="-122"/>
                <a:cs typeface="Yu Gothic" pitchFamily="34" charset="-120"/>
              </a:rPr>
              <a:t>▸  YouTube Musicライブラリへ書き出し（※OAuth審査待ち・現在はテストユーザーのみ）</a:t>
            </a:r>
            <a:endParaRPr lang="en-US" sz="1050" dirty="0"/>
          </a:p>
        </p:txBody>
      </p:sp>
      <p:sp>
        <p:nvSpPr>
          <p:cNvPr id="19" name="Shape 17"/>
          <p:cNvSpPr/>
          <p:nvPr/>
        </p:nvSpPr>
        <p:spPr>
          <a:xfrm>
            <a:off x="548640" y="3584448"/>
            <a:ext cx="3429000" cy="0"/>
          </a:xfrm>
          <a:prstGeom prst="line">
            <a:avLst/>
          </a:prstGeom>
          <a:noFill/>
          <a:ln w="3810">
            <a:solidFill>
              <a:srgbClr val="C5D0E6"/>
            </a:solidFill>
            <a:prstDash val="solid"/>
          </a:ln>
        </p:spPr>
      </p:sp>
      <p:sp>
        <p:nvSpPr>
          <p:cNvPr id="20" name="Text 18"/>
          <p:cNvSpPr/>
          <p:nvPr/>
        </p:nvSpPr>
        <p:spPr>
          <a:xfrm>
            <a:off x="548640" y="3657600"/>
            <a:ext cx="3429000" cy="228600"/>
          </a:xfrm>
          <a:prstGeom prst="rect">
            <a:avLst/>
          </a:prstGeom>
          <a:noFill/>
          <a:ln/>
        </p:spPr>
        <p:txBody>
          <a:bodyPr wrap="square" rtlCol="0" anchor="ctr"/>
          <a:lstStyle/>
          <a:p>
            <a:pPr indent="0" marL="0">
              <a:buNone/>
            </a:pPr>
            <a:r>
              <a:rPr lang="en-US" sz="900" b="1" dirty="0">
                <a:solidFill>
                  <a:srgbClr val="2D5096"/>
                </a:solidFill>
                <a:latin typeface="Yu Gothic" pitchFamily="34" charset="0"/>
                <a:ea typeface="Yu Gothic" pitchFamily="34" charset="-122"/>
                <a:cs typeface="Yu Gothic" pitchFamily="34" charset="-120"/>
              </a:rPr>
              <a:t>その他できること</a:t>
            </a:r>
            <a:endParaRPr lang="en-US" sz="900" dirty="0"/>
          </a:p>
        </p:txBody>
      </p:sp>
      <p:sp>
        <p:nvSpPr>
          <p:cNvPr id="21" name="Text 19"/>
          <p:cNvSpPr/>
          <p:nvPr/>
        </p:nvSpPr>
        <p:spPr>
          <a:xfrm>
            <a:off x="594360" y="3913632"/>
            <a:ext cx="3383280" cy="27432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  AIによる選曲理由の表示</a:t>
            </a:r>
            <a:endParaRPr lang="en-US" sz="1000" dirty="0"/>
          </a:p>
        </p:txBody>
      </p:sp>
      <p:sp>
        <p:nvSpPr>
          <p:cNvPr id="22" name="Text 20"/>
          <p:cNvSpPr/>
          <p:nvPr/>
        </p:nvSpPr>
        <p:spPr>
          <a:xfrm>
            <a:off x="594360" y="4215384"/>
            <a:ext cx="3383280" cy="27432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  サブシード設定で複数曲から絞り込み提案</a:t>
            </a:r>
            <a:endParaRPr lang="en-US" sz="1000" dirty="0"/>
          </a:p>
        </p:txBody>
      </p:sp>
      <p:sp>
        <p:nvSpPr>
          <p:cNvPr id="23" name="Text 21"/>
          <p:cNvSpPr/>
          <p:nvPr/>
        </p:nvSpPr>
        <p:spPr>
          <a:xfrm>
            <a:off x="594360" y="4517136"/>
            <a:ext cx="3383280" cy="27432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  BPM・キー・ジャンル・年代フィルター</a:t>
            </a:r>
            <a:endParaRPr lang="en-US" sz="1000" dirty="0"/>
          </a:p>
        </p:txBody>
      </p:sp>
      <p:sp>
        <p:nvSpPr>
          <p:cNvPr id="24" name="Text 22"/>
          <p:cNvSpPr/>
          <p:nvPr/>
        </p:nvSpPr>
        <p:spPr>
          <a:xfrm>
            <a:off x="594360" y="4818888"/>
            <a:ext cx="3383280" cy="27432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  YouTubeリンク ＆ 再生数表示</a:t>
            </a:r>
            <a:endParaRPr lang="en-US" sz="1000" dirty="0"/>
          </a:p>
        </p:txBody>
      </p:sp>
      <p:sp>
        <p:nvSpPr>
          <p:cNvPr id="25" name="Text 23"/>
          <p:cNvSpPr/>
          <p:nvPr/>
        </p:nvSpPr>
        <p:spPr>
          <a:xfrm>
            <a:off x="594360" y="5120640"/>
            <a:ext cx="3383280" cy="27432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  ドラッグ&amp;ドロップで曲順変更</a:t>
            </a:r>
            <a:endParaRPr lang="en-US" sz="1000" dirty="0"/>
          </a:p>
        </p:txBody>
      </p:sp>
      <p:sp>
        <p:nvSpPr>
          <p:cNvPr id="26" name="Text 24"/>
          <p:cNvSpPr/>
          <p:nvPr/>
        </p:nvSpPr>
        <p:spPr>
          <a:xfrm>
            <a:off x="594360" y="5422392"/>
            <a:ext cx="3383280" cy="27432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  検索履歴の保存・復元</a:t>
            </a:r>
            <a:endParaRPr lang="en-US" sz="1000" dirty="0"/>
          </a:p>
        </p:txBody>
      </p:sp>
      <p:sp>
        <p:nvSpPr>
          <p:cNvPr id="27" name="Text 25"/>
          <p:cNvSpPr/>
          <p:nvPr/>
        </p:nvSpPr>
        <p:spPr>
          <a:xfrm>
            <a:off x="594360" y="5724144"/>
            <a:ext cx="3383280" cy="27432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  プレイリストの公開 / 非公開設定</a:t>
            </a:r>
            <a:endParaRPr lang="en-US" sz="1000" dirty="0"/>
          </a:p>
        </p:txBody>
      </p:sp>
      <p:sp>
        <p:nvSpPr>
          <p:cNvPr id="28" name="Text 26"/>
          <p:cNvSpPr/>
          <p:nvPr/>
        </p:nvSpPr>
        <p:spPr>
          <a:xfrm>
            <a:off x="594360" y="6025896"/>
            <a:ext cx="3383280" cy="27432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  ダークモード / PWA（インストール対応）</a:t>
            </a:r>
            <a:endParaRPr lang="en-US" sz="1000" dirty="0"/>
          </a:p>
        </p:txBody>
      </p:sp>
      <p:sp>
        <p:nvSpPr>
          <p:cNvPr id="29" name="Shape 27"/>
          <p:cNvSpPr/>
          <p:nvPr/>
        </p:nvSpPr>
        <p:spPr>
          <a:xfrm>
            <a:off x="4315968" y="1170432"/>
            <a:ext cx="7607808" cy="5394960"/>
          </a:xfrm>
          <a:prstGeom prst="rect">
            <a:avLst/>
          </a:prstGeom>
          <a:solidFill>
            <a:srgbClr val="EEF2FA"/>
          </a:solidFill>
          <a:ln w="6350">
            <a:solidFill>
              <a:srgbClr val="C5D0E6"/>
            </a:solidFill>
            <a:prstDash val="solid"/>
          </a:ln>
        </p:spPr>
      </p:sp>
      <p:sp>
        <p:nvSpPr>
          <p:cNvPr id="30" name="Shape 28"/>
          <p:cNvSpPr/>
          <p:nvPr/>
        </p:nvSpPr>
        <p:spPr>
          <a:xfrm>
            <a:off x="4315968" y="1170432"/>
            <a:ext cx="7607808" cy="73152"/>
          </a:xfrm>
          <a:prstGeom prst="rect">
            <a:avLst/>
          </a:prstGeom>
          <a:solidFill>
            <a:srgbClr val="1B3A6B"/>
          </a:solidFill>
          <a:ln/>
        </p:spPr>
      </p:sp>
      <p:sp>
        <p:nvSpPr>
          <p:cNvPr id="31" name="Shape 29"/>
          <p:cNvSpPr/>
          <p:nvPr/>
        </p:nvSpPr>
        <p:spPr>
          <a:xfrm>
            <a:off x="4498848" y="1298448"/>
            <a:ext cx="475488" cy="475488"/>
          </a:xfrm>
          <a:prstGeom prst="ellipse">
            <a:avLst/>
          </a:prstGeom>
          <a:solidFill>
            <a:srgbClr val="1B3A6B"/>
          </a:solidFill>
          <a:ln/>
        </p:spPr>
      </p:sp>
      <p:sp>
        <p:nvSpPr>
          <p:cNvPr id="32" name="Text 30"/>
          <p:cNvSpPr/>
          <p:nvPr/>
        </p:nvSpPr>
        <p:spPr>
          <a:xfrm>
            <a:off x="4498848" y="1298448"/>
            <a:ext cx="475488" cy="475488"/>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33" name="Text 31"/>
          <p:cNvSpPr/>
          <p:nvPr/>
        </p:nvSpPr>
        <p:spPr>
          <a:xfrm>
            <a:off x="5093208" y="1316736"/>
            <a:ext cx="6693408" cy="411480"/>
          </a:xfrm>
          <a:prstGeom prst="rect">
            <a:avLst/>
          </a:prstGeom>
          <a:noFill/>
          <a:ln/>
        </p:spPr>
        <p:txBody>
          <a:bodyPr wrap="square" rtlCol="0" anchor="ctr"/>
          <a:lstStyle/>
          <a:p>
            <a:pPr indent="0" marL="0">
              <a:buNone/>
            </a:pPr>
            <a:r>
              <a:rPr lang="en-US" sz="1400" b="1" dirty="0">
                <a:solidFill>
                  <a:srgbClr val="1B3A6B"/>
                </a:solidFill>
                <a:latin typeface="Yu Mincho" pitchFamily="34" charset="0"/>
                <a:ea typeface="Yu Mincho" pitchFamily="34" charset="-122"/>
                <a:cs typeface="Yu Mincho" pitchFamily="34" charset="-120"/>
              </a:rPr>
              <a:t>完全無料 × フルスタック独学</a:t>
            </a:r>
            <a:endParaRPr lang="en-US" sz="1400" dirty="0"/>
          </a:p>
        </p:txBody>
      </p:sp>
      <p:sp>
        <p:nvSpPr>
          <p:cNvPr id="34" name="Shape 32"/>
          <p:cNvSpPr/>
          <p:nvPr/>
        </p:nvSpPr>
        <p:spPr>
          <a:xfrm>
            <a:off x="4453128" y="1847088"/>
            <a:ext cx="7333488" cy="0"/>
          </a:xfrm>
          <a:prstGeom prst="line">
            <a:avLst/>
          </a:prstGeom>
          <a:noFill/>
          <a:ln w="6350">
            <a:solidFill>
              <a:srgbClr val="C5D0E6"/>
            </a:solidFill>
            <a:prstDash val="solid"/>
          </a:ln>
        </p:spPr>
      </p:sp>
      <p:sp>
        <p:nvSpPr>
          <p:cNvPr id="35" name="Text 33"/>
          <p:cNvSpPr/>
          <p:nvPr/>
        </p:nvSpPr>
        <p:spPr>
          <a:xfrm>
            <a:off x="4453128" y="1938528"/>
            <a:ext cx="7333488" cy="594360"/>
          </a:xfrm>
          <a:prstGeom prst="rect">
            <a:avLst/>
          </a:prstGeom>
          <a:noFill/>
          <a:ln/>
        </p:spPr>
        <p:txBody>
          <a:bodyPr wrap="square" rtlCol="0" anchor="ctr"/>
          <a:lstStyle/>
          <a:p>
            <a:pPr indent="0" marL="0">
              <a:buNone/>
            </a:pPr>
            <a:r>
              <a:rPr lang="en-US" sz="1050" dirty="0">
                <a:solidFill>
                  <a:srgbClr val="444444"/>
                </a:solidFill>
                <a:latin typeface="Yu Gothic" pitchFamily="34" charset="0"/>
                <a:ea typeface="Yu Gothic" pitchFamily="34" charset="-122"/>
                <a:cs typeface="Yu Gothic" pitchFamily="34" charset="-120"/>
              </a:rPr>
              <a:t>Next.js から API・DB 設計・Vercel デプロイまで一気通貫で独学実装。Claude Code（AI）で仕様〜デバッグを効率化し、下記 6 サービスをすべて ¥0 で組み合わせ本番リリース。</a:t>
            </a:r>
            <a:endParaRPr lang="en-US" sz="10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453128" y="2606040"/>
          <a:ext cx="7333488" cy="914400"/>
        </p:xfrm>
        <a:graphic>
          <a:graphicData uri="http://schemas.openxmlformats.org/drawingml/2006/table">
            <a:tbl>
              <a:tblPr/>
              <a:tblGrid>
                <a:gridCol w="1417320"/>
                <a:gridCol w="1600200"/>
                <a:gridCol w="1828800"/>
                <a:gridCol w="2487168"/>
              </a:tblGrid>
              <a:tr h="402336">
                <a:tc>
                  <a:txBody>
                    <a:bodyPr/>
                    <a:lstStyle/>
                    <a:p>
                      <a:pPr algn="ctr" indent="0" marL="0">
                        <a:buNone/>
                      </a:pPr>
                      <a:r>
                        <a:rPr lang="en-US" sz="950" b="1" dirty="0">
                          <a:solidFill>
                            <a:srgbClr val="FFFFFF"/>
                          </a:solidFill>
                          <a:latin typeface="Yu Gothic" pitchFamily="34" charset="0"/>
                          <a:ea typeface="Yu Gothic" pitchFamily="34" charset="-122"/>
                          <a:cs typeface="Yu Gothic" pitchFamily="34" charset="-120"/>
                        </a:rPr>
                        <a:t>サービス</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1B3A6B"/>
                    </a:solidFill>
                  </a:tcPr>
                </a:tc>
                <a:tc>
                  <a:txBody>
                    <a:bodyPr/>
                    <a:lstStyle/>
                    <a:p>
                      <a:pPr algn="ctr" indent="0" marL="0">
                        <a:buNone/>
                      </a:pPr>
                      <a:r>
                        <a:rPr lang="en-US" sz="950" b="1" dirty="0">
                          <a:solidFill>
                            <a:srgbClr val="FFFFFF"/>
                          </a:solidFill>
                          <a:latin typeface="Yu Gothic" pitchFamily="34" charset="0"/>
                          <a:ea typeface="Yu Gothic" pitchFamily="34" charset="-122"/>
                          <a:cs typeface="Yu Gothic" pitchFamily="34" charset="-120"/>
                        </a:rPr>
                        <a:t>用途</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1B3A6B"/>
                    </a:solidFill>
                  </a:tcPr>
                </a:tc>
                <a:tc>
                  <a:txBody>
                    <a:bodyPr/>
                    <a:lstStyle/>
                    <a:p>
                      <a:pPr algn="ctr" indent="0" marL="0">
                        <a:buNone/>
                      </a:pPr>
                      <a:r>
                        <a:rPr lang="en-US" sz="950" b="1" dirty="0">
                          <a:solidFill>
                            <a:srgbClr val="FFFFFF"/>
                          </a:solidFill>
                          <a:latin typeface="Yu Gothic" pitchFamily="34" charset="0"/>
                          <a:ea typeface="Yu Gothic" pitchFamily="34" charset="-122"/>
                          <a:cs typeface="Yu Gothic" pitchFamily="34" charset="-120"/>
                        </a:rPr>
                        <a:t>プラン / 無料枠</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1B3A6B"/>
                    </a:solidFill>
                  </a:tcPr>
                </a:tc>
                <a:tc>
                  <a:txBody>
                    <a:bodyPr/>
                    <a:lstStyle/>
                    <a:p>
                      <a:pPr algn="ctr" indent="0" marL="0">
                        <a:buNone/>
                      </a:pPr>
                      <a:r>
                        <a:rPr lang="en-US" sz="950" b="1" dirty="0">
                          <a:solidFill>
                            <a:srgbClr val="FFFFFF"/>
                          </a:solidFill>
                          <a:latin typeface="Yu Gothic" pitchFamily="34" charset="0"/>
                          <a:ea typeface="Yu Gothic" pitchFamily="34" charset="-122"/>
                          <a:cs typeface="Yu Gothic" pitchFamily="34" charset="-120"/>
                        </a:rPr>
                        <a:t>主な役割</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1B3A6B"/>
                    </a:solidFill>
                  </a:tcPr>
                </a:tc>
              </a:tr>
              <a:tr h="402336">
                <a:tc>
                  <a:txBody>
                    <a:bodyPr/>
                    <a:lstStyle/>
                    <a:p>
                      <a:pPr indent="0" marL="0">
                        <a:buNone/>
                      </a:pPr>
                      <a:r>
                        <a:rPr lang="en-US" sz="950" b="1" dirty="0">
                          <a:solidFill>
                            <a:srgbClr val="1B3A6B"/>
                          </a:solidFill>
                          <a:latin typeface="Yu Mincho" pitchFamily="34" charset="0"/>
                          <a:ea typeface="Yu Mincho" pitchFamily="34" charset="-122"/>
                          <a:cs typeface="Yu Mincho" pitchFamily="34" charset="-120"/>
                        </a:rPr>
                        <a:t>Vercel</a:t>
                      </a:r>
                      <a:endParaRPr lang="en-US" sz="950" dirty="0">
                        <a:latin typeface="Yu Mincho" charset="0"/>
                        <a:ea typeface="Yu Mincho" charset="0"/>
                        <a:cs typeface="Yu Mincho"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EEF2FA"/>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ホスティング</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EEF2FA"/>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Hobby（無料）</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EEF2FA"/>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Next.js デプロイ・CDN 配信</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EEF2FA"/>
                    </a:solidFill>
                  </a:tcPr>
                </a:tc>
              </a:tr>
              <a:tr h="402336">
                <a:tc>
                  <a:txBody>
                    <a:bodyPr/>
                    <a:lstStyle/>
                    <a:p>
                      <a:pPr indent="0" marL="0">
                        <a:buNone/>
                      </a:pPr>
                      <a:r>
                        <a:rPr lang="en-US" sz="950" b="1" dirty="0">
                          <a:solidFill>
                            <a:srgbClr val="1B3A6B"/>
                          </a:solidFill>
                          <a:latin typeface="Yu Mincho" pitchFamily="34" charset="0"/>
                          <a:ea typeface="Yu Mincho" pitchFamily="34" charset="-122"/>
                          <a:cs typeface="Yu Mincho" pitchFamily="34" charset="-120"/>
                        </a:rPr>
                        <a:t>Supabase</a:t>
                      </a:r>
                      <a:endParaRPr lang="en-US" sz="950" dirty="0">
                        <a:latin typeface="Yu Mincho" charset="0"/>
                        <a:ea typeface="Yu Mincho" charset="0"/>
                        <a:cs typeface="Yu Mincho"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FFFFFF"/>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DB / 認証</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FFFFFF"/>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Free（500MB・Auth 無制限）</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FFFFFF"/>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プレイリスト・キャッシュ・ユーザー管理</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1B3A6B"/>
                          </a:solidFill>
                          <a:latin typeface="Yu Mincho" pitchFamily="34" charset="0"/>
                          <a:ea typeface="Yu Mincho" pitchFamily="34" charset="-122"/>
                          <a:cs typeface="Yu Mincho" pitchFamily="34" charset="-120"/>
                        </a:rPr>
                        <a:t>Google Gemini</a:t>
                      </a:r>
                      <a:endParaRPr lang="en-US" sz="950" dirty="0">
                        <a:latin typeface="Yu Mincho" charset="0"/>
                        <a:ea typeface="Yu Mincho" charset="0"/>
                        <a:cs typeface="Yu Mincho"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EEF2FA"/>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AI エンジン</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EEF2FA"/>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無料枠</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EEF2FA"/>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類似曲レコメンド・BPM / キー解析</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EEF2FA"/>
                    </a:solidFill>
                  </a:tcPr>
                </a:tc>
              </a:tr>
              <a:tr h="402336">
                <a:tc>
                  <a:txBody>
                    <a:bodyPr/>
                    <a:lstStyle/>
                    <a:p>
                      <a:pPr indent="0" marL="0">
                        <a:buNone/>
                      </a:pPr>
                      <a:r>
                        <a:rPr lang="en-US" sz="950" b="1" dirty="0">
                          <a:solidFill>
                            <a:srgbClr val="1B3A6B"/>
                          </a:solidFill>
                          <a:latin typeface="Yu Mincho" pitchFamily="34" charset="0"/>
                          <a:ea typeface="Yu Mincho" pitchFamily="34" charset="-122"/>
                          <a:cs typeface="Yu Mincho" pitchFamily="34" charset="-120"/>
                        </a:rPr>
                        <a:t>iTunes API</a:t>
                      </a:r>
                      <a:endParaRPr lang="en-US" sz="950" dirty="0">
                        <a:latin typeface="Yu Mincho" charset="0"/>
                        <a:ea typeface="Yu Mincho" charset="0"/>
                        <a:cs typeface="Yu Mincho"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FFFFFF"/>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楽曲検索・メタデータ</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FFFFFF"/>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完全無料（Apple 公式）</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FFFFFF"/>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メイン検索・アルバムアート取得</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FFFFFF"/>
                    </a:solidFill>
                  </a:tcPr>
                </a:tc>
              </a:tr>
              <a:tr h="402336">
                <a:tc>
                  <a:txBody>
                    <a:bodyPr/>
                    <a:lstStyle/>
                    <a:p>
                      <a:pPr indent="0" marL="0">
                        <a:buNone/>
                      </a:pPr>
                      <a:r>
                        <a:rPr lang="en-US" sz="950" b="1" dirty="0">
                          <a:solidFill>
                            <a:srgbClr val="1B3A6B"/>
                          </a:solidFill>
                          <a:latin typeface="Yu Mincho" pitchFamily="34" charset="0"/>
                          <a:ea typeface="Yu Mincho" pitchFamily="34" charset="-122"/>
                          <a:cs typeface="Yu Mincho" pitchFamily="34" charset="-120"/>
                        </a:rPr>
                        <a:t>Deezer API</a:t>
                      </a:r>
                      <a:endParaRPr lang="en-US" sz="950" dirty="0">
                        <a:latin typeface="Yu Mincho" charset="0"/>
                        <a:ea typeface="Yu Mincho" charset="0"/>
                        <a:cs typeface="Yu Mincho"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EEF2FA"/>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BPM 補完・プレビュー補完</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EEF2FA"/>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無料（商用利用可）</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EEF2FA"/>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BPM 取得・プレビューフォールバック</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EEF2FA"/>
                    </a:solidFill>
                  </a:tcPr>
                </a:tc>
              </a:tr>
              <a:tr h="402336">
                <a:tc>
                  <a:txBody>
                    <a:bodyPr/>
                    <a:lstStyle/>
                    <a:p>
                      <a:pPr indent="0" marL="0">
                        <a:buNone/>
                      </a:pPr>
                      <a:r>
                        <a:rPr lang="en-US" sz="950" b="1" dirty="0">
                          <a:solidFill>
                            <a:srgbClr val="1B3A6B"/>
                          </a:solidFill>
                          <a:latin typeface="Yu Mincho" pitchFamily="34" charset="0"/>
                          <a:ea typeface="Yu Mincho" pitchFamily="34" charset="-122"/>
                          <a:cs typeface="Yu Mincho" pitchFamily="34" charset="-120"/>
                        </a:rPr>
                        <a:t>YouTube Data API</a:t>
                      </a:r>
                      <a:endParaRPr lang="en-US" sz="950" dirty="0">
                        <a:latin typeface="Yu Mincho" charset="0"/>
                        <a:ea typeface="Yu Mincho" charset="0"/>
                        <a:cs typeface="Yu Mincho"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FFFFFF"/>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動画・書き出し</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FFFFFF"/>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無料クォータ（10,000 u/日）</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FFFFFF"/>
                    </a:solidFill>
                  </a:tcPr>
                </a:tc>
                <a:tc>
                  <a:txBody>
                    <a:bodyPr/>
                    <a:lstStyle/>
                    <a:p>
                      <a:pPr indent="0" marL="0">
                        <a:buNone/>
                      </a:pPr>
                      <a:r>
                        <a:rPr lang="en-US" sz="950" dirty="0">
                          <a:solidFill>
                            <a:srgbClr val="444444"/>
                          </a:solidFill>
                          <a:latin typeface="Yu Gothic" pitchFamily="34" charset="0"/>
                          <a:ea typeface="Yu Gothic" pitchFamily="34" charset="-122"/>
                          <a:cs typeface="Yu Gothic" pitchFamily="34" charset="-120"/>
                        </a:rPr>
                        <a:t>プレイリスト書き出し・動画 ID 検索</a:t>
                      </a:r>
                      <a:endParaRPr lang="en-US" sz="950" dirty="0">
                        <a:latin typeface="Yu Gothic" charset="0"/>
                        <a:ea typeface="Yu Gothic" charset="0"/>
                        <a:cs typeface="Yu Gothic" charset="0"/>
                      </a:endParaRPr>
                    </a:p>
                  </a:txBody>
                  <a:tcPr marL="91440" marR="91440" marT="45720" marB="45720" anchor="ctr">
                    <a:lnL w="6350" cap="flat" cmpd="sng" algn="ctr">
                      <a:solidFill>
                        <a:srgbClr val="C5D0E6"/>
                      </a:solidFill>
                      <a:prstDash val="solid"/>
                      <a:round/>
                      <a:headEnd type="none" w="med" len="med"/>
                      <a:tailEnd type="none" w="med" len="med"/>
                    </a:lnL>
                    <a:lnR w="6350" cap="flat" cmpd="sng" algn="ctr">
                      <a:solidFill>
                        <a:srgbClr val="C5D0E6"/>
                      </a:solidFill>
                      <a:prstDash val="solid"/>
                      <a:round/>
                      <a:headEnd type="none" w="med" len="med"/>
                      <a:tailEnd type="none" w="med" len="med"/>
                    </a:lnR>
                    <a:lnT w="6350" cap="flat" cmpd="sng" algn="ctr">
                      <a:solidFill>
                        <a:srgbClr val="C5D0E6"/>
                      </a:solidFill>
                      <a:prstDash val="solid"/>
                      <a:round/>
                      <a:headEnd type="none" w="med" len="med"/>
                      <a:tailEnd type="none" w="med" len="med"/>
                    </a:lnT>
                    <a:lnB w="6350" cap="flat" cmpd="sng" algn="ctr">
                      <a:solidFill>
                        <a:srgbClr val="C5D0E6"/>
                      </a:solidFill>
                      <a:prstDash val="solid"/>
                      <a:round/>
                      <a:headEnd type="none" w="med" len="med"/>
                      <a:tailEnd type="none" w="med" len="med"/>
                    </a:lnB>
                    <a:solidFill>
                      <a:srgbClr val="FFFFFF"/>
                    </a:solidFill>
                  </a:tcPr>
                </a:tc>
              </a:tr>
            </a:tbl>
          </a:graphicData>
        </a:graphic>
      </p:graphicFrame>
      <p:sp>
        <p:nvSpPr>
          <p:cNvPr id="37" name="Shape 34"/>
          <p:cNvSpPr/>
          <p:nvPr/>
        </p:nvSpPr>
        <p:spPr>
          <a:xfrm>
            <a:off x="4453128" y="5532120"/>
            <a:ext cx="3575304" cy="960120"/>
          </a:xfrm>
          <a:prstGeom prst="rect">
            <a:avLst/>
          </a:prstGeom>
          <a:solidFill>
            <a:srgbClr val="FFFFFF"/>
          </a:solidFill>
          <a:ln w="6350">
            <a:solidFill>
              <a:srgbClr val="C5D0E6"/>
            </a:solidFill>
            <a:prstDash val="solid"/>
          </a:ln>
        </p:spPr>
      </p:sp>
      <p:sp>
        <p:nvSpPr>
          <p:cNvPr id="38" name="Shape 35"/>
          <p:cNvSpPr/>
          <p:nvPr/>
        </p:nvSpPr>
        <p:spPr>
          <a:xfrm>
            <a:off x="4453128" y="5532120"/>
            <a:ext cx="3575304" cy="0"/>
          </a:xfrm>
          <a:prstGeom prst="line">
            <a:avLst/>
          </a:prstGeom>
          <a:noFill/>
          <a:ln w="12700">
            <a:solidFill>
              <a:srgbClr val="4A6FA5"/>
            </a:solidFill>
            <a:prstDash val="solid"/>
          </a:ln>
        </p:spPr>
      </p:sp>
      <p:sp>
        <p:nvSpPr>
          <p:cNvPr id="39" name="Text 36"/>
          <p:cNvSpPr/>
          <p:nvPr/>
        </p:nvSpPr>
        <p:spPr>
          <a:xfrm>
            <a:off x="4453128" y="5596128"/>
            <a:ext cx="3575304" cy="566928"/>
          </a:xfrm>
          <a:prstGeom prst="rect">
            <a:avLst/>
          </a:prstGeom>
          <a:noFill/>
          <a:ln/>
        </p:spPr>
        <p:txBody>
          <a:bodyPr wrap="square" rtlCol="0" anchor="ctr"/>
          <a:lstStyle/>
          <a:p>
            <a:pPr algn="ctr" indent="0" marL="0">
              <a:buNone/>
            </a:pPr>
            <a:r>
              <a:rPr lang="en-US" sz="3000" b="1" dirty="0">
                <a:solidFill>
                  <a:srgbClr val="1B3A6B"/>
                </a:solidFill>
                <a:latin typeface="Calibri" pitchFamily="34" charset="0"/>
                <a:ea typeface="Calibri" pitchFamily="34" charset="-122"/>
                <a:cs typeface="Calibri" pitchFamily="34" charset="-120"/>
              </a:rPr>
              <a:t>¥0</a:t>
            </a:r>
            <a:endParaRPr lang="en-US" sz="3000" dirty="0"/>
          </a:p>
        </p:txBody>
      </p:sp>
      <p:sp>
        <p:nvSpPr>
          <p:cNvPr id="40" name="Text 37"/>
          <p:cNvSpPr/>
          <p:nvPr/>
        </p:nvSpPr>
        <p:spPr>
          <a:xfrm>
            <a:off x="4453128" y="6199632"/>
            <a:ext cx="3575304" cy="256032"/>
          </a:xfrm>
          <a:prstGeom prst="rect">
            <a:avLst/>
          </a:prstGeom>
          <a:noFill/>
          <a:ln/>
        </p:spPr>
        <p:txBody>
          <a:bodyPr wrap="square" rtlCol="0" anchor="ctr"/>
          <a:lstStyle/>
          <a:p>
            <a:pPr algn="ctr" indent="0" marL="0">
              <a:buNone/>
            </a:pPr>
            <a:r>
              <a:rPr lang="en-US" sz="950" dirty="0">
                <a:solidFill>
                  <a:srgbClr val="888888"/>
                </a:solidFill>
                <a:latin typeface="Yu Gothic" pitchFamily="34" charset="0"/>
                <a:ea typeface="Yu Gothic" pitchFamily="34" charset="-122"/>
                <a:cs typeface="Yu Gothic" pitchFamily="34" charset="-120"/>
              </a:rPr>
              <a:t>月額費用</a:t>
            </a:r>
            <a:endParaRPr lang="en-US" sz="950" dirty="0"/>
          </a:p>
        </p:txBody>
      </p:sp>
      <p:sp>
        <p:nvSpPr>
          <p:cNvPr id="41" name="Shape 38"/>
          <p:cNvSpPr/>
          <p:nvPr/>
        </p:nvSpPr>
        <p:spPr>
          <a:xfrm>
            <a:off x="8211312" y="5532120"/>
            <a:ext cx="3575304" cy="960120"/>
          </a:xfrm>
          <a:prstGeom prst="rect">
            <a:avLst/>
          </a:prstGeom>
          <a:solidFill>
            <a:srgbClr val="FFFFFF"/>
          </a:solidFill>
          <a:ln w="6350">
            <a:solidFill>
              <a:srgbClr val="C5D0E6"/>
            </a:solidFill>
            <a:prstDash val="solid"/>
          </a:ln>
        </p:spPr>
      </p:sp>
      <p:sp>
        <p:nvSpPr>
          <p:cNvPr id="42" name="Shape 39"/>
          <p:cNvSpPr/>
          <p:nvPr/>
        </p:nvSpPr>
        <p:spPr>
          <a:xfrm>
            <a:off x="8211312" y="5532120"/>
            <a:ext cx="3575304" cy="0"/>
          </a:xfrm>
          <a:prstGeom prst="line">
            <a:avLst/>
          </a:prstGeom>
          <a:noFill/>
          <a:ln w="12700">
            <a:solidFill>
              <a:srgbClr val="4A6FA5"/>
            </a:solidFill>
            <a:prstDash val="solid"/>
          </a:ln>
        </p:spPr>
      </p:sp>
      <p:sp>
        <p:nvSpPr>
          <p:cNvPr id="43" name="Text 40"/>
          <p:cNvSpPr/>
          <p:nvPr/>
        </p:nvSpPr>
        <p:spPr>
          <a:xfrm>
            <a:off x="8211312" y="5596128"/>
            <a:ext cx="3575304" cy="566928"/>
          </a:xfrm>
          <a:prstGeom prst="rect">
            <a:avLst/>
          </a:prstGeom>
          <a:noFill/>
          <a:ln/>
        </p:spPr>
        <p:txBody>
          <a:bodyPr wrap="square" rtlCol="0" anchor="ctr"/>
          <a:lstStyle/>
          <a:p>
            <a:pPr algn="ctr" indent="0" marL="0">
              <a:buNone/>
            </a:pPr>
            <a:r>
              <a:rPr lang="en-US" sz="3000" b="1" dirty="0">
                <a:solidFill>
                  <a:srgbClr val="1B3A6B"/>
                </a:solidFill>
                <a:latin typeface="Calibri" pitchFamily="34" charset="0"/>
                <a:ea typeface="Calibri" pitchFamily="34" charset="-122"/>
                <a:cs typeface="Calibri" pitchFamily="34" charset="-120"/>
              </a:rPr>
              <a:t>6</a:t>
            </a:r>
            <a:endParaRPr lang="en-US" sz="3000" dirty="0"/>
          </a:p>
        </p:txBody>
      </p:sp>
      <p:sp>
        <p:nvSpPr>
          <p:cNvPr id="44" name="Text 41"/>
          <p:cNvSpPr/>
          <p:nvPr/>
        </p:nvSpPr>
        <p:spPr>
          <a:xfrm>
            <a:off x="8211312" y="6199632"/>
            <a:ext cx="3575304" cy="256032"/>
          </a:xfrm>
          <a:prstGeom prst="rect">
            <a:avLst/>
          </a:prstGeom>
          <a:noFill/>
          <a:ln/>
        </p:spPr>
        <p:txBody>
          <a:bodyPr wrap="square" rtlCol="0" anchor="ctr"/>
          <a:lstStyle/>
          <a:p>
            <a:pPr algn="ctr" indent="0" marL="0">
              <a:buNone/>
            </a:pPr>
            <a:r>
              <a:rPr lang="en-US" sz="950" dirty="0">
                <a:solidFill>
                  <a:srgbClr val="888888"/>
                </a:solidFill>
                <a:latin typeface="Yu Gothic" pitchFamily="34" charset="0"/>
                <a:ea typeface="Yu Gothic" pitchFamily="34" charset="-122"/>
                <a:cs typeface="Yu Gothic" pitchFamily="34" charset="-120"/>
              </a:rPr>
              <a:t>連携外部サービス数</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73152"/>
          </a:xfrm>
          <a:prstGeom prst="rect">
            <a:avLst/>
          </a:prstGeom>
          <a:solidFill>
            <a:srgbClr val="1B3A6B"/>
          </a:solidFill>
          <a:ln/>
        </p:spPr>
      </p:sp>
      <p:sp>
        <p:nvSpPr>
          <p:cNvPr id="4" name="Text 2"/>
          <p:cNvSpPr/>
          <p:nvPr/>
        </p:nvSpPr>
        <p:spPr>
          <a:xfrm>
            <a:off x="10972800" y="109728"/>
            <a:ext cx="1005840" cy="201168"/>
          </a:xfrm>
          <a:prstGeom prst="rect">
            <a:avLst/>
          </a:prstGeom>
          <a:noFill/>
          <a:ln/>
        </p:spPr>
        <p:txBody>
          <a:bodyPr wrap="square" rtlCol="0" anchor="ctr"/>
          <a:lstStyle/>
          <a:p>
            <a:pPr algn="r" indent="0" marL="0">
              <a:buNone/>
            </a:pPr>
            <a:r>
              <a:rPr lang="en-US" sz="800" dirty="0">
                <a:solidFill>
                  <a:srgbClr val="888888"/>
                </a:solidFill>
                <a:latin typeface="Yu Gothic" pitchFamily="34" charset="0"/>
                <a:ea typeface="Yu Gothic" pitchFamily="34" charset="-122"/>
                <a:cs typeface="Yu Gothic" pitchFamily="34" charset="-120"/>
              </a:rPr>
              <a:t>3 / 11</a:t>
            </a:r>
            <a:endParaRPr lang="en-US" sz="800" dirty="0"/>
          </a:p>
        </p:txBody>
      </p:sp>
      <p:sp>
        <p:nvSpPr>
          <p:cNvPr id="5" name="Text 3"/>
          <p:cNvSpPr/>
          <p:nvPr/>
        </p:nvSpPr>
        <p:spPr>
          <a:xfrm>
            <a:off x="411480" y="137160"/>
            <a:ext cx="10424160" cy="457200"/>
          </a:xfrm>
          <a:prstGeom prst="rect">
            <a:avLst/>
          </a:prstGeom>
          <a:noFill/>
          <a:ln/>
        </p:spPr>
        <p:txBody>
          <a:bodyPr wrap="square" rtlCol="0" anchor="ctr"/>
          <a:lstStyle/>
          <a:p>
            <a:pPr algn="l" indent="0" marL="0">
              <a:buNone/>
            </a:pPr>
            <a:r>
              <a:rPr lang="en-US" sz="1600" b="1" dirty="0">
                <a:solidFill>
                  <a:srgbClr val="1B3A6B"/>
                </a:solidFill>
                <a:latin typeface="Yu Mincho" pitchFamily="34" charset="0"/>
                <a:ea typeface="Yu Mincho" pitchFamily="34" charset="-122"/>
                <a:cs typeface="Yu Mincho" pitchFamily="34" charset="-120"/>
              </a:rPr>
              <a:t>既存の音楽サービスにできない「条件付き類似曲検索」への不満が、Ripple 開発の出発点だった</a:t>
            </a:r>
            <a:endParaRPr lang="en-US" sz="1600" dirty="0"/>
          </a:p>
        </p:txBody>
      </p:sp>
      <p:sp>
        <p:nvSpPr>
          <p:cNvPr id="6" name="Shape 4"/>
          <p:cNvSpPr/>
          <p:nvPr/>
        </p:nvSpPr>
        <p:spPr>
          <a:xfrm>
            <a:off x="411480" y="658368"/>
            <a:ext cx="11365992" cy="0"/>
          </a:xfrm>
          <a:prstGeom prst="line">
            <a:avLst/>
          </a:prstGeom>
          <a:noFill/>
          <a:ln w="9525">
            <a:solidFill>
              <a:srgbClr val="4A6FA5"/>
            </a:solidFill>
            <a:prstDash val="solid"/>
          </a:ln>
        </p:spPr>
      </p:sp>
      <p:sp>
        <p:nvSpPr>
          <p:cNvPr id="7" name="Shape 5"/>
          <p:cNvSpPr/>
          <p:nvPr/>
        </p:nvSpPr>
        <p:spPr>
          <a:xfrm>
            <a:off x="411480" y="1170432"/>
            <a:ext cx="2743200" cy="5394960"/>
          </a:xfrm>
          <a:prstGeom prst="rect">
            <a:avLst/>
          </a:prstGeom>
          <a:solidFill>
            <a:srgbClr val="EEF2FA"/>
          </a:solidFill>
          <a:ln w="6350">
            <a:solidFill>
              <a:srgbClr val="C5D0E6"/>
            </a:solidFill>
            <a:prstDash val="solid"/>
          </a:ln>
        </p:spPr>
      </p:sp>
      <p:sp>
        <p:nvSpPr>
          <p:cNvPr id="8" name="Shape 6"/>
          <p:cNvSpPr/>
          <p:nvPr/>
        </p:nvSpPr>
        <p:spPr>
          <a:xfrm>
            <a:off x="411480" y="1170432"/>
            <a:ext cx="2743200" cy="73152"/>
          </a:xfrm>
          <a:prstGeom prst="rect">
            <a:avLst/>
          </a:prstGeom>
          <a:solidFill>
            <a:srgbClr val="1B3A6B"/>
          </a:solidFill>
          <a:ln/>
        </p:spPr>
      </p:sp>
      <p:sp>
        <p:nvSpPr>
          <p:cNvPr id="9" name="Shape 7"/>
          <p:cNvSpPr/>
          <p:nvPr/>
        </p:nvSpPr>
        <p:spPr>
          <a:xfrm>
            <a:off x="576072" y="1325880"/>
            <a:ext cx="438912" cy="438912"/>
          </a:xfrm>
          <a:prstGeom prst="ellipse">
            <a:avLst/>
          </a:prstGeom>
          <a:solidFill>
            <a:srgbClr val="1B3A6B"/>
          </a:solidFill>
          <a:ln/>
        </p:spPr>
      </p:sp>
      <p:sp>
        <p:nvSpPr>
          <p:cNvPr id="10" name="Text 8"/>
          <p:cNvSpPr/>
          <p:nvPr/>
        </p:nvSpPr>
        <p:spPr>
          <a:xfrm>
            <a:off x="576072" y="1325880"/>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11" name="Text 9"/>
          <p:cNvSpPr/>
          <p:nvPr/>
        </p:nvSpPr>
        <p:spPr>
          <a:xfrm>
            <a:off x="1124712" y="1371600"/>
            <a:ext cx="1920240" cy="274320"/>
          </a:xfrm>
          <a:prstGeom prst="rect">
            <a:avLst/>
          </a:prstGeom>
          <a:noFill/>
          <a:ln/>
        </p:spPr>
        <p:txBody>
          <a:bodyPr wrap="square" rtlCol="0" anchor="ctr"/>
          <a:lstStyle/>
          <a:p>
            <a:pPr indent="0" marL="0">
              <a:buNone/>
            </a:pPr>
            <a:r>
              <a:rPr lang="en-US" sz="1000" b="1" dirty="0">
                <a:solidFill>
                  <a:srgbClr val="888888"/>
                </a:solidFill>
                <a:latin typeface="Yu Gothic" pitchFamily="34" charset="0"/>
                <a:ea typeface="Yu Gothic" pitchFamily="34" charset="-122"/>
                <a:cs typeface="Yu Gothic" pitchFamily="34" charset="-120"/>
              </a:rPr>
              <a:t>課題</a:t>
            </a:r>
            <a:endParaRPr lang="en-US" sz="1000" dirty="0"/>
          </a:p>
        </p:txBody>
      </p:sp>
      <p:sp>
        <p:nvSpPr>
          <p:cNvPr id="12" name="Shape 10"/>
          <p:cNvSpPr/>
          <p:nvPr/>
        </p:nvSpPr>
        <p:spPr>
          <a:xfrm>
            <a:off x="548640" y="1874520"/>
            <a:ext cx="2468880" cy="0"/>
          </a:xfrm>
          <a:prstGeom prst="line">
            <a:avLst/>
          </a:prstGeom>
          <a:noFill/>
          <a:ln w="6350">
            <a:solidFill>
              <a:srgbClr val="C5D0E6"/>
            </a:solidFill>
            <a:prstDash val="solid"/>
          </a:ln>
        </p:spPr>
      </p:sp>
      <p:sp>
        <p:nvSpPr>
          <p:cNvPr id="13" name="Text 11"/>
          <p:cNvSpPr/>
          <p:nvPr/>
        </p:nvSpPr>
        <p:spPr>
          <a:xfrm>
            <a:off x="548640" y="1965960"/>
            <a:ext cx="2468880" cy="685800"/>
          </a:xfrm>
          <a:prstGeom prst="rect">
            <a:avLst/>
          </a:prstGeom>
          <a:noFill/>
          <a:ln/>
        </p:spPr>
        <p:txBody>
          <a:bodyPr wrap="square" rtlCol="0" anchor="ctr"/>
          <a:lstStyle/>
          <a:p>
            <a:pPr indent="0" marL="0">
              <a:buNone/>
            </a:pPr>
            <a:r>
              <a:rPr lang="en-US" sz="1300" b="1" dirty="0">
                <a:solidFill>
                  <a:srgbClr val="1B3A6B"/>
                </a:solidFill>
                <a:latin typeface="Yu Mincho" pitchFamily="34" charset="0"/>
                <a:ea typeface="Yu Mincho" pitchFamily="34" charset="-122"/>
                <a:cs typeface="Yu Mincho" pitchFamily="34" charset="-120"/>
              </a:rPr>
              <a:t>既存サービスへの不満</a:t>
            </a:r>
            <a:endParaRPr lang="en-US" sz="1300" dirty="0"/>
          </a:p>
        </p:txBody>
      </p:sp>
      <p:sp>
        <p:nvSpPr>
          <p:cNvPr id="14" name="Text 12"/>
          <p:cNvSpPr/>
          <p:nvPr/>
        </p:nvSpPr>
        <p:spPr>
          <a:xfrm>
            <a:off x="548640" y="2743200"/>
            <a:ext cx="2468880" cy="3474720"/>
          </a:xfrm>
          <a:prstGeom prst="rect">
            <a:avLst/>
          </a:prstGeom>
          <a:noFill/>
          <a:ln/>
        </p:spPr>
        <p:txBody>
          <a:bodyPr wrap="square" rtlCol="0" anchor="ctr"/>
          <a:lstStyle/>
          <a:p>
            <a:pPr indent="0" marL="0">
              <a:buNone/>
            </a:pPr>
            <a:r>
              <a:rPr lang="en-US" sz="1050" dirty="0">
                <a:solidFill>
                  <a:srgbClr val="444444"/>
                </a:solidFill>
                <a:latin typeface="Yu Gothic" pitchFamily="34" charset="0"/>
                <a:ea typeface="Yu Gothic" pitchFamily="34" charset="-122"/>
                <a:cs typeface="Yu Gothic" pitchFamily="34" charset="-120"/>
              </a:rPr>
              <a:t>他の音楽サービスの類似曲おすすめ機能は条件を細かく指定できなかった。趣味のDJで曲を探す際に、BPM・キー・ジャンル・雰囲気を自分で組み合わせて検索できるサービスがなく手間だった。</a:t>
            </a:r>
            <a:endParaRPr lang="en-US" sz="1050" dirty="0"/>
          </a:p>
        </p:txBody>
      </p:sp>
      <p:sp>
        <p:nvSpPr>
          <p:cNvPr id="15" name="Shape 13"/>
          <p:cNvSpPr/>
          <p:nvPr/>
        </p:nvSpPr>
        <p:spPr>
          <a:xfrm>
            <a:off x="3200400" y="3913632"/>
            <a:ext cx="137160" cy="0"/>
          </a:xfrm>
          <a:prstGeom prst="line">
            <a:avLst/>
          </a:prstGeom>
          <a:noFill/>
          <a:ln w="19050">
            <a:solidFill>
              <a:srgbClr val="4A6FA5"/>
            </a:solidFill>
            <a:prstDash val="solid"/>
          </a:ln>
        </p:spPr>
      </p:sp>
      <p:sp>
        <p:nvSpPr>
          <p:cNvPr id="16" name="Text 14"/>
          <p:cNvSpPr/>
          <p:nvPr/>
        </p:nvSpPr>
        <p:spPr>
          <a:xfrm>
            <a:off x="3246120" y="3794760"/>
            <a:ext cx="182880" cy="256032"/>
          </a:xfrm>
          <a:prstGeom prst="rect">
            <a:avLst/>
          </a:prstGeom>
          <a:noFill/>
          <a:ln/>
        </p:spPr>
        <p:txBody>
          <a:bodyPr wrap="square" rtlCol="0" anchor="ctr"/>
          <a:lstStyle/>
          <a:p>
            <a:pPr algn="ctr" indent="0" marL="0">
              <a:buNone/>
            </a:pPr>
            <a:r>
              <a:rPr lang="en-US" sz="1000" dirty="0">
                <a:solidFill>
                  <a:srgbClr val="4A6FA5"/>
                </a:solidFill>
              </a:rPr>
              <a:t>▶</a:t>
            </a:r>
            <a:endParaRPr lang="en-US" sz="1000" dirty="0"/>
          </a:p>
        </p:txBody>
      </p:sp>
      <p:sp>
        <p:nvSpPr>
          <p:cNvPr id="17" name="Shape 15"/>
          <p:cNvSpPr/>
          <p:nvPr/>
        </p:nvSpPr>
        <p:spPr>
          <a:xfrm>
            <a:off x="3337560" y="1170432"/>
            <a:ext cx="2743200" cy="5394960"/>
          </a:xfrm>
          <a:prstGeom prst="rect">
            <a:avLst/>
          </a:prstGeom>
          <a:solidFill>
            <a:srgbClr val="EEF2FA"/>
          </a:solidFill>
          <a:ln w="6350">
            <a:solidFill>
              <a:srgbClr val="C5D0E6"/>
            </a:solidFill>
            <a:prstDash val="solid"/>
          </a:ln>
        </p:spPr>
      </p:sp>
      <p:sp>
        <p:nvSpPr>
          <p:cNvPr id="18" name="Shape 16"/>
          <p:cNvSpPr/>
          <p:nvPr/>
        </p:nvSpPr>
        <p:spPr>
          <a:xfrm>
            <a:off x="3337560" y="1170432"/>
            <a:ext cx="2743200" cy="73152"/>
          </a:xfrm>
          <a:prstGeom prst="rect">
            <a:avLst/>
          </a:prstGeom>
          <a:solidFill>
            <a:srgbClr val="1B3A6B"/>
          </a:solidFill>
          <a:ln/>
        </p:spPr>
      </p:sp>
      <p:sp>
        <p:nvSpPr>
          <p:cNvPr id="19" name="Shape 17"/>
          <p:cNvSpPr/>
          <p:nvPr/>
        </p:nvSpPr>
        <p:spPr>
          <a:xfrm>
            <a:off x="3502152" y="1325880"/>
            <a:ext cx="438912" cy="438912"/>
          </a:xfrm>
          <a:prstGeom prst="ellipse">
            <a:avLst/>
          </a:prstGeom>
          <a:solidFill>
            <a:srgbClr val="1B3A6B"/>
          </a:solidFill>
          <a:ln/>
        </p:spPr>
      </p:sp>
      <p:sp>
        <p:nvSpPr>
          <p:cNvPr id="20" name="Text 18"/>
          <p:cNvSpPr/>
          <p:nvPr/>
        </p:nvSpPr>
        <p:spPr>
          <a:xfrm>
            <a:off x="3502152" y="1325880"/>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21" name="Text 19"/>
          <p:cNvSpPr/>
          <p:nvPr/>
        </p:nvSpPr>
        <p:spPr>
          <a:xfrm>
            <a:off x="4050792" y="1371600"/>
            <a:ext cx="1920240" cy="274320"/>
          </a:xfrm>
          <a:prstGeom prst="rect">
            <a:avLst/>
          </a:prstGeom>
          <a:noFill/>
          <a:ln/>
        </p:spPr>
        <p:txBody>
          <a:bodyPr wrap="square" rtlCol="0" anchor="ctr"/>
          <a:lstStyle/>
          <a:p>
            <a:pPr indent="0" marL="0">
              <a:buNone/>
            </a:pPr>
            <a:r>
              <a:rPr lang="en-US" sz="1000" b="1" dirty="0">
                <a:solidFill>
                  <a:srgbClr val="888888"/>
                </a:solidFill>
                <a:latin typeface="Yu Gothic" pitchFamily="34" charset="0"/>
                <a:ea typeface="Yu Gothic" pitchFamily="34" charset="-122"/>
                <a:cs typeface="Yu Gothic" pitchFamily="34" charset="-120"/>
              </a:rPr>
              <a:t>動機</a:t>
            </a:r>
            <a:endParaRPr lang="en-US" sz="1000" dirty="0"/>
          </a:p>
        </p:txBody>
      </p:sp>
      <p:sp>
        <p:nvSpPr>
          <p:cNvPr id="22" name="Shape 20"/>
          <p:cNvSpPr/>
          <p:nvPr/>
        </p:nvSpPr>
        <p:spPr>
          <a:xfrm>
            <a:off x="3474720" y="1874520"/>
            <a:ext cx="2468880" cy="0"/>
          </a:xfrm>
          <a:prstGeom prst="line">
            <a:avLst/>
          </a:prstGeom>
          <a:noFill/>
          <a:ln w="6350">
            <a:solidFill>
              <a:srgbClr val="C5D0E6"/>
            </a:solidFill>
            <a:prstDash val="solid"/>
          </a:ln>
        </p:spPr>
      </p:sp>
      <p:sp>
        <p:nvSpPr>
          <p:cNvPr id="23" name="Text 21"/>
          <p:cNvSpPr/>
          <p:nvPr/>
        </p:nvSpPr>
        <p:spPr>
          <a:xfrm>
            <a:off x="3474720" y="1965960"/>
            <a:ext cx="2468880" cy="685800"/>
          </a:xfrm>
          <a:prstGeom prst="rect">
            <a:avLst/>
          </a:prstGeom>
          <a:noFill/>
          <a:ln/>
        </p:spPr>
        <p:txBody>
          <a:bodyPr wrap="square" rtlCol="0" anchor="ctr"/>
          <a:lstStyle/>
          <a:p>
            <a:pPr indent="0" marL="0">
              <a:buNone/>
            </a:pPr>
            <a:r>
              <a:rPr lang="en-US" sz="1300" b="1" dirty="0">
                <a:solidFill>
                  <a:srgbClr val="1B3A6B"/>
                </a:solidFill>
                <a:latin typeface="Yu Mincho" pitchFamily="34" charset="0"/>
                <a:ea typeface="Yu Mincho" pitchFamily="34" charset="-122"/>
                <a:cs typeface="Yu Mincho" pitchFamily="34" charset="-120"/>
              </a:rPr>
              <a:t>Claude Code × フルスタック実践への挑戦</a:t>
            </a:r>
            <a:endParaRPr lang="en-US" sz="1300" dirty="0"/>
          </a:p>
        </p:txBody>
      </p:sp>
      <p:sp>
        <p:nvSpPr>
          <p:cNvPr id="24" name="Text 22"/>
          <p:cNvSpPr/>
          <p:nvPr/>
        </p:nvSpPr>
        <p:spPr>
          <a:xfrm>
            <a:off x="3474720" y="2743200"/>
            <a:ext cx="2468880" cy="3474720"/>
          </a:xfrm>
          <a:prstGeom prst="rect">
            <a:avLst/>
          </a:prstGeom>
          <a:noFill/>
          <a:ln/>
        </p:spPr>
        <p:txBody>
          <a:bodyPr wrap="square" rtlCol="0" anchor="ctr"/>
          <a:lstStyle/>
          <a:p>
            <a:pPr indent="0" marL="0">
              <a:buNone/>
            </a:pPr>
            <a:r>
              <a:rPr lang="en-US" sz="1050" dirty="0">
                <a:solidFill>
                  <a:srgbClr val="444444"/>
                </a:solidFill>
                <a:latin typeface="Yu Gothic" pitchFamily="34" charset="0"/>
                <a:ea typeface="Yu Gothic" pitchFamily="34" charset="-122"/>
                <a:cs typeface="Yu Gothic" pitchFamily="34" charset="-120"/>
              </a:rPr>
              <a:t>話題となっていた新技術 Claude Code を実際のプロダクト開発で試してみたかった。</a:t>
            </a:r>
            <a:endParaRPr lang="en-US" sz="1050" dirty="0"/>
          </a:p>
          <a:p>
            <a:pPr indent="0" marL="0">
              <a:buNone/>
            </a:pPr>
            <a:endParaRPr lang="en-US" sz="1050" dirty="0"/>
          </a:p>
          <a:p>
            <a:pPr indent="0" marL="0">
              <a:buNone/>
            </a:pPr>
            <a:r>
              <a:rPr lang="en-US" sz="1050" dirty="0">
                <a:solidFill>
                  <a:srgbClr val="444444"/>
                </a:solidFill>
                <a:latin typeface="Yu Gothic" pitchFamily="34" charset="0"/>
                <a:ea typeface="Yu Gothic" pitchFamily="34" charset="-122"/>
                <a:cs typeface="Yu Gothic" pitchFamily="34" charset="-120"/>
              </a:rPr>
              <a:t>また、授業でフロントエンドからバックエンド・DB 設計まで体系的に学んでいたので、その知識を活かして 1 から本番アプリをフルスタックで自分の手で作り切ってみたいと考えた。</a:t>
            </a:r>
            <a:endParaRPr lang="en-US" sz="1050" dirty="0"/>
          </a:p>
        </p:txBody>
      </p:sp>
      <p:sp>
        <p:nvSpPr>
          <p:cNvPr id="25" name="Shape 23"/>
          <p:cNvSpPr/>
          <p:nvPr/>
        </p:nvSpPr>
        <p:spPr>
          <a:xfrm>
            <a:off x="6126480" y="3913632"/>
            <a:ext cx="137160" cy="0"/>
          </a:xfrm>
          <a:prstGeom prst="line">
            <a:avLst/>
          </a:prstGeom>
          <a:noFill/>
          <a:ln w="19050">
            <a:solidFill>
              <a:srgbClr val="4A6FA5"/>
            </a:solidFill>
            <a:prstDash val="solid"/>
          </a:ln>
        </p:spPr>
      </p:sp>
      <p:sp>
        <p:nvSpPr>
          <p:cNvPr id="26" name="Text 24"/>
          <p:cNvSpPr/>
          <p:nvPr/>
        </p:nvSpPr>
        <p:spPr>
          <a:xfrm>
            <a:off x="6172200" y="3794760"/>
            <a:ext cx="182880" cy="256032"/>
          </a:xfrm>
          <a:prstGeom prst="rect">
            <a:avLst/>
          </a:prstGeom>
          <a:noFill/>
          <a:ln/>
        </p:spPr>
        <p:txBody>
          <a:bodyPr wrap="square" rtlCol="0" anchor="ctr"/>
          <a:lstStyle/>
          <a:p>
            <a:pPr algn="ctr" indent="0" marL="0">
              <a:buNone/>
            </a:pPr>
            <a:r>
              <a:rPr lang="en-US" sz="1000" dirty="0">
                <a:solidFill>
                  <a:srgbClr val="4A6FA5"/>
                </a:solidFill>
              </a:rPr>
              <a:t>▶</a:t>
            </a:r>
            <a:endParaRPr lang="en-US" sz="1000" dirty="0"/>
          </a:p>
        </p:txBody>
      </p:sp>
      <p:sp>
        <p:nvSpPr>
          <p:cNvPr id="27" name="Shape 25"/>
          <p:cNvSpPr/>
          <p:nvPr/>
        </p:nvSpPr>
        <p:spPr>
          <a:xfrm>
            <a:off x="6263640" y="1170432"/>
            <a:ext cx="2743200" cy="5394960"/>
          </a:xfrm>
          <a:prstGeom prst="rect">
            <a:avLst/>
          </a:prstGeom>
          <a:solidFill>
            <a:srgbClr val="EEF2FA"/>
          </a:solidFill>
          <a:ln w="6350">
            <a:solidFill>
              <a:srgbClr val="C5D0E6"/>
            </a:solidFill>
            <a:prstDash val="solid"/>
          </a:ln>
        </p:spPr>
      </p:sp>
      <p:sp>
        <p:nvSpPr>
          <p:cNvPr id="28" name="Shape 26"/>
          <p:cNvSpPr/>
          <p:nvPr/>
        </p:nvSpPr>
        <p:spPr>
          <a:xfrm>
            <a:off x="6263640" y="1170432"/>
            <a:ext cx="2743200" cy="73152"/>
          </a:xfrm>
          <a:prstGeom prst="rect">
            <a:avLst/>
          </a:prstGeom>
          <a:solidFill>
            <a:srgbClr val="1B3A6B"/>
          </a:solidFill>
          <a:ln/>
        </p:spPr>
      </p:sp>
      <p:sp>
        <p:nvSpPr>
          <p:cNvPr id="29" name="Shape 27"/>
          <p:cNvSpPr/>
          <p:nvPr/>
        </p:nvSpPr>
        <p:spPr>
          <a:xfrm>
            <a:off x="6428232" y="1325880"/>
            <a:ext cx="438912" cy="438912"/>
          </a:xfrm>
          <a:prstGeom prst="ellipse">
            <a:avLst/>
          </a:prstGeom>
          <a:solidFill>
            <a:srgbClr val="1B3A6B"/>
          </a:solidFill>
          <a:ln/>
        </p:spPr>
      </p:sp>
      <p:sp>
        <p:nvSpPr>
          <p:cNvPr id="30" name="Text 28"/>
          <p:cNvSpPr/>
          <p:nvPr/>
        </p:nvSpPr>
        <p:spPr>
          <a:xfrm>
            <a:off x="6428232" y="1325880"/>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31" name="Text 29"/>
          <p:cNvSpPr/>
          <p:nvPr/>
        </p:nvSpPr>
        <p:spPr>
          <a:xfrm>
            <a:off x="6976872" y="1371600"/>
            <a:ext cx="1920240" cy="274320"/>
          </a:xfrm>
          <a:prstGeom prst="rect">
            <a:avLst/>
          </a:prstGeom>
          <a:noFill/>
          <a:ln/>
        </p:spPr>
        <p:txBody>
          <a:bodyPr wrap="square" rtlCol="0" anchor="ctr"/>
          <a:lstStyle/>
          <a:p>
            <a:pPr indent="0" marL="0">
              <a:buNone/>
            </a:pPr>
            <a:r>
              <a:rPr lang="en-US" sz="1000" b="1" dirty="0">
                <a:solidFill>
                  <a:srgbClr val="888888"/>
                </a:solidFill>
                <a:latin typeface="Yu Gothic" pitchFamily="34" charset="0"/>
                <a:ea typeface="Yu Gothic" pitchFamily="34" charset="-122"/>
                <a:cs typeface="Yu Gothic" pitchFamily="34" charset="-120"/>
              </a:rPr>
              <a:t>実行</a:t>
            </a:r>
            <a:endParaRPr lang="en-US" sz="1000" dirty="0"/>
          </a:p>
        </p:txBody>
      </p:sp>
      <p:sp>
        <p:nvSpPr>
          <p:cNvPr id="32" name="Shape 30"/>
          <p:cNvSpPr/>
          <p:nvPr/>
        </p:nvSpPr>
        <p:spPr>
          <a:xfrm>
            <a:off x="6400800" y="1874520"/>
            <a:ext cx="2468880" cy="0"/>
          </a:xfrm>
          <a:prstGeom prst="line">
            <a:avLst/>
          </a:prstGeom>
          <a:noFill/>
          <a:ln w="6350">
            <a:solidFill>
              <a:srgbClr val="C5D0E6"/>
            </a:solidFill>
            <a:prstDash val="solid"/>
          </a:ln>
        </p:spPr>
      </p:sp>
      <p:sp>
        <p:nvSpPr>
          <p:cNvPr id="33" name="Text 31"/>
          <p:cNvSpPr/>
          <p:nvPr/>
        </p:nvSpPr>
        <p:spPr>
          <a:xfrm>
            <a:off x="6400800" y="1965960"/>
            <a:ext cx="2468880" cy="685800"/>
          </a:xfrm>
          <a:prstGeom prst="rect">
            <a:avLst/>
          </a:prstGeom>
          <a:noFill/>
          <a:ln/>
        </p:spPr>
        <p:txBody>
          <a:bodyPr wrap="square" rtlCol="0" anchor="ctr"/>
          <a:lstStyle/>
          <a:p>
            <a:pPr indent="0" marL="0">
              <a:buNone/>
            </a:pPr>
            <a:r>
              <a:rPr lang="en-US" sz="1300" b="1" dirty="0">
                <a:solidFill>
                  <a:srgbClr val="1B3A6B"/>
                </a:solidFill>
                <a:latin typeface="Yu Mincho" pitchFamily="34" charset="0"/>
                <a:ea typeface="Yu Mincho" pitchFamily="34" charset="-122"/>
                <a:cs typeface="Yu Mincho" pitchFamily="34" charset="-120"/>
              </a:rPr>
              <a:t>完全無料で本番アプリを構築</a:t>
            </a:r>
            <a:endParaRPr lang="en-US" sz="1300" dirty="0"/>
          </a:p>
        </p:txBody>
      </p:sp>
      <p:sp>
        <p:nvSpPr>
          <p:cNvPr id="34" name="Text 32"/>
          <p:cNvSpPr/>
          <p:nvPr/>
        </p:nvSpPr>
        <p:spPr>
          <a:xfrm>
            <a:off x="6400800" y="2743200"/>
            <a:ext cx="2468880" cy="3474720"/>
          </a:xfrm>
          <a:prstGeom prst="rect">
            <a:avLst/>
          </a:prstGeom>
          <a:noFill/>
          <a:ln/>
        </p:spPr>
        <p:txBody>
          <a:bodyPr wrap="square" rtlCol="0" anchor="ctr"/>
          <a:lstStyle/>
          <a:p>
            <a:pPr indent="0" marL="0">
              <a:buNone/>
            </a:pPr>
            <a:r>
              <a:rPr lang="en-US" sz="1050" dirty="0">
                <a:solidFill>
                  <a:srgbClr val="444444"/>
                </a:solidFill>
                <a:latin typeface="Yu Gothic" pitchFamily="34" charset="0"/>
                <a:ea typeface="Yu Gothic" pitchFamily="34" charset="-122"/>
                <a:cs typeface="Yu Gothic" pitchFamily="34" charset="-120"/>
              </a:rPr>
              <a:t>「すべて無料のサービスだけで、実際に使えるアプリを作る」という制約を自分に課し、Next.js + Gemini + Supabase で実装。Vercel で公開した。</a:t>
            </a:r>
            <a:endParaRPr lang="en-US" sz="1050" dirty="0"/>
          </a:p>
        </p:txBody>
      </p:sp>
      <p:sp>
        <p:nvSpPr>
          <p:cNvPr id="35" name="Shape 33"/>
          <p:cNvSpPr/>
          <p:nvPr/>
        </p:nvSpPr>
        <p:spPr>
          <a:xfrm>
            <a:off x="9052560" y="3913632"/>
            <a:ext cx="137160" cy="0"/>
          </a:xfrm>
          <a:prstGeom prst="line">
            <a:avLst/>
          </a:prstGeom>
          <a:noFill/>
          <a:ln w="19050">
            <a:solidFill>
              <a:srgbClr val="4A6FA5"/>
            </a:solidFill>
            <a:prstDash val="solid"/>
          </a:ln>
        </p:spPr>
      </p:sp>
      <p:sp>
        <p:nvSpPr>
          <p:cNvPr id="36" name="Text 34"/>
          <p:cNvSpPr/>
          <p:nvPr/>
        </p:nvSpPr>
        <p:spPr>
          <a:xfrm>
            <a:off x="9098280" y="3794760"/>
            <a:ext cx="182880" cy="256032"/>
          </a:xfrm>
          <a:prstGeom prst="rect">
            <a:avLst/>
          </a:prstGeom>
          <a:noFill/>
          <a:ln/>
        </p:spPr>
        <p:txBody>
          <a:bodyPr wrap="square" rtlCol="0" anchor="ctr"/>
          <a:lstStyle/>
          <a:p>
            <a:pPr algn="ctr" indent="0" marL="0">
              <a:buNone/>
            </a:pPr>
            <a:r>
              <a:rPr lang="en-US" sz="1000" dirty="0">
                <a:solidFill>
                  <a:srgbClr val="4A6FA5"/>
                </a:solidFill>
              </a:rPr>
              <a:t>▶</a:t>
            </a:r>
            <a:endParaRPr lang="en-US" sz="1000" dirty="0"/>
          </a:p>
        </p:txBody>
      </p:sp>
      <p:sp>
        <p:nvSpPr>
          <p:cNvPr id="37" name="Shape 35"/>
          <p:cNvSpPr/>
          <p:nvPr/>
        </p:nvSpPr>
        <p:spPr>
          <a:xfrm>
            <a:off x="9189720" y="1170432"/>
            <a:ext cx="2743200" cy="5394960"/>
          </a:xfrm>
          <a:prstGeom prst="rect">
            <a:avLst/>
          </a:prstGeom>
          <a:solidFill>
            <a:srgbClr val="EEF2FA"/>
          </a:solidFill>
          <a:ln w="6350">
            <a:solidFill>
              <a:srgbClr val="C5D0E6"/>
            </a:solidFill>
            <a:prstDash val="solid"/>
          </a:ln>
        </p:spPr>
      </p:sp>
      <p:sp>
        <p:nvSpPr>
          <p:cNvPr id="38" name="Shape 36"/>
          <p:cNvSpPr/>
          <p:nvPr/>
        </p:nvSpPr>
        <p:spPr>
          <a:xfrm>
            <a:off x="9189720" y="1170432"/>
            <a:ext cx="2743200" cy="73152"/>
          </a:xfrm>
          <a:prstGeom prst="rect">
            <a:avLst/>
          </a:prstGeom>
          <a:solidFill>
            <a:srgbClr val="1B3A6B"/>
          </a:solidFill>
          <a:ln/>
        </p:spPr>
      </p:sp>
      <p:sp>
        <p:nvSpPr>
          <p:cNvPr id="39" name="Shape 37"/>
          <p:cNvSpPr/>
          <p:nvPr/>
        </p:nvSpPr>
        <p:spPr>
          <a:xfrm>
            <a:off x="9354312" y="1325880"/>
            <a:ext cx="438912" cy="438912"/>
          </a:xfrm>
          <a:prstGeom prst="ellipse">
            <a:avLst/>
          </a:prstGeom>
          <a:solidFill>
            <a:srgbClr val="1B3A6B"/>
          </a:solidFill>
          <a:ln/>
        </p:spPr>
      </p:sp>
      <p:sp>
        <p:nvSpPr>
          <p:cNvPr id="40" name="Text 38"/>
          <p:cNvSpPr/>
          <p:nvPr/>
        </p:nvSpPr>
        <p:spPr>
          <a:xfrm>
            <a:off x="9354312" y="1325880"/>
            <a:ext cx="438912" cy="438912"/>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41" name="Text 39"/>
          <p:cNvSpPr/>
          <p:nvPr/>
        </p:nvSpPr>
        <p:spPr>
          <a:xfrm>
            <a:off x="9902952" y="1371600"/>
            <a:ext cx="1920240" cy="274320"/>
          </a:xfrm>
          <a:prstGeom prst="rect">
            <a:avLst/>
          </a:prstGeom>
          <a:noFill/>
          <a:ln/>
        </p:spPr>
        <p:txBody>
          <a:bodyPr wrap="square" rtlCol="0" anchor="ctr"/>
          <a:lstStyle/>
          <a:p>
            <a:pPr indent="0" marL="0">
              <a:buNone/>
            </a:pPr>
            <a:r>
              <a:rPr lang="en-US" sz="1000" b="1" dirty="0">
                <a:solidFill>
                  <a:srgbClr val="888888"/>
                </a:solidFill>
                <a:latin typeface="Yu Gothic" pitchFamily="34" charset="0"/>
                <a:ea typeface="Yu Gothic" pitchFamily="34" charset="-122"/>
                <a:cs typeface="Yu Gothic" pitchFamily="34" charset="-120"/>
              </a:rPr>
              <a:t>成果</a:t>
            </a:r>
            <a:endParaRPr lang="en-US" sz="1000" dirty="0"/>
          </a:p>
        </p:txBody>
      </p:sp>
      <p:sp>
        <p:nvSpPr>
          <p:cNvPr id="42" name="Shape 40"/>
          <p:cNvSpPr/>
          <p:nvPr/>
        </p:nvSpPr>
        <p:spPr>
          <a:xfrm>
            <a:off x="9326880" y="1874520"/>
            <a:ext cx="2468880" cy="0"/>
          </a:xfrm>
          <a:prstGeom prst="line">
            <a:avLst/>
          </a:prstGeom>
          <a:noFill/>
          <a:ln w="6350">
            <a:solidFill>
              <a:srgbClr val="C5D0E6"/>
            </a:solidFill>
            <a:prstDash val="solid"/>
          </a:ln>
        </p:spPr>
      </p:sp>
      <p:sp>
        <p:nvSpPr>
          <p:cNvPr id="43" name="Text 41"/>
          <p:cNvSpPr/>
          <p:nvPr/>
        </p:nvSpPr>
        <p:spPr>
          <a:xfrm>
            <a:off x="9326880" y="1965960"/>
            <a:ext cx="2468880" cy="685800"/>
          </a:xfrm>
          <a:prstGeom prst="rect">
            <a:avLst/>
          </a:prstGeom>
          <a:noFill/>
          <a:ln/>
        </p:spPr>
        <p:txBody>
          <a:bodyPr wrap="square" rtlCol="0" anchor="ctr"/>
          <a:lstStyle/>
          <a:p>
            <a:pPr indent="0" marL="0">
              <a:buNone/>
            </a:pPr>
            <a:r>
              <a:rPr lang="en-US" sz="1300" b="1" dirty="0">
                <a:solidFill>
                  <a:srgbClr val="1B3A6B"/>
                </a:solidFill>
                <a:latin typeface="Yu Mincho" pitchFamily="34" charset="0"/>
                <a:ea typeface="Yu Mincho" pitchFamily="34" charset="-122"/>
                <a:cs typeface="Yu Mincho" pitchFamily="34" charset="-120"/>
              </a:rPr>
              <a:t>AI が選曲理由付きで提案</a:t>
            </a:r>
            <a:endParaRPr lang="en-US" sz="1300" dirty="0"/>
          </a:p>
        </p:txBody>
      </p:sp>
      <p:sp>
        <p:nvSpPr>
          <p:cNvPr id="44" name="Text 42"/>
          <p:cNvSpPr/>
          <p:nvPr/>
        </p:nvSpPr>
        <p:spPr>
          <a:xfrm>
            <a:off x="9326880" y="2743200"/>
            <a:ext cx="2468880" cy="3474720"/>
          </a:xfrm>
          <a:prstGeom prst="rect">
            <a:avLst/>
          </a:prstGeom>
          <a:noFill/>
          <a:ln/>
        </p:spPr>
        <p:txBody>
          <a:bodyPr wrap="square" rtlCol="0" anchor="ctr"/>
          <a:lstStyle/>
          <a:p>
            <a:pPr indent="0" marL="0">
              <a:buNone/>
            </a:pPr>
            <a:r>
              <a:rPr lang="en-US" sz="1050" dirty="0">
                <a:solidFill>
                  <a:srgbClr val="444444"/>
                </a:solidFill>
                <a:latin typeface="Yu Gothic" pitchFamily="34" charset="0"/>
                <a:ea typeface="Yu Gothic" pitchFamily="34" charset="-122"/>
                <a:cs typeface="Yu Gothic" pitchFamily="34" charset="-120"/>
              </a:rPr>
              <a:t>Billie Jean（Michael Jackson）を入れると、同じグルーヴ感・BPM・エネルギーを持つ曲が選曲理由テキスト付きで最大30曲提案される。追加検索も可能。</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73152"/>
          </a:xfrm>
          <a:prstGeom prst="rect">
            <a:avLst/>
          </a:prstGeom>
          <a:solidFill>
            <a:srgbClr val="1B3A6B"/>
          </a:solidFill>
          <a:ln/>
        </p:spPr>
      </p:sp>
      <p:sp>
        <p:nvSpPr>
          <p:cNvPr id="4" name="Text 2"/>
          <p:cNvSpPr/>
          <p:nvPr/>
        </p:nvSpPr>
        <p:spPr>
          <a:xfrm>
            <a:off x="10972800" y="109728"/>
            <a:ext cx="1005840" cy="201168"/>
          </a:xfrm>
          <a:prstGeom prst="rect">
            <a:avLst/>
          </a:prstGeom>
          <a:noFill/>
          <a:ln/>
        </p:spPr>
        <p:txBody>
          <a:bodyPr wrap="square" rtlCol="0" anchor="ctr"/>
          <a:lstStyle/>
          <a:p>
            <a:pPr algn="r" indent="0" marL="0">
              <a:buNone/>
            </a:pPr>
            <a:r>
              <a:rPr lang="en-US" sz="800" dirty="0">
                <a:solidFill>
                  <a:srgbClr val="888888"/>
                </a:solidFill>
                <a:latin typeface="Yu Gothic" pitchFamily="34" charset="0"/>
                <a:ea typeface="Yu Gothic" pitchFamily="34" charset="-122"/>
                <a:cs typeface="Yu Gothic" pitchFamily="34" charset="-120"/>
              </a:rPr>
              <a:t>4 / 11</a:t>
            </a:r>
            <a:endParaRPr lang="en-US" sz="800" dirty="0"/>
          </a:p>
        </p:txBody>
      </p:sp>
      <p:sp>
        <p:nvSpPr>
          <p:cNvPr id="5" name="Text 3"/>
          <p:cNvSpPr/>
          <p:nvPr/>
        </p:nvSpPr>
        <p:spPr>
          <a:xfrm>
            <a:off x="411480" y="137160"/>
            <a:ext cx="10424160" cy="457200"/>
          </a:xfrm>
          <a:prstGeom prst="rect">
            <a:avLst/>
          </a:prstGeom>
          <a:noFill/>
          <a:ln/>
        </p:spPr>
        <p:txBody>
          <a:bodyPr wrap="square" rtlCol="0" anchor="ctr"/>
          <a:lstStyle/>
          <a:p>
            <a:pPr algn="l" indent="0" marL="0">
              <a:buNone/>
            </a:pPr>
            <a:r>
              <a:rPr lang="en-US" sz="1600" b="1" dirty="0">
                <a:solidFill>
                  <a:srgbClr val="1B3A6B"/>
                </a:solidFill>
                <a:latin typeface="Yu Mincho" pitchFamily="34" charset="0"/>
                <a:ea typeface="Yu Mincho" pitchFamily="34" charset="-122"/>
                <a:cs typeface="Yu Mincho" pitchFamily="34" charset="-120"/>
              </a:rPr>
              <a:t>Claude Code × VS Code × CLAUDE.md ── AI支援開発で品質と速度を両立</a:t>
            </a:r>
            <a:endParaRPr lang="en-US" sz="1600" dirty="0"/>
          </a:p>
        </p:txBody>
      </p:sp>
      <p:sp>
        <p:nvSpPr>
          <p:cNvPr id="6" name="Shape 4"/>
          <p:cNvSpPr/>
          <p:nvPr/>
        </p:nvSpPr>
        <p:spPr>
          <a:xfrm>
            <a:off x="411480" y="658368"/>
            <a:ext cx="11365992" cy="0"/>
          </a:xfrm>
          <a:prstGeom prst="line">
            <a:avLst/>
          </a:prstGeom>
          <a:noFill/>
          <a:ln w="9525">
            <a:solidFill>
              <a:srgbClr val="4A6FA5"/>
            </a:solidFill>
            <a:prstDash val="solid"/>
          </a:ln>
        </p:spPr>
      </p:sp>
      <p:sp>
        <p:nvSpPr>
          <p:cNvPr id="7" name="Shape 5"/>
          <p:cNvSpPr/>
          <p:nvPr/>
        </p:nvSpPr>
        <p:spPr>
          <a:xfrm>
            <a:off x="411480" y="914400"/>
            <a:ext cx="5376672" cy="4864608"/>
          </a:xfrm>
          <a:prstGeom prst="rect">
            <a:avLst/>
          </a:prstGeom>
          <a:solidFill>
            <a:srgbClr val="EEF2FA"/>
          </a:solidFill>
          <a:ln w="6350">
            <a:solidFill>
              <a:srgbClr val="C5D0E6"/>
            </a:solidFill>
            <a:prstDash val="solid"/>
          </a:ln>
        </p:spPr>
      </p:sp>
      <p:sp>
        <p:nvSpPr>
          <p:cNvPr id="8" name="Shape 6"/>
          <p:cNvSpPr/>
          <p:nvPr/>
        </p:nvSpPr>
        <p:spPr>
          <a:xfrm>
            <a:off x="411480" y="914400"/>
            <a:ext cx="91440" cy="4864608"/>
          </a:xfrm>
          <a:prstGeom prst="rect">
            <a:avLst/>
          </a:prstGeom>
          <a:solidFill>
            <a:srgbClr val="1B3A6B"/>
          </a:solidFill>
          <a:ln/>
        </p:spPr>
      </p:sp>
      <p:sp>
        <p:nvSpPr>
          <p:cNvPr id="9" name="Text 7"/>
          <p:cNvSpPr/>
          <p:nvPr/>
        </p:nvSpPr>
        <p:spPr>
          <a:xfrm>
            <a:off x="612648" y="1005840"/>
            <a:ext cx="5102352" cy="347472"/>
          </a:xfrm>
          <a:prstGeom prst="rect">
            <a:avLst/>
          </a:prstGeom>
          <a:noFill/>
          <a:ln/>
        </p:spPr>
        <p:txBody>
          <a:bodyPr wrap="square" rtlCol="0" anchor="ctr"/>
          <a:lstStyle/>
          <a:p>
            <a:pPr indent="0" marL="0">
              <a:buNone/>
            </a:pPr>
            <a:r>
              <a:rPr lang="en-US" sz="1300" b="1" dirty="0">
                <a:solidFill>
                  <a:srgbClr val="1B3A6B"/>
                </a:solidFill>
                <a:latin typeface="Yu Mincho" pitchFamily="34" charset="0"/>
                <a:ea typeface="Yu Mincho" pitchFamily="34" charset="-122"/>
                <a:cs typeface="Yu Mincho" pitchFamily="34" charset="-120"/>
              </a:rPr>
              <a:t>Claude Code on VS Code</a:t>
            </a:r>
            <a:endParaRPr lang="en-US" sz="1300" dirty="0"/>
          </a:p>
        </p:txBody>
      </p:sp>
      <p:sp>
        <p:nvSpPr>
          <p:cNvPr id="10" name="Shape 8"/>
          <p:cNvSpPr/>
          <p:nvPr/>
        </p:nvSpPr>
        <p:spPr>
          <a:xfrm>
            <a:off x="612648" y="1389888"/>
            <a:ext cx="4974336" cy="0"/>
          </a:xfrm>
          <a:prstGeom prst="line">
            <a:avLst/>
          </a:prstGeom>
          <a:noFill/>
          <a:ln w="6350">
            <a:solidFill>
              <a:srgbClr val="4A6FA5"/>
            </a:solidFill>
            <a:prstDash val="solid"/>
          </a:ln>
        </p:spPr>
      </p:sp>
      <p:sp>
        <p:nvSpPr>
          <p:cNvPr id="11" name="Text 9"/>
          <p:cNvSpPr/>
          <p:nvPr/>
        </p:nvSpPr>
        <p:spPr>
          <a:xfrm>
            <a:off x="612648" y="1463040"/>
            <a:ext cx="5102352" cy="566928"/>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Anthropic 公式の AI コーディングエージェントを VS Code 上で使用。ファイル読み書き・コマンド実行・ウェブ検索を組み合わせ、複数ステップのタスクを自律処理する。</a:t>
            </a:r>
            <a:endParaRPr lang="en-US" sz="1000" dirty="0"/>
          </a:p>
        </p:txBody>
      </p:sp>
      <p:sp>
        <p:nvSpPr>
          <p:cNvPr id="12" name="Shape 10"/>
          <p:cNvSpPr/>
          <p:nvPr/>
        </p:nvSpPr>
        <p:spPr>
          <a:xfrm>
            <a:off x="612648" y="2121408"/>
            <a:ext cx="5102352" cy="73152"/>
          </a:xfrm>
          <a:prstGeom prst="rect">
            <a:avLst/>
          </a:prstGeom>
          <a:solidFill>
            <a:srgbClr val="1B3A6B"/>
          </a:solidFill>
          <a:ln/>
        </p:spPr>
      </p:sp>
      <p:sp>
        <p:nvSpPr>
          <p:cNvPr id="13" name="Text 11"/>
          <p:cNvSpPr/>
          <p:nvPr/>
        </p:nvSpPr>
        <p:spPr>
          <a:xfrm>
            <a:off x="612648" y="2249424"/>
            <a:ext cx="5102352" cy="274320"/>
          </a:xfrm>
          <a:prstGeom prst="rect">
            <a:avLst/>
          </a:prstGeom>
          <a:noFill/>
          <a:ln/>
        </p:spPr>
        <p:txBody>
          <a:bodyPr wrap="square" rtlCol="0" anchor="ctr"/>
          <a:lstStyle/>
          <a:p>
            <a:pPr indent="0" marL="0">
              <a:buNone/>
            </a:pPr>
            <a:r>
              <a:rPr lang="en-US" sz="1100" b="1" dirty="0">
                <a:solidFill>
                  <a:srgbClr val="1B3A6B"/>
                </a:solidFill>
                <a:latin typeface="Yu Gothic" pitchFamily="34" charset="0"/>
                <a:ea typeface="Yu Gothic" pitchFamily="34" charset="-122"/>
                <a:cs typeface="Yu Gothic" pitchFamily="34" charset="-120"/>
              </a:rPr>
              <a:t>▸ 自律コーディング</a:t>
            </a:r>
            <a:endParaRPr lang="en-US" sz="1100" dirty="0"/>
          </a:p>
        </p:txBody>
      </p:sp>
      <p:sp>
        <p:nvSpPr>
          <p:cNvPr id="14" name="Text 12"/>
          <p:cNvSpPr/>
          <p:nvPr/>
        </p:nvSpPr>
        <p:spPr>
          <a:xfrm>
            <a:off x="612648" y="2560320"/>
            <a:ext cx="5102352" cy="548640"/>
          </a:xfrm>
          <a:prstGeom prst="rect">
            <a:avLst/>
          </a:prstGeom>
          <a:noFill/>
          <a:ln/>
        </p:spPr>
        <p:txBody>
          <a:bodyPr wrap="square" rtlCol="0" anchor="ctr"/>
          <a:lstStyle/>
          <a:p>
            <a:pPr indent="0" marL="0">
              <a:buNone/>
            </a:pPr>
            <a:r>
              <a:rPr lang="en-US" sz="1050" dirty="0">
                <a:solidFill>
                  <a:srgbClr val="444444"/>
                </a:solidFill>
                <a:latin typeface="Yu Gothic" pitchFamily="34" charset="0"/>
                <a:ea typeface="Yu Gothic" pitchFamily="34" charset="-122"/>
                <a:cs typeface="Yu Gothic" pitchFamily="34" charset="-120"/>
              </a:rPr>
              <a:t>プロンプト指示だけで複数ファイルへの変更・テスト実行・デプロイ指示まで一連の作業を処理した</a:t>
            </a:r>
            <a:endParaRPr lang="en-US" sz="1050" dirty="0"/>
          </a:p>
        </p:txBody>
      </p:sp>
      <p:sp>
        <p:nvSpPr>
          <p:cNvPr id="15" name="Shape 13"/>
          <p:cNvSpPr/>
          <p:nvPr/>
        </p:nvSpPr>
        <p:spPr>
          <a:xfrm>
            <a:off x="612648" y="3337560"/>
            <a:ext cx="5102352" cy="73152"/>
          </a:xfrm>
          <a:prstGeom prst="rect">
            <a:avLst/>
          </a:prstGeom>
          <a:solidFill>
            <a:srgbClr val="1B3A6B"/>
          </a:solidFill>
          <a:ln/>
        </p:spPr>
      </p:sp>
      <p:sp>
        <p:nvSpPr>
          <p:cNvPr id="16" name="Text 14"/>
          <p:cNvSpPr/>
          <p:nvPr/>
        </p:nvSpPr>
        <p:spPr>
          <a:xfrm>
            <a:off x="612648" y="3465576"/>
            <a:ext cx="5102352" cy="274320"/>
          </a:xfrm>
          <a:prstGeom prst="rect">
            <a:avLst/>
          </a:prstGeom>
          <a:noFill/>
          <a:ln/>
        </p:spPr>
        <p:txBody>
          <a:bodyPr wrap="square" rtlCol="0" anchor="ctr"/>
          <a:lstStyle/>
          <a:p>
            <a:pPr indent="0" marL="0">
              <a:buNone/>
            </a:pPr>
            <a:r>
              <a:rPr lang="en-US" sz="1100" b="1" dirty="0">
                <a:solidFill>
                  <a:srgbClr val="1B3A6B"/>
                </a:solidFill>
                <a:latin typeface="Yu Gothic" pitchFamily="34" charset="0"/>
                <a:ea typeface="Yu Gothic" pitchFamily="34" charset="-122"/>
                <a:cs typeface="Yu Gothic" pitchFamily="34" charset="-120"/>
              </a:rPr>
              <a:t>▸ プロジェクト全体を把握</a:t>
            </a:r>
            <a:endParaRPr lang="en-US" sz="1100" dirty="0"/>
          </a:p>
        </p:txBody>
      </p:sp>
      <p:sp>
        <p:nvSpPr>
          <p:cNvPr id="17" name="Text 15"/>
          <p:cNvSpPr/>
          <p:nvPr/>
        </p:nvSpPr>
        <p:spPr>
          <a:xfrm>
            <a:off x="612648" y="3776472"/>
            <a:ext cx="5102352" cy="548640"/>
          </a:xfrm>
          <a:prstGeom prst="rect">
            <a:avLst/>
          </a:prstGeom>
          <a:noFill/>
          <a:ln/>
        </p:spPr>
        <p:txBody>
          <a:bodyPr wrap="square" rtlCol="0" anchor="ctr"/>
          <a:lstStyle/>
          <a:p>
            <a:pPr indent="0" marL="0">
              <a:buNone/>
            </a:pPr>
            <a:r>
              <a:rPr lang="en-US" sz="1050" dirty="0">
                <a:solidFill>
                  <a:srgbClr val="444444"/>
                </a:solidFill>
                <a:latin typeface="Yu Gothic" pitchFamily="34" charset="0"/>
                <a:ea typeface="Yu Gothic" pitchFamily="34" charset="-122"/>
                <a:cs typeface="Yu Gothic" pitchFamily="34" charset="-120"/>
              </a:rPr>
              <a:t>ファイル構造とコードをすべて理解した上で一貫性のある変更を加えるため、コンテキストのずれがない</a:t>
            </a:r>
            <a:endParaRPr lang="en-US" sz="1050" dirty="0"/>
          </a:p>
        </p:txBody>
      </p:sp>
      <p:sp>
        <p:nvSpPr>
          <p:cNvPr id="18" name="Shape 16"/>
          <p:cNvSpPr/>
          <p:nvPr/>
        </p:nvSpPr>
        <p:spPr>
          <a:xfrm>
            <a:off x="612648" y="4553712"/>
            <a:ext cx="5102352" cy="73152"/>
          </a:xfrm>
          <a:prstGeom prst="rect">
            <a:avLst/>
          </a:prstGeom>
          <a:solidFill>
            <a:srgbClr val="1B3A6B"/>
          </a:solidFill>
          <a:ln/>
        </p:spPr>
      </p:sp>
      <p:sp>
        <p:nvSpPr>
          <p:cNvPr id="19" name="Text 17"/>
          <p:cNvSpPr/>
          <p:nvPr/>
        </p:nvSpPr>
        <p:spPr>
          <a:xfrm>
            <a:off x="612648" y="4681728"/>
            <a:ext cx="5102352" cy="274320"/>
          </a:xfrm>
          <a:prstGeom prst="rect">
            <a:avLst/>
          </a:prstGeom>
          <a:noFill/>
          <a:ln/>
        </p:spPr>
        <p:txBody>
          <a:bodyPr wrap="square" rtlCol="0" anchor="ctr"/>
          <a:lstStyle/>
          <a:p>
            <a:pPr indent="0" marL="0">
              <a:buNone/>
            </a:pPr>
            <a:r>
              <a:rPr lang="en-US" sz="1100" b="1" dirty="0">
                <a:solidFill>
                  <a:srgbClr val="1B3A6B"/>
                </a:solidFill>
                <a:latin typeface="Yu Gothic" pitchFamily="34" charset="0"/>
                <a:ea typeface="Yu Gothic" pitchFamily="34" charset="-122"/>
                <a:cs typeface="Yu Gothic" pitchFamily="34" charset="-120"/>
              </a:rPr>
              <a:t>▸ CLAUDE.md を起点に作業開始</a:t>
            </a:r>
            <a:endParaRPr lang="en-US" sz="1100" dirty="0"/>
          </a:p>
        </p:txBody>
      </p:sp>
      <p:sp>
        <p:nvSpPr>
          <p:cNvPr id="20" name="Text 18"/>
          <p:cNvSpPr/>
          <p:nvPr/>
        </p:nvSpPr>
        <p:spPr>
          <a:xfrm>
            <a:off x="612648" y="4992624"/>
            <a:ext cx="5102352" cy="548640"/>
          </a:xfrm>
          <a:prstGeom prst="rect">
            <a:avLst/>
          </a:prstGeom>
          <a:noFill/>
          <a:ln/>
        </p:spPr>
        <p:txBody>
          <a:bodyPr wrap="square" rtlCol="0" anchor="ctr"/>
          <a:lstStyle/>
          <a:p>
            <a:pPr indent="0" marL="0">
              <a:buNone/>
            </a:pPr>
            <a:r>
              <a:rPr lang="en-US" sz="1050" dirty="0">
                <a:solidFill>
                  <a:srgbClr val="444444"/>
                </a:solidFill>
                <a:latin typeface="Yu Gothic" pitchFamily="34" charset="0"/>
                <a:ea typeface="Yu Gothic" pitchFamily="34" charset="-122"/>
                <a:cs typeface="Yu Gothic" pitchFamily="34" charset="-120"/>
              </a:rPr>
              <a:t>プロジェクト固有の指示ファイルを毎回参照することで、会話をまたいでも設計方針が引き継がれる</a:t>
            </a:r>
            <a:endParaRPr lang="en-US" sz="1050" dirty="0"/>
          </a:p>
        </p:txBody>
      </p:sp>
      <p:sp>
        <p:nvSpPr>
          <p:cNvPr id="21" name="Shape 19"/>
          <p:cNvSpPr/>
          <p:nvPr/>
        </p:nvSpPr>
        <p:spPr>
          <a:xfrm>
            <a:off x="5989320" y="914400"/>
            <a:ext cx="5971032" cy="4864608"/>
          </a:xfrm>
          <a:prstGeom prst="rect">
            <a:avLst/>
          </a:prstGeom>
          <a:solidFill>
            <a:srgbClr val="EEF2FA"/>
          </a:solidFill>
          <a:ln w="6350">
            <a:solidFill>
              <a:srgbClr val="C5D0E6"/>
            </a:solidFill>
            <a:prstDash val="solid"/>
          </a:ln>
        </p:spPr>
      </p:sp>
      <p:sp>
        <p:nvSpPr>
          <p:cNvPr id="22" name="Shape 20"/>
          <p:cNvSpPr/>
          <p:nvPr/>
        </p:nvSpPr>
        <p:spPr>
          <a:xfrm>
            <a:off x="5989320" y="914400"/>
            <a:ext cx="91440" cy="4864608"/>
          </a:xfrm>
          <a:prstGeom prst="rect">
            <a:avLst/>
          </a:prstGeom>
          <a:solidFill>
            <a:srgbClr val="2D5096"/>
          </a:solidFill>
          <a:ln/>
        </p:spPr>
      </p:sp>
      <p:sp>
        <p:nvSpPr>
          <p:cNvPr id="23" name="Text 21"/>
          <p:cNvSpPr/>
          <p:nvPr/>
        </p:nvSpPr>
        <p:spPr>
          <a:xfrm>
            <a:off x="6190488" y="1005840"/>
            <a:ext cx="5696712" cy="347472"/>
          </a:xfrm>
          <a:prstGeom prst="rect">
            <a:avLst/>
          </a:prstGeom>
          <a:noFill/>
          <a:ln/>
        </p:spPr>
        <p:txBody>
          <a:bodyPr wrap="square" rtlCol="0" anchor="ctr"/>
          <a:lstStyle/>
          <a:p>
            <a:pPr indent="0" marL="0">
              <a:buNone/>
            </a:pPr>
            <a:r>
              <a:rPr lang="en-US" sz="1300" b="1" dirty="0">
                <a:solidFill>
                  <a:srgbClr val="1B3A6B"/>
                </a:solidFill>
                <a:latin typeface="Yu Mincho" pitchFamily="34" charset="0"/>
                <a:ea typeface="Yu Mincho" pitchFamily="34" charset="-122"/>
                <a:cs typeface="Yu Mincho" pitchFamily="34" charset="-120"/>
              </a:rPr>
              <a:t>CLAUDE.md ── 設計仕様の言語化</a:t>
            </a:r>
            <a:endParaRPr lang="en-US" sz="1300" dirty="0"/>
          </a:p>
        </p:txBody>
      </p:sp>
      <p:sp>
        <p:nvSpPr>
          <p:cNvPr id="24" name="Shape 22"/>
          <p:cNvSpPr/>
          <p:nvPr/>
        </p:nvSpPr>
        <p:spPr>
          <a:xfrm>
            <a:off x="6190488" y="1389888"/>
            <a:ext cx="5568696" cy="0"/>
          </a:xfrm>
          <a:prstGeom prst="line">
            <a:avLst/>
          </a:prstGeom>
          <a:noFill/>
          <a:ln w="6350">
            <a:solidFill>
              <a:srgbClr val="4A6FA5"/>
            </a:solidFill>
            <a:prstDash val="solid"/>
          </a:ln>
        </p:spPr>
      </p:sp>
      <p:sp>
        <p:nvSpPr>
          <p:cNvPr id="25" name="Text 23"/>
          <p:cNvSpPr/>
          <p:nvPr/>
        </p:nvSpPr>
        <p:spPr>
          <a:xfrm>
            <a:off x="6190488" y="1463040"/>
            <a:ext cx="5696712" cy="566928"/>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UI生成の品質を一定に保つため、デザインシステム仕様・ブランド定義・禁止パターンをアプリ専用の CLAUDE.md に記述。Claude Code は毎回このファイルを参照してから作業を開始する。</a:t>
            </a:r>
            <a:endParaRPr lang="en-US" sz="1000" dirty="0"/>
          </a:p>
        </p:txBody>
      </p:sp>
      <p:sp>
        <p:nvSpPr>
          <p:cNvPr id="26" name="Shape 24"/>
          <p:cNvSpPr/>
          <p:nvPr/>
        </p:nvSpPr>
        <p:spPr>
          <a:xfrm>
            <a:off x="6190488" y="2121408"/>
            <a:ext cx="5696712" cy="73152"/>
          </a:xfrm>
          <a:prstGeom prst="rect">
            <a:avLst/>
          </a:prstGeom>
          <a:solidFill>
            <a:srgbClr val="2D5096"/>
          </a:solidFill>
          <a:ln/>
        </p:spPr>
      </p:sp>
      <p:sp>
        <p:nvSpPr>
          <p:cNvPr id="27" name="Text 25"/>
          <p:cNvSpPr/>
          <p:nvPr/>
        </p:nvSpPr>
        <p:spPr>
          <a:xfrm>
            <a:off x="6190488" y="2249424"/>
            <a:ext cx="5696712" cy="274320"/>
          </a:xfrm>
          <a:prstGeom prst="rect">
            <a:avLst/>
          </a:prstGeom>
          <a:noFill/>
          <a:ln/>
        </p:spPr>
        <p:txBody>
          <a:bodyPr wrap="square" rtlCol="0" anchor="ctr"/>
          <a:lstStyle/>
          <a:p>
            <a:pPr indent="0" marL="0">
              <a:buNone/>
            </a:pPr>
            <a:r>
              <a:rPr lang="en-US" sz="1100" b="1" dirty="0">
                <a:solidFill>
                  <a:srgbClr val="1B3A6B"/>
                </a:solidFill>
                <a:latin typeface="Yu Gothic" pitchFamily="34" charset="0"/>
                <a:ea typeface="Yu Gothic" pitchFamily="34" charset="-122"/>
                <a:cs typeface="Yu Gothic" pitchFamily="34" charset="-120"/>
              </a:rPr>
              <a:t>▸ 設計原則 5 つ</a:t>
            </a:r>
            <a:endParaRPr lang="en-US" sz="1100" dirty="0"/>
          </a:p>
        </p:txBody>
      </p:sp>
      <p:sp>
        <p:nvSpPr>
          <p:cNvPr id="28" name="Text 26"/>
          <p:cNvSpPr/>
          <p:nvPr/>
        </p:nvSpPr>
        <p:spPr>
          <a:xfrm>
            <a:off x="6190488" y="2560320"/>
            <a:ext cx="5696712" cy="548640"/>
          </a:xfrm>
          <a:prstGeom prst="rect">
            <a:avLst/>
          </a:prstGeom>
          <a:noFill/>
          <a:ln/>
        </p:spPr>
        <p:txBody>
          <a:bodyPr wrap="square" rtlCol="0" anchor="ctr"/>
          <a:lstStyle/>
          <a:p>
            <a:pPr indent="0" marL="0">
              <a:buNone/>
            </a:pPr>
            <a:r>
              <a:rPr lang="en-US" sz="1050" dirty="0">
                <a:solidFill>
                  <a:srgbClr val="444444"/>
                </a:solidFill>
                <a:latin typeface="Yu Gothic" pitchFamily="34" charset="0"/>
                <a:ea typeface="Yu Gothic" pitchFamily="34" charset="-122"/>
                <a:cs typeface="Yu Gothic" pitchFamily="34" charset="-120"/>
              </a:rPr>
              <a:t>Layered / Contrast / Semantic / Minimal / Grid の原則を全コンポーネントに一律適用</a:t>
            </a:r>
            <a:endParaRPr lang="en-US" sz="1050" dirty="0"/>
          </a:p>
        </p:txBody>
      </p:sp>
      <p:sp>
        <p:nvSpPr>
          <p:cNvPr id="29" name="Shape 27"/>
          <p:cNvSpPr/>
          <p:nvPr/>
        </p:nvSpPr>
        <p:spPr>
          <a:xfrm>
            <a:off x="6190488" y="3337560"/>
            <a:ext cx="5696712" cy="73152"/>
          </a:xfrm>
          <a:prstGeom prst="rect">
            <a:avLst/>
          </a:prstGeom>
          <a:solidFill>
            <a:srgbClr val="2D5096"/>
          </a:solidFill>
          <a:ln/>
        </p:spPr>
      </p:sp>
      <p:sp>
        <p:nvSpPr>
          <p:cNvPr id="30" name="Text 28"/>
          <p:cNvSpPr/>
          <p:nvPr/>
        </p:nvSpPr>
        <p:spPr>
          <a:xfrm>
            <a:off x="6190488" y="3465576"/>
            <a:ext cx="5696712" cy="274320"/>
          </a:xfrm>
          <a:prstGeom prst="rect">
            <a:avLst/>
          </a:prstGeom>
          <a:noFill/>
          <a:ln/>
        </p:spPr>
        <p:txBody>
          <a:bodyPr wrap="square" rtlCol="0" anchor="ctr"/>
          <a:lstStyle/>
          <a:p>
            <a:pPr indent="0" marL="0">
              <a:buNone/>
            </a:pPr>
            <a:r>
              <a:rPr lang="en-US" sz="1100" b="1" dirty="0">
                <a:solidFill>
                  <a:srgbClr val="1B3A6B"/>
                </a:solidFill>
                <a:latin typeface="Yu Gothic" pitchFamily="34" charset="0"/>
                <a:ea typeface="Yu Gothic" pitchFamily="34" charset="-122"/>
                <a:cs typeface="Yu Gothic" pitchFamily="34" charset="-120"/>
              </a:rPr>
              <a:t>▸ コンポーネント仕様 28 個</a:t>
            </a:r>
            <a:endParaRPr lang="en-US" sz="1100" dirty="0"/>
          </a:p>
        </p:txBody>
      </p:sp>
      <p:sp>
        <p:nvSpPr>
          <p:cNvPr id="31" name="Text 29"/>
          <p:cNvSpPr/>
          <p:nvPr/>
        </p:nvSpPr>
        <p:spPr>
          <a:xfrm>
            <a:off x="6190488" y="3776472"/>
            <a:ext cx="5696712" cy="548640"/>
          </a:xfrm>
          <a:prstGeom prst="rect">
            <a:avLst/>
          </a:prstGeom>
          <a:noFill/>
          <a:ln/>
        </p:spPr>
        <p:txBody>
          <a:bodyPr wrap="square" rtlCol="0" anchor="ctr"/>
          <a:lstStyle/>
          <a:p>
            <a:pPr indent="0" marL="0">
              <a:buNone/>
            </a:pPr>
            <a:r>
              <a:rPr lang="en-US" sz="1050" dirty="0">
                <a:solidFill>
                  <a:srgbClr val="444444"/>
                </a:solidFill>
                <a:latin typeface="Yu Gothic" pitchFamily="34" charset="0"/>
                <a:ea typeface="Yu Gothic" pitchFamily="34" charset="-122"/>
                <a:cs typeface="Yu Gothic" pitchFamily="34" charset="-120"/>
              </a:rPr>
              <a:t>ボタン・カード・モーダルなど 28 種類のTailwindクラスをすべて事前定義</a:t>
            </a:r>
            <a:endParaRPr lang="en-US" sz="1050" dirty="0"/>
          </a:p>
        </p:txBody>
      </p:sp>
      <p:sp>
        <p:nvSpPr>
          <p:cNvPr id="32" name="Shape 30"/>
          <p:cNvSpPr/>
          <p:nvPr/>
        </p:nvSpPr>
        <p:spPr>
          <a:xfrm>
            <a:off x="6190488" y="4553712"/>
            <a:ext cx="5696712" cy="73152"/>
          </a:xfrm>
          <a:prstGeom prst="rect">
            <a:avLst/>
          </a:prstGeom>
          <a:solidFill>
            <a:srgbClr val="2D5096"/>
          </a:solidFill>
          <a:ln/>
        </p:spPr>
      </p:sp>
      <p:sp>
        <p:nvSpPr>
          <p:cNvPr id="33" name="Text 31"/>
          <p:cNvSpPr/>
          <p:nvPr/>
        </p:nvSpPr>
        <p:spPr>
          <a:xfrm>
            <a:off x="6190488" y="4681728"/>
            <a:ext cx="5696712" cy="274320"/>
          </a:xfrm>
          <a:prstGeom prst="rect">
            <a:avLst/>
          </a:prstGeom>
          <a:noFill/>
          <a:ln/>
        </p:spPr>
        <p:txBody>
          <a:bodyPr wrap="square" rtlCol="0" anchor="ctr"/>
          <a:lstStyle/>
          <a:p>
            <a:pPr indent="0" marL="0">
              <a:buNone/>
            </a:pPr>
            <a:r>
              <a:rPr lang="en-US" sz="1100" b="1" dirty="0">
                <a:solidFill>
                  <a:srgbClr val="1B3A6B"/>
                </a:solidFill>
                <a:latin typeface="Yu Gothic" pitchFamily="34" charset="0"/>
                <a:ea typeface="Yu Gothic" pitchFamily="34" charset="-122"/>
                <a:cs typeface="Yu Gothic" pitchFamily="34" charset="-120"/>
              </a:rPr>
              <a:t>▸ 禁止パターン 76 項目</a:t>
            </a:r>
            <a:endParaRPr lang="en-US" sz="1100" dirty="0"/>
          </a:p>
        </p:txBody>
      </p:sp>
      <p:sp>
        <p:nvSpPr>
          <p:cNvPr id="34" name="Text 32"/>
          <p:cNvSpPr/>
          <p:nvPr/>
        </p:nvSpPr>
        <p:spPr>
          <a:xfrm>
            <a:off x="6190488" y="4992624"/>
            <a:ext cx="5696712" cy="548640"/>
          </a:xfrm>
          <a:prstGeom prst="rect">
            <a:avLst/>
          </a:prstGeom>
          <a:noFill/>
          <a:ln/>
        </p:spPr>
        <p:txBody>
          <a:bodyPr wrap="square" rtlCol="0" anchor="ctr"/>
          <a:lstStyle/>
          <a:p>
            <a:pPr indent="0" marL="0">
              <a:buNone/>
            </a:pPr>
            <a:r>
              <a:rPr lang="en-US" sz="1050" dirty="0">
                <a:solidFill>
                  <a:srgbClr val="444444"/>
                </a:solidFill>
                <a:latin typeface="Yu Gothic" pitchFamily="34" charset="0"/>
                <a:ea typeface="Yu Gothic" pitchFamily="34" charset="-122"/>
                <a:cs typeface="Yu Gothic" pitchFamily="34" charset="-120"/>
              </a:rPr>
              <a:t>text-black・shadow-lg など一貫性を崩すクラスを明示的に列挙して禁止</a:t>
            </a:r>
            <a:endParaRPr lang="en-US" sz="1050" dirty="0"/>
          </a:p>
        </p:txBody>
      </p:sp>
      <p:sp>
        <p:nvSpPr>
          <p:cNvPr id="35" name="Shape 33"/>
          <p:cNvSpPr/>
          <p:nvPr/>
        </p:nvSpPr>
        <p:spPr>
          <a:xfrm>
            <a:off x="411480" y="5925312"/>
            <a:ext cx="11365992" cy="438912"/>
          </a:xfrm>
          <a:prstGeom prst="rect">
            <a:avLst/>
          </a:prstGeom>
          <a:solidFill>
            <a:srgbClr val="DDE4F2"/>
          </a:solidFill>
          <a:ln w="6350">
            <a:solidFill>
              <a:srgbClr val="4A6FA5"/>
            </a:solidFill>
            <a:prstDash val="solid"/>
          </a:ln>
        </p:spPr>
      </p:sp>
      <p:sp>
        <p:nvSpPr>
          <p:cNvPr id="36" name="Text 34"/>
          <p:cNvSpPr/>
          <p:nvPr/>
        </p:nvSpPr>
        <p:spPr>
          <a:xfrm>
            <a:off x="548640" y="5925312"/>
            <a:ext cx="11064240" cy="438912"/>
          </a:xfrm>
          <a:prstGeom prst="rect">
            <a:avLst/>
          </a:prstGeom>
          <a:noFill/>
          <a:ln/>
        </p:spPr>
        <p:txBody>
          <a:bodyPr wrap="square" rtlCol="0" anchor="ctr"/>
          <a:lstStyle/>
          <a:p>
            <a:pPr algn="ctr" indent="0" marL="0">
              <a:buNone/>
            </a:pPr>
            <a:r>
              <a:rPr lang="en-US" sz="1050" b="1" dirty="0">
                <a:solidFill>
                  <a:srgbClr val="1B3A6B"/>
                </a:solidFill>
                <a:latin typeface="Yu Gothic" pitchFamily="34" charset="0"/>
                <a:ea typeface="Yu Gothic" pitchFamily="34" charset="-122"/>
                <a:cs typeface="Yu Gothic" pitchFamily="34" charset="-120"/>
              </a:rPr>
              <a:t>「設計意図をMDに書く → Claude Code が毎回参照 → 一貫したUIを継続生成」のループを確立。会話をまたいでも品質が落ちない開発フローを実現した。</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73152"/>
          </a:xfrm>
          <a:prstGeom prst="rect">
            <a:avLst/>
          </a:prstGeom>
          <a:solidFill>
            <a:srgbClr val="1B3A6B"/>
          </a:solidFill>
          <a:ln/>
        </p:spPr>
      </p:sp>
      <p:sp>
        <p:nvSpPr>
          <p:cNvPr id="4" name="Text 2"/>
          <p:cNvSpPr/>
          <p:nvPr/>
        </p:nvSpPr>
        <p:spPr>
          <a:xfrm>
            <a:off x="10972800" y="109728"/>
            <a:ext cx="1005840" cy="201168"/>
          </a:xfrm>
          <a:prstGeom prst="rect">
            <a:avLst/>
          </a:prstGeom>
          <a:noFill/>
          <a:ln/>
        </p:spPr>
        <p:txBody>
          <a:bodyPr wrap="square" rtlCol="0" anchor="ctr"/>
          <a:lstStyle/>
          <a:p>
            <a:pPr algn="r" indent="0" marL="0">
              <a:buNone/>
            </a:pPr>
            <a:r>
              <a:rPr lang="en-US" sz="800" dirty="0">
                <a:solidFill>
                  <a:srgbClr val="888888"/>
                </a:solidFill>
                <a:latin typeface="Yu Gothic" pitchFamily="34" charset="0"/>
                <a:ea typeface="Yu Gothic" pitchFamily="34" charset="-122"/>
                <a:cs typeface="Yu Gothic" pitchFamily="34" charset="-120"/>
              </a:rPr>
              <a:t>5 / 11</a:t>
            </a:r>
            <a:endParaRPr lang="en-US" sz="800" dirty="0"/>
          </a:p>
        </p:txBody>
      </p:sp>
      <p:sp>
        <p:nvSpPr>
          <p:cNvPr id="5" name="Text 3"/>
          <p:cNvSpPr/>
          <p:nvPr/>
        </p:nvSpPr>
        <p:spPr>
          <a:xfrm>
            <a:off x="411480" y="137160"/>
            <a:ext cx="10424160" cy="457200"/>
          </a:xfrm>
          <a:prstGeom prst="rect">
            <a:avLst/>
          </a:prstGeom>
          <a:noFill/>
          <a:ln/>
        </p:spPr>
        <p:txBody>
          <a:bodyPr wrap="square" rtlCol="0" anchor="ctr"/>
          <a:lstStyle/>
          <a:p>
            <a:pPr algn="l" indent="0" marL="0">
              <a:buNone/>
            </a:pPr>
            <a:r>
              <a:rPr lang="en-US" sz="1600" b="1" dirty="0">
                <a:solidFill>
                  <a:srgbClr val="1B3A6B"/>
                </a:solidFill>
                <a:latin typeface="Yu Mincho" pitchFamily="34" charset="0"/>
                <a:ea typeface="Yu Mincho" pitchFamily="34" charset="-122"/>
                <a:cs typeface="Yu Mincho" pitchFamily="34" charset="-120"/>
              </a:rPr>
              <a:t>Seed 設定後に 7 種の絞り込み条件と AI への自由テキスト指示で探索を精密に制御できる</a:t>
            </a:r>
            <a:endParaRPr lang="en-US" sz="1600" dirty="0"/>
          </a:p>
        </p:txBody>
      </p:sp>
      <p:sp>
        <p:nvSpPr>
          <p:cNvPr id="6" name="Shape 4"/>
          <p:cNvSpPr/>
          <p:nvPr/>
        </p:nvSpPr>
        <p:spPr>
          <a:xfrm>
            <a:off x="411480" y="658368"/>
            <a:ext cx="11365992" cy="0"/>
          </a:xfrm>
          <a:prstGeom prst="line">
            <a:avLst/>
          </a:prstGeom>
          <a:noFill/>
          <a:ln w="9525">
            <a:solidFill>
              <a:srgbClr val="4A6FA5"/>
            </a:solidFill>
            <a:prstDash val="solid"/>
          </a:ln>
        </p:spPr>
      </p:sp>
      <p:pic>
        <p:nvPicPr>
          <p:cNvPr id="7" name="Image 0" descr="preencoded.png">    </p:cNvPr>
          <p:cNvPicPr>
            <a:picLocks noChangeAspect="1"/>
          </p:cNvPicPr>
          <p:nvPr/>
        </p:nvPicPr>
        <p:blipFill>
          <a:blip r:embed="rId1"/>
          <a:stretch>
            <a:fillRect/>
          </a:stretch>
        </p:blipFill>
        <p:spPr>
          <a:xfrm>
            <a:off x="411480" y="777240"/>
            <a:ext cx="5303520" cy="3314700"/>
          </a:xfrm>
          <a:prstGeom prst="rect">
            <a:avLst/>
          </a:prstGeom>
        </p:spPr>
      </p:pic>
      <p:sp>
        <p:nvSpPr>
          <p:cNvPr id="8" name="Shape 5"/>
          <p:cNvSpPr/>
          <p:nvPr/>
        </p:nvSpPr>
        <p:spPr>
          <a:xfrm>
            <a:off x="411480" y="777240"/>
            <a:ext cx="5303520" cy="3314700"/>
          </a:xfrm>
          <a:prstGeom prst="rect">
            <a:avLst/>
          </a:prstGeom>
          <a:ln w="6350">
            <a:solidFill>
              <a:srgbClr val="C5D0E6"/>
            </a:solidFill>
            <a:prstDash val="solid"/>
          </a:ln>
        </p:spPr>
      </p:sp>
      <p:sp>
        <p:nvSpPr>
          <p:cNvPr id="9" name="Shape 6"/>
          <p:cNvSpPr/>
          <p:nvPr/>
        </p:nvSpPr>
        <p:spPr>
          <a:xfrm>
            <a:off x="411480" y="4229100"/>
            <a:ext cx="5303520" cy="2400300"/>
          </a:xfrm>
          <a:prstGeom prst="rect">
            <a:avLst/>
          </a:prstGeom>
          <a:solidFill>
            <a:srgbClr val="EEF2FA"/>
          </a:solidFill>
          <a:ln w="10160">
            <a:solidFill>
              <a:srgbClr val="4A6FA5"/>
            </a:solidFill>
            <a:prstDash val="solid"/>
          </a:ln>
        </p:spPr>
      </p:sp>
      <p:sp>
        <p:nvSpPr>
          <p:cNvPr id="10" name="Shape 7"/>
          <p:cNvSpPr/>
          <p:nvPr/>
        </p:nvSpPr>
        <p:spPr>
          <a:xfrm>
            <a:off x="411480" y="4229100"/>
            <a:ext cx="5303520" cy="73152"/>
          </a:xfrm>
          <a:prstGeom prst="rect">
            <a:avLst/>
          </a:prstGeom>
          <a:solidFill>
            <a:srgbClr val="2D5096"/>
          </a:solidFill>
          <a:ln/>
        </p:spPr>
      </p:sp>
      <p:sp>
        <p:nvSpPr>
          <p:cNvPr id="11" name="Text 8"/>
          <p:cNvSpPr/>
          <p:nvPr/>
        </p:nvSpPr>
        <p:spPr>
          <a:xfrm>
            <a:off x="548640" y="4338828"/>
            <a:ext cx="5074920" cy="256032"/>
          </a:xfrm>
          <a:prstGeom prst="rect">
            <a:avLst/>
          </a:prstGeom>
          <a:noFill/>
          <a:ln/>
        </p:spPr>
        <p:txBody>
          <a:bodyPr wrap="square" rtlCol="0" anchor="ctr"/>
          <a:lstStyle/>
          <a:p>
            <a:pPr indent="0" marL="0">
              <a:buNone/>
            </a:pPr>
            <a:r>
              <a:rPr lang="en-US" sz="1100" b="1" dirty="0">
                <a:solidFill>
                  <a:srgbClr val="1B3A6B"/>
                </a:solidFill>
                <a:latin typeface="Yu Mincho" pitchFamily="34" charset="0"/>
                <a:ea typeface="Yu Mincho" pitchFamily="34" charset="-122"/>
                <a:cs typeface="Yu Mincho" pitchFamily="34" charset="-120"/>
              </a:rPr>
              <a:t>メインSeed選択後 — Gemini が自動解析する項目</a:t>
            </a:r>
            <a:endParaRPr lang="en-US" sz="1100" dirty="0"/>
          </a:p>
        </p:txBody>
      </p:sp>
      <p:sp>
        <p:nvSpPr>
          <p:cNvPr id="12" name="Shape 9"/>
          <p:cNvSpPr/>
          <p:nvPr/>
        </p:nvSpPr>
        <p:spPr>
          <a:xfrm>
            <a:off x="548640" y="4631436"/>
            <a:ext cx="5029200" cy="0"/>
          </a:xfrm>
          <a:prstGeom prst="line">
            <a:avLst/>
          </a:prstGeom>
          <a:noFill/>
          <a:ln w="6350">
            <a:solidFill>
              <a:srgbClr val="C5D0E6"/>
            </a:solidFill>
            <a:prstDash val="solid"/>
          </a:ln>
        </p:spPr>
      </p:sp>
      <p:sp>
        <p:nvSpPr>
          <p:cNvPr id="13" name="Text 10"/>
          <p:cNvSpPr/>
          <p:nvPr/>
        </p:nvSpPr>
        <p:spPr>
          <a:xfrm>
            <a:off x="566928" y="4704588"/>
            <a:ext cx="1188720" cy="288798"/>
          </a:xfrm>
          <a:prstGeom prst="rect">
            <a:avLst/>
          </a:prstGeom>
          <a:noFill/>
          <a:ln/>
        </p:spPr>
        <p:txBody>
          <a:bodyPr wrap="square" rtlCol="0" anchor="ctr"/>
          <a:lstStyle/>
          <a:p>
            <a:pPr indent="0" marL="0">
              <a:buNone/>
            </a:pPr>
            <a:r>
              <a:rPr lang="en-US" sz="950" b="1" dirty="0">
                <a:solidFill>
                  <a:srgbClr val="1B3A6B"/>
                </a:solidFill>
                <a:latin typeface="Yu Gothic" pitchFamily="34" charset="0"/>
                <a:ea typeface="Yu Gothic" pitchFamily="34" charset="-122"/>
                <a:cs typeface="Yu Gothic" pitchFamily="34" charset="-120"/>
              </a:rPr>
              <a:t>BPM</a:t>
            </a:r>
            <a:endParaRPr lang="en-US" sz="950" dirty="0"/>
          </a:p>
        </p:txBody>
      </p:sp>
      <p:sp>
        <p:nvSpPr>
          <p:cNvPr id="14" name="Shape 11"/>
          <p:cNvSpPr/>
          <p:nvPr/>
        </p:nvSpPr>
        <p:spPr>
          <a:xfrm>
            <a:off x="1792224" y="4741164"/>
            <a:ext cx="0" cy="215646"/>
          </a:xfrm>
          <a:prstGeom prst="line">
            <a:avLst/>
          </a:prstGeom>
          <a:noFill/>
          <a:ln w="5080">
            <a:solidFill>
              <a:srgbClr val="C5D0E6"/>
            </a:solidFill>
            <a:prstDash val="solid"/>
          </a:ln>
        </p:spPr>
      </p:sp>
      <p:sp>
        <p:nvSpPr>
          <p:cNvPr id="15" name="Text 12"/>
          <p:cNvSpPr/>
          <p:nvPr/>
        </p:nvSpPr>
        <p:spPr>
          <a:xfrm>
            <a:off x="1874520" y="4704588"/>
            <a:ext cx="3730752" cy="288798"/>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テンポ（例: 117 BPM）</a:t>
            </a:r>
            <a:endParaRPr lang="en-US" sz="950" dirty="0"/>
          </a:p>
        </p:txBody>
      </p:sp>
      <p:sp>
        <p:nvSpPr>
          <p:cNvPr id="16" name="Text 13"/>
          <p:cNvSpPr/>
          <p:nvPr/>
        </p:nvSpPr>
        <p:spPr>
          <a:xfrm>
            <a:off x="566928" y="5020818"/>
            <a:ext cx="1188720" cy="288798"/>
          </a:xfrm>
          <a:prstGeom prst="rect">
            <a:avLst/>
          </a:prstGeom>
          <a:noFill/>
          <a:ln/>
        </p:spPr>
        <p:txBody>
          <a:bodyPr wrap="square" rtlCol="0" anchor="ctr"/>
          <a:lstStyle/>
          <a:p>
            <a:pPr indent="0" marL="0">
              <a:buNone/>
            </a:pPr>
            <a:r>
              <a:rPr lang="en-US" sz="950" b="1" dirty="0">
                <a:solidFill>
                  <a:srgbClr val="1B3A6B"/>
                </a:solidFill>
                <a:latin typeface="Yu Gothic" pitchFamily="34" charset="0"/>
                <a:ea typeface="Yu Gothic" pitchFamily="34" charset="-122"/>
                <a:cs typeface="Yu Gothic" pitchFamily="34" charset="-120"/>
              </a:rPr>
              <a:t>Camelot キー</a:t>
            </a:r>
            <a:endParaRPr lang="en-US" sz="950" dirty="0"/>
          </a:p>
        </p:txBody>
      </p:sp>
      <p:sp>
        <p:nvSpPr>
          <p:cNvPr id="17" name="Shape 14"/>
          <p:cNvSpPr/>
          <p:nvPr/>
        </p:nvSpPr>
        <p:spPr>
          <a:xfrm>
            <a:off x="1792224" y="5057394"/>
            <a:ext cx="0" cy="215646"/>
          </a:xfrm>
          <a:prstGeom prst="line">
            <a:avLst/>
          </a:prstGeom>
          <a:noFill/>
          <a:ln w="5080">
            <a:solidFill>
              <a:srgbClr val="C5D0E6"/>
            </a:solidFill>
            <a:prstDash val="solid"/>
          </a:ln>
        </p:spPr>
      </p:sp>
      <p:sp>
        <p:nvSpPr>
          <p:cNvPr id="18" name="Text 15"/>
          <p:cNvSpPr/>
          <p:nvPr/>
        </p:nvSpPr>
        <p:spPr>
          <a:xfrm>
            <a:off x="1874520" y="5020818"/>
            <a:ext cx="3730752" cy="288798"/>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音楽的調性（例: 11A = D minor）</a:t>
            </a:r>
            <a:endParaRPr lang="en-US" sz="950" dirty="0"/>
          </a:p>
        </p:txBody>
      </p:sp>
      <p:sp>
        <p:nvSpPr>
          <p:cNvPr id="19" name="Text 16"/>
          <p:cNvSpPr/>
          <p:nvPr/>
        </p:nvSpPr>
        <p:spPr>
          <a:xfrm>
            <a:off x="566928" y="5337048"/>
            <a:ext cx="1188720" cy="288798"/>
          </a:xfrm>
          <a:prstGeom prst="rect">
            <a:avLst/>
          </a:prstGeom>
          <a:noFill/>
          <a:ln/>
        </p:spPr>
        <p:txBody>
          <a:bodyPr wrap="square" rtlCol="0" anchor="ctr"/>
          <a:lstStyle/>
          <a:p>
            <a:pPr indent="0" marL="0">
              <a:buNone/>
            </a:pPr>
            <a:r>
              <a:rPr lang="en-US" sz="950" b="1" dirty="0">
                <a:solidFill>
                  <a:srgbClr val="1B3A6B"/>
                </a:solidFill>
                <a:latin typeface="Yu Gothic" pitchFamily="34" charset="0"/>
                <a:ea typeface="Yu Gothic" pitchFamily="34" charset="-122"/>
                <a:cs typeface="Yu Gothic" pitchFamily="34" charset="-120"/>
              </a:rPr>
              <a:t>Energy</a:t>
            </a:r>
            <a:endParaRPr lang="en-US" sz="950" dirty="0"/>
          </a:p>
        </p:txBody>
      </p:sp>
      <p:sp>
        <p:nvSpPr>
          <p:cNvPr id="20" name="Shape 17"/>
          <p:cNvSpPr/>
          <p:nvPr/>
        </p:nvSpPr>
        <p:spPr>
          <a:xfrm>
            <a:off x="1792224" y="5373624"/>
            <a:ext cx="0" cy="215646"/>
          </a:xfrm>
          <a:prstGeom prst="line">
            <a:avLst/>
          </a:prstGeom>
          <a:noFill/>
          <a:ln w="5080">
            <a:solidFill>
              <a:srgbClr val="C5D0E6"/>
            </a:solidFill>
            <a:prstDash val="solid"/>
          </a:ln>
        </p:spPr>
      </p:sp>
      <p:sp>
        <p:nvSpPr>
          <p:cNvPr id="21" name="Text 18"/>
          <p:cNvSpPr/>
          <p:nvPr/>
        </p:nvSpPr>
        <p:spPr>
          <a:xfrm>
            <a:off x="1874520" y="5337048"/>
            <a:ext cx="3730752" cy="288798"/>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エネルギー値 0〜1（例: 0.8）</a:t>
            </a:r>
            <a:endParaRPr lang="en-US" sz="950" dirty="0"/>
          </a:p>
        </p:txBody>
      </p:sp>
      <p:sp>
        <p:nvSpPr>
          <p:cNvPr id="22" name="Text 19"/>
          <p:cNvSpPr/>
          <p:nvPr/>
        </p:nvSpPr>
        <p:spPr>
          <a:xfrm>
            <a:off x="566928" y="5653278"/>
            <a:ext cx="1188720" cy="288798"/>
          </a:xfrm>
          <a:prstGeom prst="rect">
            <a:avLst/>
          </a:prstGeom>
          <a:noFill/>
          <a:ln/>
        </p:spPr>
        <p:txBody>
          <a:bodyPr wrap="square" rtlCol="0" anchor="ctr"/>
          <a:lstStyle/>
          <a:p>
            <a:pPr indent="0" marL="0">
              <a:buNone/>
            </a:pPr>
            <a:r>
              <a:rPr lang="en-US" sz="950" b="1" dirty="0">
                <a:solidFill>
                  <a:srgbClr val="1B3A6B"/>
                </a:solidFill>
                <a:latin typeface="Yu Gothic" pitchFamily="34" charset="0"/>
                <a:ea typeface="Yu Gothic" pitchFamily="34" charset="-122"/>
                <a:cs typeface="Yu Gothic" pitchFamily="34" charset="-120"/>
              </a:rPr>
              <a:t>ジャンルタグ</a:t>
            </a:r>
            <a:endParaRPr lang="en-US" sz="950" dirty="0"/>
          </a:p>
        </p:txBody>
      </p:sp>
      <p:sp>
        <p:nvSpPr>
          <p:cNvPr id="23" name="Shape 20"/>
          <p:cNvSpPr/>
          <p:nvPr/>
        </p:nvSpPr>
        <p:spPr>
          <a:xfrm>
            <a:off x="1792224" y="5689854"/>
            <a:ext cx="0" cy="215646"/>
          </a:xfrm>
          <a:prstGeom prst="line">
            <a:avLst/>
          </a:prstGeom>
          <a:noFill/>
          <a:ln w="5080">
            <a:solidFill>
              <a:srgbClr val="C5D0E6"/>
            </a:solidFill>
            <a:prstDash val="solid"/>
          </a:ln>
        </p:spPr>
      </p:sp>
      <p:sp>
        <p:nvSpPr>
          <p:cNvPr id="24" name="Text 21"/>
          <p:cNvSpPr/>
          <p:nvPr/>
        </p:nvSpPr>
        <p:spPr>
          <a:xfrm>
            <a:off x="1874520" y="5653278"/>
            <a:ext cx="3730752" cy="288798"/>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複数タグを自動付与（例: Funk / Soul）</a:t>
            </a:r>
            <a:endParaRPr lang="en-US" sz="950" dirty="0"/>
          </a:p>
        </p:txBody>
      </p:sp>
      <p:sp>
        <p:nvSpPr>
          <p:cNvPr id="25" name="Text 22"/>
          <p:cNvSpPr/>
          <p:nvPr/>
        </p:nvSpPr>
        <p:spPr>
          <a:xfrm>
            <a:off x="566928" y="5969508"/>
            <a:ext cx="1188720" cy="288798"/>
          </a:xfrm>
          <a:prstGeom prst="rect">
            <a:avLst/>
          </a:prstGeom>
          <a:noFill/>
          <a:ln/>
        </p:spPr>
        <p:txBody>
          <a:bodyPr wrap="square" rtlCol="0" anchor="ctr"/>
          <a:lstStyle/>
          <a:p>
            <a:pPr indent="0" marL="0">
              <a:buNone/>
            </a:pPr>
            <a:r>
              <a:rPr lang="en-US" sz="950" b="1" dirty="0">
                <a:solidFill>
                  <a:srgbClr val="1B3A6B"/>
                </a:solidFill>
                <a:latin typeface="Yu Gothic" pitchFamily="34" charset="0"/>
                <a:ea typeface="Yu Gothic" pitchFamily="34" charset="-122"/>
                <a:cs typeface="Yu Gothic" pitchFamily="34" charset="-120"/>
              </a:rPr>
              <a:t>リリース年代</a:t>
            </a:r>
            <a:endParaRPr lang="en-US" sz="950" dirty="0"/>
          </a:p>
        </p:txBody>
      </p:sp>
      <p:sp>
        <p:nvSpPr>
          <p:cNvPr id="26" name="Shape 23"/>
          <p:cNvSpPr/>
          <p:nvPr/>
        </p:nvSpPr>
        <p:spPr>
          <a:xfrm>
            <a:off x="1792224" y="6006084"/>
            <a:ext cx="0" cy="215646"/>
          </a:xfrm>
          <a:prstGeom prst="line">
            <a:avLst/>
          </a:prstGeom>
          <a:noFill/>
          <a:ln w="5080">
            <a:solidFill>
              <a:srgbClr val="C5D0E6"/>
            </a:solidFill>
            <a:prstDash val="solid"/>
          </a:ln>
        </p:spPr>
      </p:sp>
      <p:sp>
        <p:nvSpPr>
          <p:cNvPr id="27" name="Text 24"/>
          <p:cNvSpPr/>
          <p:nvPr/>
        </p:nvSpPr>
        <p:spPr>
          <a:xfrm>
            <a:off x="1874520" y="5969508"/>
            <a:ext cx="3730752" cy="288798"/>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年を特定（例: 1982年）</a:t>
            </a:r>
            <a:endParaRPr lang="en-US" sz="950" dirty="0"/>
          </a:p>
        </p:txBody>
      </p:sp>
      <p:sp>
        <p:nvSpPr>
          <p:cNvPr id="28" name="Text 25"/>
          <p:cNvSpPr/>
          <p:nvPr/>
        </p:nvSpPr>
        <p:spPr>
          <a:xfrm>
            <a:off x="566928" y="6285738"/>
            <a:ext cx="1188720" cy="288798"/>
          </a:xfrm>
          <a:prstGeom prst="rect">
            <a:avLst/>
          </a:prstGeom>
          <a:noFill/>
          <a:ln/>
        </p:spPr>
        <p:txBody>
          <a:bodyPr wrap="square" rtlCol="0" anchor="ctr"/>
          <a:lstStyle/>
          <a:p>
            <a:pPr indent="0" marL="0">
              <a:buNone/>
            </a:pPr>
            <a:r>
              <a:rPr lang="en-US" sz="950" b="1" dirty="0">
                <a:solidFill>
                  <a:srgbClr val="1B3A6B"/>
                </a:solidFill>
                <a:latin typeface="Yu Gothic" pitchFamily="34" charset="0"/>
                <a:ea typeface="Yu Gothic" pitchFamily="34" charset="-122"/>
                <a:cs typeface="Yu Gothic" pitchFamily="34" charset="-120"/>
              </a:rPr>
              <a:t>ボーカル有無</a:t>
            </a:r>
            <a:endParaRPr lang="en-US" sz="950" dirty="0"/>
          </a:p>
        </p:txBody>
      </p:sp>
      <p:sp>
        <p:nvSpPr>
          <p:cNvPr id="29" name="Shape 26"/>
          <p:cNvSpPr/>
          <p:nvPr/>
        </p:nvSpPr>
        <p:spPr>
          <a:xfrm>
            <a:off x="1792224" y="6322314"/>
            <a:ext cx="0" cy="215646"/>
          </a:xfrm>
          <a:prstGeom prst="line">
            <a:avLst/>
          </a:prstGeom>
          <a:noFill/>
          <a:ln w="5080">
            <a:solidFill>
              <a:srgbClr val="C5D0E6"/>
            </a:solidFill>
            <a:prstDash val="solid"/>
          </a:ln>
        </p:spPr>
      </p:sp>
      <p:sp>
        <p:nvSpPr>
          <p:cNvPr id="30" name="Text 27"/>
          <p:cNvSpPr/>
          <p:nvPr/>
        </p:nvSpPr>
        <p:spPr>
          <a:xfrm>
            <a:off x="1874520" y="6285738"/>
            <a:ext cx="3730752" cy="288798"/>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インスト / ボーカルを判定</a:t>
            </a:r>
            <a:endParaRPr lang="en-US" sz="950" dirty="0"/>
          </a:p>
        </p:txBody>
      </p:sp>
      <p:sp>
        <p:nvSpPr>
          <p:cNvPr id="31" name="Shape 28"/>
          <p:cNvSpPr/>
          <p:nvPr/>
        </p:nvSpPr>
        <p:spPr>
          <a:xfrm>
            <a:off x="411480" y="6355080"/>
            <a:ext cx="5303520" cy="274320"/>
          </a:xfrm>
          <a:prstGeom prst="rect">
            <a:avLst/>
          </a:prstGeom>
          <a:solidFill>
            <a:srgbClr val="DDE4F2"/>
          </a:solidFill>
          <a:ln/>
        </p:spPr>
      </p:sp>
      <p:sp>
        <p:nvSpPr>
          <p:cNvPr id="32" name="Text 29"/>
          <p:cNvSpPr/>
          <p:nvPr/>
        </p:nvSpPr>
        <p:spPr>
          <a:xfrm>
            <a:off x="548640" y="6373368"/>
            <a:ext cx="5074920" cy="237744"/>
          </a:xfrm>
          <a:prstGeom prst="rect">
            <a:avLst/>
          </a:prstGeom>
          <a:noFill/>
          <a:ln/>
        </p:spPr>
        <p:txBody>
          <a:bodyPr wrap="square" rtlCol="0" anchor="ctr"/>
          <a:lstStyle/>
          <a:p>
            <a:pPr indent="0" marL="0">
              <a:buNone/>
            </a:pPr>
            <a:r>
              <a:rPr lang="en-US" sz="900" b="1" dirty="0">
                <a:solidFill>
                  <a:srgbClr val="2D5096"/>
                </a:solidFill>
                <a:latin typeface="Yu Gothic" pitchFamily="34" charset="0"/>
                <a:ea typeface="Yu Gothic" pitchFamily="34" charset="-122"/>
                <a:cs typeface="Yu Gothic" pitchFamily="34" charset="-120"/>
              </a:rPr>
              <a:t>これらの解析値が各絞り込み条件の基準となる</a:t>
            </a:r>
            <a:endParaRPr lang="en-US" sz="900" dirty="0"/>
          </a:p>
        </p:txBody>
      </p:sp>
      <p:sp>
        <p:nvSpPr>
          <p:cNvPr id="33" name="Shape 30"/>
          <p:cNvSpPr/>
          <p:nvPr/>
        </p:nvSpPr>
        <p:spPr>
          <a:xfrm>
            <a:off x="5943600" y="777240"/>
            <a:ext cx="6062472" cy="3657600"/>
          </a:xfrm>
          <a:prstGeom prst="rect">
            <a:avLst/>
          </a:prstGeom>
          <a:solidFill>
            <a:srgbClr val="EEF2FA"/>
          </a:solidFill>
          <a:ln w="6350">
            <a:solidFill>
              <a:srgbClr val="C5D0E6"/>
            </a:solidFill>
            <a:prstDash val="solid"/>
          </a:ln>
        </p:spPr>
      </p:sp>
      <p:sp>
        <p:nvSpPr>
          <p:cNvPr id="34" name="Shape 31"/>
          <p:cNvSpPr/>
          <p:nvPr/>
        </p:nvSpPr>
        <p:spPr>
          <a:xfrm>
            <a:off x="5943600" y="777240"/>
            <a:ext cx="6062472" cy="73152"/>
          </a:xfrm>
          <a:prstGeom prst="rect">
            <a:avLst/>
          </a:prstGeom>
          <a:solidFill>
            <a:srgbClr val="1B3A6B"/>
          </a:solidFill>
          <a:ln/>
        </p:spPr>
      </p:sp>
      <p:sp>
        <p:nvSpPr>
          <p:cNvPr id="35" name="Text 32"/>
          <p:cNvSpPr/>
          <p:nvPr/>
        </p:nvSpPr>
        <p:spPr>
          <a:xfrm>
            <a:off x="6080760" y="877824"/>
            <a:ext cx="5833872" cy="256032"/>
          </a:xfrm>
          <a:prstGeom prst="rect">
            <a:avLst/>
          </a:prstGeom>
          <a:noFill/>
          <a:ln/>
        </p:spPr>
        <p:txBody>
          <a:bodyPr wrap="square" rtlCol="0" anchor="ctr"/>
          <a:lstStyle/>
          <a:p>
            <a:pPr indent="0" marL="0">
              <a:buNone/>
            </a:pPr>
            <a:r>
              <a:rPr lang="en-US" sz="1200" b="1" dirty="0">
                <a:solidFill>
                  <a:srgbClr val="1B3A6B"/>
                </a:solidFill>
                <a:latin typeface="Yu Mincho" pitchFamily="34" charset="0"/>
                <a:ea typeface="Yu Mincho" pitchFamily="34" charset="-122"/>
                <a:cs typeface="Yu Mincho" pitchFamily="34" charset="-120"/>
              </a:rPr>
              <a:t>絞り込み条件（8種類）</a:t>
            </a:r>
            <a:endParaRPr lang="en-US" sz="1200" dirty="0"/>
          </a:p>
        </p:txBody>
      </p:sp>
      <p:sp>
        <p:nvSpPr>
          <p:cNvPr id="36" name="Shape 33"/>
          <p:cNvSpPr/>
          <p:nvPr/>
        </p:nvSpPr>
        <p:spPr>
          <a:xfrm>
            <a:off x="6080760" y="1170432"/>
            <a:ext cx="5788152" cy="0"/>
          </a:xfrm>
          <a:prstGeom prst="line">
            <a:avLst/>
          </a:prstGeom>
          <a:noFill/>
          <a:ln w="6350">
            <a:solidFill>
              <a:srgbClr val="C5D0E6"/>
            </a:solidFill>
            <a:prstDash val="solid"/>
          </a:ln>
        </p:spPr>
      </p:sp>
      <p:sp>
        <p:nvSpPr>
          <p:cNvPr id="37" name="Shape 34"/>
          <p:cNvSpPr/>
          <p:nvPr/>
        </p:nvSpPr>
        <p:spPr>
          <a:xfrm>
            <a:off x="6035040" y="1252728"/>
            <a:ext cx="5879592" cy="365760"/>
          </a:xfrm>
          <a:prstGeom prst="rect">
            <a:avLst/>
          </a:prstGeom>
          <a:solidFill>
            <a:srgbClr val="DDE4F2"/>
          </a:solidFill>
          <a:ln/>
        </p:spPr>
      </p:sp>
      <p:sp>
        <p:nvSpPr>
          <p:cNvPr id="38" name="Shape 35"/>
          <p:cNvSpPr/>
          <p:nvPr/>
        </p:nvSpPr>
        <p:spPr>
          <a:xfrm>
            <a:off x="6071616" y="1316736"/>
            <a:ext cx="237744" cy="237744"/>
          </a:xfrm>
          <a:prstGeom prst="ellipse">
            <a:avLst/>
          </a:prstGeom>
          <a:solidFill>
            <a:srgbClr val="1B3A6B"/>
          </a:solidFill>
          <a:ln/>
        </p:spPr>
      </p:sp>
      <p:sp>
        <p:nvSpPr>
          <p:cNvPr id="39" name="Text 36"/>
          <p:cNvSpPr/>
          <p:nvPr/>
        </p:nvSpPr>
        <p:spPr>
          <a:xfrm>
            <a:off x="6071616" y="1316736"/>
            <a:ext cx="237744" cy="237744"/>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1</a:t>
            </a:r>
            <a:endParaRPr lang="en-US" sz="750" dirty="0"/>
          </a:p>
        </p:txBody>
      </p:sp>
      <p:sp>
        <p:nvSpPr>
          <p:cNvPr id="40" name="Text 37"/>
          <p:cNvSpPr/>
          <p:nvPr/>
        </p:nvSpPr>
        <p:spPr>
          <a:xfrm>
            <a:off x="6382512" y="1280160"/>
            <a:ext cx="1115568" cy="310896"/>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BPM 範囲</a:t>
            </a:r>
            <a:endParaRPr lang="en-US" sz="900" dirty="0"/>
          </a:p>
        </p:txBody>
      </p:sp>
      <p:sp>
        <p:nvSpPr>
          <p:cNvPr id="41" name="Shape 38"/>
          <p:cNvSpPr/>
          <p:nvPr/>
        </p:nvSpPr>
        <p:spPr>
          <a:xfrm>
            <a:off x="7534656" y="1298448"/>
            <a:ext cx="0" cy="274320"/>
          </a:xfrm>
          <a:prstGeom prst="line">
            <a:avLst/>
          </a:prstGeom>
          <a:noFill/>
          <a:ln w="5080">
            <a:solidFill>
              <a:srgbClr val="C5D0E6"/>
            </a:solidFill>
            <a:prstDash val="solid"/>
          </a:ln>
        </p:spPr>
      </p:sp>
      <p:sp>
        <p:nvSpPr>
          <p:cNvPr id="42" name="Text 39"/>
          <p:cNvSpPr/>
          <p:nvPr/>
        </p:nvSpPr>
        <p:spPr>
          <a:xfrm>
            <a:off x="7626096" y="1280160"/>
            <a:ext cx="4251960" cy="310896"/>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制限なし / ±5 / ±10 から選択</a:t>
            </a:r>
            <a:endParaRPr lang="en-US" sz="900" dirty="0"/>
          </a:p>
        </p:txBody>
      </p:sp>
      <p:sp>
        <p:nvSpPr>
          <p:cNvPr id="43" name="Shape 40"/>
          <p:cNvSpPr/>
          <p:nvPr/>
        </p:nvSpPr>
        <p:spPr>
          <a:xfrm>
            <a:off x="6071616" y="1719072"/>
            <a:ext cx="237744" cy="237744"/>
          </a:xfrm>
          <a:prstGeom prst="ellipse">
            <a:avLst/>
          </a:prstGeom>
          <a:solidFill>
            <a:srgbClr val="1B3A6B"/>
          </a:solidFill>
          <a:ln/>
        </p:spPr>
      </p:sp>
      <p:sp>
        <p:nvSpPr>
          <p:cNvPr id="44" name="Text 41"/>
          <p:cNvSpPr/>
          <p:nvPr/>
        </p:nvSpPr>
        <p:spPr>
          <a:xfrm>
            <a:off x="6071616" y="1719072"/>
            <a:ext cx="237744" cy="237744"/>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2</a:t>
            </a:r>
            <a:endParaRPr lang="en-US" sz="750" dirty="0"/>
          </a:p>
        </p:txBody>
      </p:sp>
      <p:sp>
        <p:nvSpPr>
          <p:cNvPr id="45" name="Text 42"/>
          <p:cNvSpPr/>
          <p:nvPr/>
        </p:nvSpPr>
        <p:spPr>
          <a:xfrm>
            <a:off x="6382512" y="1682496"/>
            <a:ext cx="1115568" cy="310896"/>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キー</a:t>
            </a:r>
            <a:endParaRPr lang="en-US" sz="900" dirty="0"/>
          </a:p>
        </p:txBody>
      </p:sp>
      <p:sp>
        <p:nvSpPr>
          <p:cNvPr id="46" name="Shape 43"/>
          <p:cNvSpPr/>
          <p:nvPr/>
        </p:nvSpPr>
        <p:spPr>
          <a:xfrm>
            <a:off x="7534656" y="1700784"/>
            <a:ext cx="0" cy="274320"/>
          </a:xfrm>
          <a:prstGeom prst="line">
            <a:avLst/>
          </a:prstGeom>
          <a:noFill/>
          <a:ln w="5080">
            <a:solidFill>
              <a:srgbClr val="C5D0E6"/>
            </a:solidFill>
            <a:prstDash val="solid"/>
          </a:ln>
        </p:spPr>
      </p:sp>
      <p:sp>
        <p:nvSpPr>
          <p:cNvPr id="47" name="Text 44"/>
          <p:cNvSpPr/>
          <p:nvPr/>
        </p:nvSpPr>
        <p:spPr>
          <a:xfrm>
            <a:off x="7626096" y="1682496"/>
            <a:ext cx="4251960" cy="310896"/>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同じキー or Camelot 隣接（±1）</a:t>
            </a:r>
            <a:endParaRPr lang="en-US" sz="900" dirty="0"/>
          </a:p>
        </p:txBody>
      </p:sp>
      <p:sp>
        <p:nvSpPr>
          <p:cNvPr id="48" name="Shape 45"/>
          <p:cNvSpPr/>
          <p:nvPr/>
        </p:nvSpPr>
        <p:spPr>
          <a:xfrm>
            <a:off x="6035040" y="2057400"/>
            <a:ext cx="5879592" cy="365760"/>
          </a:xfrm>
          <a:prstGeom prst="rect">
            <a:avLst/>
          </a:prstGeom>
          <a:solidFill>
            <a:srgbClr val="DDE4F2"/>
          </a:solidFill>
          <a:ln/>
        </p:spPr>
      </p:sp>
      <p:sp>
        <p:nvSpPr>
          <p:cNvPr id="49" name="Shape 46"/>
          <p:cNvSpPr/>
          <p:nvPr/>
        </p:nvSpPr>
        <p:spPr>
          <a:xfrm>
            <a:off x="6071616" y="2121408"/>
            <a:ext cx="237744" cy="237744"/>
          </a:xfrm>
          <a:prstGeom prst="ellipse">
            <a:avLst/>
          </a:prstGeom>
          <a:solidFill>
            <a:srgbClr val="1B3A6B"/>
          </a:solidFill>
          <a:ln/>
        </p:spPr>
      </p:sp>
      <p:sp>
        <p:nvSpPr>
          <p:cNvPr id="50" name="Text 47"/>
          <p:cNvSpPr/>
          <p:nvPr/>
        </p:nvSpPr>
        <p:spPr>
          <a:xfrm>
            <a:off x="6071616" y="2121408"/>
            <a:ext cx="237744" cy="237744"/>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3</a:t>
            </a:r>
            <a:endParaRPr lang="en-US" sz="750" dirty="0"/>
          </a:p>
        </p:txBody>
      </p:sp>
      <p:sp>
        <p:nvSpPr>
          <p:cNvPr id="51" name="Text 48"/>
          <p:cNvSpPr/>
          <p:nvPr/>
        </p:nvSpPr>
        <p:spPr>
          <a:xfrm>
            <a:off x="6382512" y="2084832"/>
            <a:ext cx="1115568" cy="310896"/>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ジャンル</a:t>
            </a:r>
            <a:endParaRPr lang="en-US" sz="900" dirty="0"/>
          </a:p>
        </p:txBody>
      </p:sp>
      <p:sp>
        <p:nvSpPr>
          <p:cNvPr id="52" name="Shape 49"/>
          <p:cNvSpPr/>
          <p:nvPr/>
        </p:nvSpPr>
        <p:spPr>
          <a:xfrm>
            <a:off x="7534656" y="2103120"/>
            <a:ext cx="0" cy="274320"/>
          </a:xfrm>
          <a:prstGeom prst="line">
            <a:avLst/>
          </a:prstGeom>
          <a:noFill/>
          <a:ln w="5080">
            <a:solidFill>
              <a:srgbClr val="C5D0E6"/>
            </a:solidFill>
            <a:prstDash val="solid"/>
          </a:ln>
        </p:spPr>
      </p:sp>
      <p:sp>
        <p:nvSpPr>
          <p:cNvPr id="53" name="Text 50"/>
          <p:cNvSpPr/>
          <p:nvPr/>
        </p:nvSpPr>
        <p:spPr>
          <a:xfrm>
            <a:off x="7626096" y="2084832"/>
            <a:ext cx="4251960" cy="310896"/>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Seed の genre_tags から複数選択可</a:t>
            </a:r>
            <a:endParaRPr lang="en-US" sz="900" dirty="0"/>
          </a:p>
        </p:txBody>
      </p:sp>
      <p:sp>
        <p:nvSpPr>
          <p:cNvPr id="54" name="Shape 51"/>
          <p:cNvSpPr/>
          <p:nvPr/>
        </p:nvSpPr>
        <p:spPr>
          <a:xfrm>
            <a:off x="6071616" y="2523744"/>
            <a:ext cx="237744" cy="237744"/>
          </a:xfrm>
          <a:prstGeom prst="ellipse">
            <a:avLst/>
          </a:prstGeom>
          <a:solidFill>
            <a:srgbClr val="1B3A6B"/>
          </a:solidFill>
          <a:ln/>
        </p:spPr>
      </p:sp>
      <p:sp>
        <p:nvSpPr>
          <p:cNvPr id="55" name="Text 52"/>
          <p:cNvSpPr/>
          <p:nvPr/>
        </p:nvSpPr>
        <p:spPr>
          <a:xfrm>
            <a:off x="6071616" y="2523744"/>
            <a:ext cx="237744" cy="237744"/>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4</a:t>
            </a:r>
            <a:endParaRPr lang="en-US" sz="750" dirty="0"/>
          </a:p>
        </p:txBody>
      </p:sp>
      <p:sp>
        <p:nvSpPr>
          <p:cNvPr id="56" name="Text 53"/>
          <p:cNvSpPr/>
          <p:nvPr/>
        </p:nvSpPr>
        <p:spPr>
          <a:xfrm>
            <a:off x="6382512" y="2487168"/>
            <a:ext cx="1115568" cy="310896"/>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エネルギー</a:t>
            </a:r>
            <a:endParaRPr lang="en-US" sz="900" dirty="0"/>
          </a:p>
        </p:txBody>
      </p:sp>
      <p:sp>
        <p:nvSpPr>
          <p:cNvPr id="57" name="Shape 54"/>
          <p:cNvSpPr/>
          <p:nvPr/>
        </p:nvSpPr>
        <p:spPr>
          <a:xfrm>
            <a:off x="7534656" y="2505456"/>
            <a:ext cx="0" cy="274320"/>
          </a:xfrm>
          <a:prstGeom prst="line">
            <a:avLst/>
          </a:prstGeom>
          <a:noFill/>
          <a:ln w="5080">
            <a:solidFill>
              <a:srgbClr val="C5D0E6"/>
            </a:solidFill>
            <a:prstDash val="solid"/>
          </a:ln>
        </p:spPr>
      </p:sp>
      <p:sp>
        <p:nvSpPr>
          <p:cNvPr id="58" name="Text 55"/>
          <p:cNvSpPr/>
          <p:nvPr/>
        </p:nvSpPr>
        <p:spPr>
          <a:xfrm>
            <a:off x="7626096" y="2487168"/>
            <a:ext cx="4251960" cy="310896"/>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高 / 中 / 低 の 3 段階</a:t>
            </a:r>
            <a:endParaRPr lang="en-US" sz="900" dirty="0"/>
          </a:p>
        </p:txBody>
      </p:sp>
      <p:sp>
        <p:nvSpPr>
          <p:cNvPr id="59" name="Shape 56"/>
          <p:cNvSpPr/>
          <p:nvPr/>
        </p:nvSpPr>
        <p:spPr>
          <a:xfrm>
            <a:off x="6035040" y="2862072"/>
            <a:ext cx="5879592" cy="365760"/>
          </a:xfrm>
          <a:prstGeom prst="rect">
            <a:avLst/>
          </a:prstGeom>
          <a:solidFill>
            <a:srgbClr val="DDE4F2"/>
          </a:solidFill>
          <a:ln/>
        </p:spPr>
      </p:sp>
      <p:sp>
        <p:nvSpPr>
          <p:cNvPr id="60" name="Shape 57"/>
          <p:cNvSpPr/>
          <p:nvPr/>
        </p:nvSpPr>
        <p:spPr>
          <a:xfrm>
            <a:off x="6071616" y="2926080"/>
            <a:ext cx="237744" cy="237744"/>
          </a:xfrm>
          <a:prstGeom prst="ellipse">
            <a:avLst/>
          </a:prstGeom>
          <a:solidFill>
            <a:srgbClr val="1B3A6B"/>
          </a:solidFill>
          <a:ln/>
        </p:spPr>
      </p:sp>
      <p:sp>
        <p:nvSpPr>
          <p:cNvPr id="61" name="Text 58"/>
          <p:cNvSpPr/>
          <p:nvPr/>
        </p:nvSpPr>
        <p:spPr>
          <a:xfrm>
            <a:off x="6071616" y="2926080"/>
            <a:ext cx="237744" cy="237744"/>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5</a:t>
            </a:r>
            <a:endParaRPr lang="en-US" sz="750" dirty="0"/>
          </a:p>
        </p:txBody>
      </p:sp>
      <p:sp>
        <p:nvSpPr>
          <p:cNvPr id="62" name="Text 59"/>
          <p:cNvSpPr/>
          <p:nvPr/>
        </p:nvSpPr>
        <p:spPr>
          <a:xfrm>
            <a:off x="6382512" y="2889504"/>
            <a:ext cx="1115568" cy="310896"/>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アーティスト</a:t>
            </a:r>
            <a:endParaRPr lang="en-US" sz="900" dirty="0"/>
          </a:p>
        </p:txBody>
      </p:sp>
      <p:sp>
        <p:nvSpPr>
          <p:cNvPr id="63" name="Shape 60"/>
          <p:cNvSpPr/>
          <p:nvPr/>
        </p:nvSpPr>
        <p:spPr>
          <a:xfrm>
            <a:off x="7534656" y="2907792"/>
            <a:ext cx="0" cy="274320"/>
          </a:xfrm>
          <a:prstGeom prst="line">
            <a:avLst/>
          </a:prstGeom>
          <a:noFill/>
          <a:ln w="5080">
            <a:solidFill>
              <a:srgbClr val="C5D0E6"/>
            </a:solidFill>
            <a:prstDash val="solid"/>
          </a:ln>
        </p:spPr>
      </p:sp>
      <p:sp>
        <p:nvSpPr>
          <p:cNvPr id="64" name="Text 61"/>
          <p:cNvSpPr/>
          <p:nvPr/>
        </p:nvSpPr>
        <p:spPr>
          <a:xfrm>
            <a:off x="7626096" y="2889504"/>
            <a:ext cx="4251960" cy="310896"/>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同じアーティストを含む / 除外</a:t>
            </a:r>
            <a:endParaRPr lang="en-US" sz="900" dirty="0"/>
          </a:p>
        </p:txBody>
      </p:sp>
      <p:sp>
        <p:nvSpPr>
          <p:cNvPr id="65" name="Shape 62"/>
          <p:cNvSpPr/>
          <p:nvPr/>
        </p:nvSpPr>
        <p:spPr>
          <a:xfrm>
            <a:off x="6071616" y="3328416"/>
            <a:ext cx="237744" cy="237744"/>
          </a:xfrm>
          <a:prstGeom prst="ellipse">
            <a:avLst/>
          </a:prstGeom>
          <a:solidFill>
            <a:srgbClr val="1B3A6B"/>
          </a:solidFill>
          <a:ln/>
        </p:spPr>
      </p:sp>
      <p:sp>
        <p:nvSpPr>
          <p:cNvPr id="66" name="Text 63"/>
          <p:cNvSpPr/>
          <p:nvPr/>
        </p:nvSpPr>
        <p:spPr>
          <a:xfrm>
            <a:off x="6071616" y="3328416"/>
            <a:ext cx="237744" cy="237744"/>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6</a:t>
            </a:r>
            <a:endParaRPr lang="en-US" sz="750" dirty="0"/>
          </a:p>
        </p:txBody>
      </p:sp>
      <p:sp>
        <p:nvSpPr>
          <p:cNvPr id="67" name="Text 64"/>
          <p:cNvSpPr/>
          <p:nvPr/>
        </p:nvSpPr>
        <p:spPr>
          <a:xfrm>
            <a:off x="6382512" y="3291840"/>
            <a:ext cx="1115568" cy="310896"/>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年代</a:t>
            </a:r>
            <a:endParaRPr lang="en-US" sz="900" dirty="0"/>
          </a:p>
        </p:txBody>
      </p:sp>
      <p:sp>
        <p:nvSpPr>
          <p:cNvPr id="68" name="Shape 65"/>
          <p:cNvSpPr/>
          <p:nvPr/>
        </p:nvSpPr>
        <p:spPr>
          <a:xfrm>
            <a:off x="7534656" y="3310128"/>
            <a:ext cx="0" cy="274320"/>
          </a:xfrm>
          <a:prstGeom prst="line">
            <a:avLst/>
          </a:prstGeom>
          <a:noFill/>
          <a:ln w="5080">
            <a:solidFill>
              <a:srgbClr val="C5D0E6"/>
            </a:solidFill>
            <a:prstDash val="solid"/>
          </a:ln>
        </p:spPr>
      </p:sp>
      <p:sp>
        <p:nvSpPr>
          <p:cNvPr id="69" name="Text 66"/>
          <p:cNvSpPr/>
          <p:nvPr/>
        </p:nvSpPr>
        <p:spPr>
          <a:xfrm>
            <a:off x="7626096" y="3291840"/>
            <a:ext cx="4251960" cy="310896"/>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10 年ごと（70s / 80s …）＋ 2025・2026 年も選択可</a:t>
            </a:r>
            <a:endParaRPr lang="en-US" sz="900" dirty="0"/>
          </a:p>
        </p:txBody>
      </p:sp>
      <p:sp>
        <p:nvSpPr>
          <p:cNvPr id="70" name="Shape 67"/>
          <p:cNvSpPr/>
          <p:nvPr/>
        </p:nvSpPr>
        <p:spPr>
          <a:xfrm>
            <a:off x="6035040" y="3666744"/>
            <a:ext cx="5879592" cy="365760"/>
          </a:xfrm>
          <a:prstGeom prst="rect">
            <a:avLst/>
          </a:prstGeom>
          <a:solidFill>
            <a:srgbClr val="DDE4F2"/>
          </a:solidFill>
          <a:ln/>
        </p:spPr>
      </p:sp>
      <p:sp>
        <p:nvSpPr>
          <p:cNvPr id="71" name="Shape 68"/>
          <p:cNvSpPr/>
          <p:nvPr/>
        </p:nvSpPr>
        <p:spPr>
          <a:xfrm>
            <a:off x="6071616" y="3730752"/>
            <a:ext cx="237744" cy="237744"/>
          </a:xfrm>
          <a:prstGeom prst="ellipse">
            <a:avLst/>
          </a:prstGeom>
          <a:solidFill>
            <a:srgbClr val="1B3A6B"/>
          </a:solidFill>
          <a:ln/>
        </p:spPr>
      </p:sp>
      <p:sp>
        <p:nvSpPr>
          <p:cNvPr id="72" name="Text 69"/>
          <p:cNvSpPr/>
          <p:nvPr/>
        </p:nvSpPr>
        <p:spPr>
          <a:xfrm>
            <a:off x="6071616" y="3730752"/>
            <a:ext cx="237744" cy="237744"/>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7</a:t>
            </a:r>
            <a:endParaRPr lang="en-US" sz="750" dirty="0"/>
          </a:p>
        </p:txBody>
      </p:sp>
      <p:sp>
        <p:nvSpPr>
          <p:cNvPr id="73" name="Text 70"/>
          <p:cNvSpPr/>
          <p:nvPr/>
        </p:nvSpPr>
        <p:spPr>
          <a:xfrm>
            <a:off x="6382512" y="3694176"/>
            <a:ext cx="1115568" cy="310896"/>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プレイリスト除外</a:t>
            </a:r>
            <a:endParaRPr lang="en-US" sz="900" dirty="0"/>
          </a:p>
        </p:txBody>
      </p:sp>
      <p:sp>
        <p:nvSpPr>
          <p:cNvPr id="74" name="Shape 71"/>
          <p:cNvSpPr/>
          <p:nvPr/>
        </p:nvSpPr>
        <p:spPr>
          <a:xfrm>
            <a:off x="7534656" y="3712464"/>
            <a:ext cx="0" cy="274320"/>
          </a:xfrm>
          <a:prstGeom prst="line">
            <a:avLst/>
          </a:prstGeom>
          <a:noFill/>
          <a:ln w="5080">
            <a:solidFill>
              <a:srgbClr val="C5D0E6"/>
            </a:solidFill>
            <a:prstDash val="solid"/>
          </a:ln>
        </p:spPr>
      </p:sp>
      <p:sp>
        <p:nvSpPr>
          <p:cNvPr id="75" name="Text 72"/>
          <p:cNvSpPr/>
          <p:nvPr/>
        </p:nvSpPr>
        <p:spPr>
          <a:xfrm>
            <a:off x="7626096" y="3694176"/>
            <a:ext cx="4251960" cy="310896"/>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すでにリストにある曲を除く</a:t>
            </a:r>
            <a:endParaRPr lang="en-US" sz="900" dirty="0"/>
          </a:p>
        </p:txBody>
      </p:sp>
      <p:sp>
        <p:nvSpPr>
          <p:cNvPr id="76" name="Shape 73"/>
          <p:cNvSpPr/>
          <p:nvPr/>
        </p:nvSpPr>
        <p:spPr>
          <a:xfrm>
            <a:off x="6071616" y="4133088"/>
            <a:ext cx="237744" cy="237744"/>
          </a:xfrm>
          <a:prstGeom prst="ellipse">
            <a:avLst/>
          </a:prstGeom>
          <a:solidFill>
            <a:srgbClr val="1B3A6B"/>
          </a:solidFill>
          <a:ln/>
        </p:spPr>
      </p:sp>
      <p:sp>
        <p:nvSpPr>
          <p:cNvPr id="77" name="Text 74"/>
          <p:cNvSpPr/>
          <p:nvPr/>
        </p:nvSpPr>
        <p:spPr>
          <a:xfrm>
            <a:off x="6071616" y="4133088"/>
            <a:ext cx="237744" cy="237744"/>
          </a:xfrm>
          <a:prstGeom prst="rect">
            <a:avLst/>
          </a:prstGeom>
          <a:noFill/>
          <a:ln/>
        </p:spPr>
        <p:txBody>
          <a:bodyPr wrap="square"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8</a:t>
            </a:r>
            <a:endParaRPr lang="en-US" sz="750" dirty="0"/>
          </a:p>
        </p:txBody>
      </p:sp>
      <p:sp>
        <p:nvSpPr>
          <p:cNvPr id="78" name="Text 75"/>
          <p:cNvSpPr/>
          <p:nvPr/>
        </p:nvSpPr>
        <p:spPr>
          <a:xfrm>
            <a:off x="6382512" y="4096512"/>
            <a:ext cx="1115568" cy="310896"/>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有名曲を除外</a:t>
            </a:r>
            <a:endParaRPr lang="en-US" sz="900" dirty="0"/>
          </a:p>
        </p:txBody>
      </p:sp>
      <p:sp>
        <p:nvSpPr>
          <p:cNvPr id="79" name="Shape 76"/>
          <p:cNvSpPr/>
          <p:nvPr/>
        </p:nvSpPr>
        <p:spPr>
          <a:xfrm>
            <a:off x="7534656" y="4114800"/>
            <a:ext cx="0" cy="274320"/>
          </a:xfrm>
          <a:prstGeom prst="line">
            <a:avLst/>
          </a:prstGeom>
          <a:noFill/>
          <a:ln w="5080">
            <a:solidFill>
              <a:srgbClr val="C5D0E6"/>
            </a:solidFill>
            <a:prstDash val="solid"/>
          </a:ln>
        </p:spPr>
      </p:sp>
      <p:sp>
        <p:nvSpPr>
          <p:cNvPr id="80" name="Text 77"/>
          <p:cNvSpPr/>
          <p:nvPr/>
        </p:nvSpPr>
        <p:spPr>
          <a:xfrm>
            <a:off x="7626096" y="4096512"/>
            <a:ext cx="4251960" cy="310896"/>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定番・アンセム曲を除いてマイナー曲を優先</a:t>
            </a:r>
            <a:endParaRPr lang="en-US" sz="900" dirty="0"/>
          </a:p>
        </p:txBody>
      </p:sp>
      <p:sp>
        <p:nvSpPr>
          <p:cNvPr id="81" name="Shape 78"/>
          <p:cNvSpPr/>
          <p:nvPr/>
        </p:nvSpPr>
        <p:spPr>
          <a:xfrm>
            <a:off x="5943600" y="4572000"/>
            <a:ext cx="6062472" cy="2057400"/>
          </a:xfrm>
          <a:prstGeom prst="rect">
            <a:avLst/>
          </a:prstGeom>
          <a:solidFill>
            <a:srgbClr val="EEF2FA"/>
          </a:solidFill>
          <a:ln w="10160">
            <a:solidFill>
              <a:srgbClr val="4A6FA5"/>
            </a:solidFill>
            <a:prstDash val="solid"/>
          </a:ln>
        </p:spPr>
      </p:sp>
      <p:sp>
        <p:nvSpPr>
          <p:cNvPr id="82" name="Shape 79"/>
          <p:cNvSpPr/>
          <p:nvPr/>
        </p:nvSpPr>
        <p:spPr>
          <a:xfrm>
            <a:off x="5943600" y="4572000"/>
            <a:ext cx="6062472" cy="73152"/>
          </a:xfrm>
          <a:prstGeom prst="rect">
            <a:avLst/>
          </a:prstGeom>
          <a:solidFill>
            <a:srgbClr val="2D5096"/>
          </a:solidFill>
          <a:ln/>
        </p:spPr>
      </p:sp>
      <p:sp>
        <p:nvSpPr>
          <p:cNvPr id="83" name="Text 80"/>
          <p:cNvSpPr/>
          <p:nvPr/>
        </p:nvSpPr>
        <p:spPr>
          <a:xfrm>
            <a:off x="6080760" y="4681728"/>
            <a:ext cx="5833872" cy="256032"/>
          </a:xfrm>
          <a:prstGeom prst="rect">
            <a:avLst/>
          </a:prstGeom>
          <a:noFill/>
          <a:ln/>
        </p:spPr>
        <p:txBody>
          <a:bodyPr wrap="square" rtlCol="0" anchor="ctr"/>
          <a:lstStyle/>
          <a:p>
            <a:pPr indent="0" marL="0">
              <a:buNone/>
            </a:pPr>
            <a:r>
              <a:rPr lang="en-US" sz="1150" b="1" dirty="0">
                <a:solidFill>
                  <a:srgbClr val="1B3A6B"/>
                </a:solidFill>
                <a:latin typeface="Yu Mincho" pitchFamily="34" charset="0"/>
                <a:ea typeface="Yu Mincho" pitchFamily="34" charset="-122"/>
                <a:cs typeface="Yu Mincho" pitchFamily="34" charset="-120"/>
              </a:rPr>
              <a:t>AI への検索指示（自由テキスト）</a:t>
            </a:r>
            <a:endParaRPr lang="en-US" sz="1150" dirty="0"/>
          </a:p>
        </p:txBody>
      </p:sp>
      <p:sp>
        <p:nvSpPr>
          <p:cNvPr id="84" name="Shape 81"/>
          <p:cNvSpPr/>
          <p:nvPr/>
        </p:nvSpPr>
        <p:spPr>
          <a:xfrm>
            <a:off x="6080760" y="4974336"/>
            <a:ext cx="5788152" cy="0"/>
          </a:xfrm>
          <a:prstGeom prst="line">
            <a:avLst/>
          </a:prstGeom>
          <a:noFill/>
          <a:ln w="6350">
            <a:solidFill>
              <a:srgbClr val="C5D0E6"/>
            </a:solidFill>
            <a:prstDash val="solid"/>
          </a:ln>
        </p:spPr>
      </p:sp>
      <p:sp>
        <p:nvSpPr>
          <p:cNvPr id="85" name="Text 82"/>
          <p:cNvSpPr/>
          <p:nvPr/>
        </p:nvSpPr>
        <p:spPr>
          <a:xfrm>
            <a:off x="6080760" y="5029200"/>
            <a:ext cx="5833872" cy="292608"/>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フィルターで表現できないニュアンスを自然言語で Gemini に直接指示できる。</a:t>
            </a:r>
            <a:endParaRPr lang="en-US" sz="950" dirty="0"/>
          </a:p>
        </p:txBody>
      </p:sp>
      <p:sp>
        <p:nvSpPr>
          <p:cNvPr id="86" name="Shape 83"/>
          <p:cNvSpPr/>
          <p:nvPr/>
        </p:nvSpPr>
        <p:spPr>
          <a:xfrm>
            <a:off x="6080760" y="5358384"/>
            <a:ext cx="5788152" cy="1161288"/>
          </a:xfrm>
          <a:prstGeom prst="rect">
            <a:avLst/>
          </a:prstGeom>
          <a:solidFill>
            <a:srgbClr val="FFFFFF"/>
          </a:solidFill>
          <a:ln w="6350">
            <a:solidFill>
              <a:srgbClr val="C5D0E6"/>
            </a:solidFill>
            <a:prstDash val="solid"/>
          </a:ln>
        </p:spPr>
      </p:sp>
      <p:sp>
        <p:nvSpPr>
          <p:cNvPr id="87" name="Text 84"/>
          <p:cNvSpPr/>
          <p:nvPr/>
        </p:nvSpPr>
        <p:spPr>
          <a:xfrm>
            <a:off x="6199632" y="5422392"/>
            <a:ext cx="5559552" cy="258318"/>
          </a:xfrm>
          <a:prstGeom prst="rect">
            <a:avLst/>
          </a:prstGeom>
          <a:noFill/>
          <a:ln/>
        </p:spPr>
        <p:txBody>
          <a:bodyPr wrap="square" rtlCol="0" anchor="ctr"/>
          <a:lstStyle/>
          <a:p>
            <a:pPr indent="0" marL="0">
              <a:buNone/>
            </a:pPr>
            <a:r>
              <a:rPr lang="en-US" sz="1050" dirty="0">
                <a:solidFill>
                  <a:srgbClr val="888888"/>
                </a:solidFill>
                <a:latin typeface="Yu Gothic" pitchFamily="34" charset="0"/>
                <a:ea typeface="Yu Gothic" pitchFamily="34" charset="-122"/>
                <a:cs typeface="Yu Gothic" pitchFamily="34" charset="-120"/>
              </a:rPr>
              <a:t>·  アニソン以外</a:t>
            </a:r>
            <a:endParaRPr lang="en-US" sz="1050" dirty="0"/>
          </a:p>
        </p:txBody>
      </p:sp>
      <p:sp>
        <p:nvSpPr>
          <p:cNvPr id="88" name="Text 85"/>
          <p:cNvSpPr/>
          <p:nvPr/>
        </p:nvSpPr>
        <p:spPr>
          <a:xfrm>
            <a:off x="6199632" y="5680710"/>
            <a:ext cx="5559552" cy="258318"/>
          </a:xfrm>
          <a:prstGeom prst="rect">
            <a:avLst/>
          </a:prstGeom>
          <a:noFill/>
          <a:ln/>
        </p:spPr>
        <p:txBody>
          <a:bodyPr wrap="square" rtlCol="0" anchor="ctr"/>
          <a:lstStyle/>
          <a:p>
            <a:pPr indent="0" marL="0">
              <a:buNone/>
            </a:pPr>
            <a:r>
              <a:rPr lang="en-US" sz="1050" dirty="0">
                <a:solidFill>
                  <a:srgbClr val="888888"/>
                </a:solidFill>
                <a:latin typeface="Yu Gothic" pitchFamily="34" charset="0"/>
                <a:ea typeface="Yu Gothic" pitchFamily="34" charset="-122"/>
                <a:cs typeface="Yu Gothic" pitchFamily="34" charset="-120"/>
              </a:rPr>
              <a:t>·  インスト曲のみ</a:t>
            </a:r>
            <a:endParaRPr lang="en-US" sz="1050" dirty="0"/>
          </a:p>
        </p:txBody>
      </p:sp>
      <p:sp>
        <p:nvSpPr>
          <p:cNvPr id="89" name="Text 86"/>
          <p:cNvSpPr/>
          <p:nvPr/>
        </p:nvSpPr>
        <p:spPr>
          <a:xfrm>
            <a:off x="6199632" y="5939028"/>
            <a:ext cx="5559552" cy="258318"/>
          </a:xfrm>
          <a:prstGeom prst="rect">
            <a:avLst/>
          </a:prstGeom>
          <a:noFill/>
          <a:ln/>
        </p:spPr>
        <p:txBody>
          <a:bodyPr wrap="square" rtlCol="0" anchor="ctr"/>
          <a:lstStyle/>
          <a:p>
            <a:pPr indent="0" marL="0">
              <a:buNone/>
            </a:pPr>
            <a:r>
              <a:rPr lang="en-US" sz="1050" dirty="0">
                <a:solidFill>
                  <a:srgbClr val="888888"/>
                </a:solidFill>
                <a:latin typeface="Yu Gothic" pitchFamily="34" charset="0"/>
                <a:ea typeface="Yu Gothic" pitchFamily="34" charset="-122"/>
                <a:cs typeface="Yu Gothic" pitchFamily="34" charset="-120"/>
              </a:rPr>
              <a:t>·  グラミー賞受賞曲のみ</a:t>
            </a:r>
            <a:endParaRPr lang="en-US" sz="1050" dirty="0"/>
          </a:p>
        </p:txBody>
      </p:sp>
      <p:sp>
        <p:nvSpPr>
          <p:cNvPr id="90" name="Text 87"/>
          <p:cNvSpPr/>
          <p:nvPr/>
        </p:nvSpPr>
        <p:spPr>
          <a:xfrm>
            <a:off x="6199632" y="6197346"/>
            <a:ext cx="5559552" cy="258318"/>
          </a:xfrm>
          <a:prstGeom prst="rect">
            <a:avLst/>
          </a:prstGeom>
          <a:noFill/>
          <a:ln/>
        </p:spPr>
        <p:txBody>
          <a:bodyPr wrap="square" rtlCol="0" anchor="ctr"/>
          <a:lstStyle/>
          <a:p>
            <a:pPr indent="0" marL="0">
              <a:buNone/>
            </a:pPr>
            <a:r>
              <a:rPr lang="en-US" sz="1050" dirty="0">
                <a:solidFill>
                  <a:srgbClr val="888888"/>
                </a:solidFill>
                <a:latin typeface="Yu Gothic" pitchFamily="34" charset="0"/>
                <a:ea typeface="Yu Gothic" pitchFamily="34" charset="-122"/>
                <a:cs typeface="Yu Gothic" pitchFamily="34" charset="-120"/>
              </a:rPr>
              <a:t>·  ビルボード TOP 10 入りした曲を優先して</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73152"/>
          </a:xfrm>
          <a:prstGeom prst="rect">
            <a:avLst/>
          </a:prstGeom>
          <a:solidFill>
            <a:srgbClr val="1B3A6B"/>
          </a:solidFill>
          <a:ln/>
        </p:spPr>
      </p:sp>
      <p:sp>
        <p:nvSpPr>
          <p:cNvPr id="4" name="Text 2"/>
          <p:cNvSpPr/>
          <p:nvPr/>
        </p:nvSpPr>
        <p:spPr>
          <a:xfrm>
            <a:off x="10972800" y="109728"/>
            <a:ext cx="1005840" cy="201168"/>
          </a:xfrm>
          <a:prstGeom prst="rect">
            <a:avLst/>
          </a:prstGeom>
          <a:noFill/>
          <a:ln/>
        </p:spPr>
        <p:txBody>
          <a:bodyPr wrap="square" rtlCol="0" anchor="ctr"/>
          <a:lstStyle/>
          <a:p>
            <a:pPr algn="r" indent="0" marL="0">
              <a:buNone/>
            </a:pPr>
            <a:r>
              <a:rPr lang="en-US" sz="800" dirty="0">
                <a:solidFill>
                  <a:srgbClr val="888888"/>
                </a:solidFill>
                <a:latin typeface="Yu Gothic" pitchFamily="34" charset="0"/>
                <a:ea typeface="Yu Gothic" pitchFamily="34" charset="-122"/>
                <a:cs typeface="Yu Gothic" pitchFamily="34" charset="-120"/>
              </a:rPr>
              <a:t>6 / 11</a:t>
            </a:r>
            <a:endParaRPr lang="en-US" sz="800" dirty="0"/>
          </a:p>
        </p:txBody>
      </p:sp>
      <p:sp>
        <p:nvSpPr>
          <p:cNvPr id="5" name="Text 3"/>
          <p:cNvSpPr/>
          <p:nvPr/>
        </p:nvSpPr>
        <p:spPr>
          <a:xfrm>
            <a:off x="411480" y="137160"/>
            <a:ext cx="10424160" cy="457200"/>
          </a:xfrm>
          <a:prstGeom prst="rect">
            <a:avLst/>
          </a:prstGeom>
          <a:noFill/>
          <a:ln/>
        </p:spPr>
        <p:txBody>
          <a:bodyPr wrap="square" rtlCol="0" anchor="ctr"/>
          <a:lstStyle/>
          <a:p>
            <a:pPr algn="l" indent="0" marL="0">
              <a:buNone/>
            </a:pPr>
            <a:r>
              <a:rPr lang="en-US" sz="1600" b="1" dirty="0">
                <a:solidFill>
                  <a:srgbClr val="1B3A6B"/>
                </a:solidFill>
                <a:latin typeface="Yu Mincho" pitchFamily="34" charset="0"/>
                <a:ea typeface="Yu Mincho" pitchFamily="34" charset="-122"/>
                <a:cs typeface="Yu Mincho" pitchFamily="34" charset="-120"/>
              </a:rPr>
              <a:t>Gemini AI が Billie Jean に合う曲を選曲理由付きでリアルタイム提案</a:t>
            </a:r>
            <a:endParaRPr lang="en-US" sz="1600" dirty="0"/>
          </a:p>
        </p:txBody>
      </p:sp>
      <p:sp>
        <p:nvSpPr>
          <p:cNvPr id="6" name="Shape 4"/>
          <p:cNvSpPr/>
          <p:nvPr/>
        </p:nvSpPr>
        <p:spPr>
          <a:xfrm>
            <a:off x="411480" y="658368"/>
            <a:ext cx="11365992" cy="0"/>
          </a:xfrm>
          <a:prstGeom prst="line">
            <a:avLst/>
          </a:prstGeom>
          <a:noFill/>
          <a:ln w="9525">
            <a:solidFill>
              <a:srgbClr val="4A6FA5"/>
            </a:solidFill>
            <a:prstDash val="solid"/>
          </a:ln>
        </p:spPr>
      </p:sp>
      <p:pic>
        <p:nvPicPr>
          <p:cNvPr id="7" name="Image 0" descr="preencoded.png">    </p:cNvPr>
          <p:cNvPicPr>
            <a:picLocks noChangeAspect="1"/>
          </p:cNvPicPr>
          <p:nvPr/>
        </p:nvPicPr>
        <p:blipFill>
          <a:blip r:embed="rId1"/>
          <a:stretch>
            <a:fillRect/>
          </a:stretch>
        </p:blipFill>
        <p:spPr>
          <a:xfrm>
            <a:off x="411480" y="777240"/>
            <a:ext cx="7178040" cy="4486275"/>
          </a:xfrm>
          <a:prstGeom prst="rect">
            <a:avLst/>
          </a:prstGeom>
        </p:spPr>
      </p:pic>
      <p:sp>
        <p:nvSpPr>
          <p:cNvPr id="8" name="Shape 5"/>
          <p:cNvSpPr/>
          <p:nvPr/>
        </p:nvSpPr>
        <p:spPr>
          <a:xfrm>
            <a:off x="411480" y="777240"/>
            <a:ext cx="7178040" cy="4486275"/>
          </a:xfrm>
          <a:prstGeom prst="rect">
            <a:avLst/>
          </a:prstGeom>
          <a:ln w="6350">
            <a:solidFill>
              <a:srgbClr val="C5D0E6"/>
            </a:solidFill>
            <a:prstDash val="solid"/>
          </a:ln>
        </p:spPr>
      </p:sp>
      <p:sp>
        <p:nvSpPr>
          <p:cNvPr id="9" name="Shape 6"/>
          <p:cNvSpPr/>
          <p:nvPr/>
        </p:nvSpPr>
        <p:spPr>
          <a:xfrm>
            <a:off x="7818120" y="777240"/>
            <a:ext cx="4142232" cy="1408176"/>
          </a:xfrm>
          <a:prstGeom prst="rect">
            <a:avLst/>
          </a:prstGeom>
          <a:solidFill>
            <a:srgbClr val="EEF2FA"/>
          </a:solidFill>
          <a:ln w="6350">
            <a:solidFill>
              <a:srgbClr val="C5D0E6"/>
            </a:solidFill>
            <a:prstDash val="solid"/>
          </a:ln>
        </p:spPr>
      </p:sp>
      <p:sp>
        <p:nvSpPr>
          <p:cNvPr id="10" name="Shape 7"/>
          <p:cNvSpPr/>
          <p:nvPr/>
        </p:nvSpPr>
        <p:spPr>
          <a:xfrm>
            <a:off x="7818120" y="777240"/>
            <a:ext cx="91440" cy="1408176"/>
          </a:xfrm>
          <a:prstGeom prst="rect">
            <a:avLst/>
          </a:prstGeom>
          <a:solidFill>
            <a:srgbClr val="1B3A6B"/>
          </a:solidFill>
          <a:ln/>
        </p:spPr>
      </p:sp>
      <p:sp>
        <p:nvSpPr>
          <p:cNvPr id="11" name="Text 8"/>
          <p:cNvSpPr/>
          <p:nvPr/>
        </p:nvSpPr>
        <p:spPr>
          <a:xfrm>
            <a:off x="8019288" y="850392"/>
            <a:ext cx="3867912" cy="274320"/>
          </a:xfrm>
          <a:prstGeom prst="rect">
            <a:avLst/>
          </a:prstGeom>
          <a:noFill/>
          <a:ln/>
        </p:spPr>
        <p:txBody>
          <a:bodyPr wrap="square" rtlCol="0" anchor="ctr"/>
          <a:lstStyle/>
          <a:p>
            <a:pPr indent="0" marL="0">
              <a:buNone/>
            </a:pPr>
            <a:r>
              <a:rPr lang="en-US" sz="1100" b="1" dirty="0">
                <a:solidFill>
                  <a:srgbClr val="1B3A6B"/>
                </a:solidFill>
                <a:latin typeface="Yu Mincho" pitchFamily="34" charset="0"/>
                <a:ea typeface="Yu Mincho" pitchFamily="34" charset="-122"/>
                <a:cs typeface="Yu Mincho" pitchFamily="34" charset="-120"/>
              </a:rPr>
              <a:t>各曲に表示される情報</a:t>
            </a:r>
            <a:endParaRPr lang="en-US" sz="1100" dirty="0"/>
          </a:p>
        </p:txBody>
      </p:sp>
      <p:sp>
        <p:nvSpPr>
          <p:cNvPr id="12" name="Text 9"/>
          <p:cNvSpPr/>
          <p:nvPr/>
        </p:nvSpPr>
        <p:spPr>
          <a:xfrm>
            <a:off x="8019288" y="1143000"/>
            <a:ext cx="3867912" cy="969264"/>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曲名・アーティスト・アルバム名・発売年・YouTube 再生数・キー・BPM・メインシードと関係するジャンル・AI による選曲理由をまとめて表示。DJ ミックスに必要な情報をすべて一画面で確認できる。</a:t>
            </a:r>
            <a:endParaRPr lang="en-US" sz="950" dirty="0"/>
          </a:p>
        </p:txBody>
      </p:sp>
      <p:sp>
        <p:nvSpPr>
          <p:cNvPr id="13" name="Shape 10"/>
          <p:cNvSpPr/>
          <p:nvPr/>
        </p:nvSpPr>
        <p:spPr>
          <a:xfrm>
            <a:off x="7818120" y="2258568"/>
            <a:ext cx="4142232" cy="1408176"/>
          </a:xfrm>
          <a:prstGeom prst="rect">
            <a:avLst/>
          </a:prstGeom>
          <a:solidFill>
            <a:srgbClr val="EEF2FA"/>
          </a:solidFill>
          <a:ln w="6350">
            <a:solidFill>
              <a:srgbClr val="C5D0E6"/>
            </a:solidFill>
            <a:prstDash val="solid"/>
          </a:ln>
        </p:spPr>
      </p:sp>
      <p:sp>
        <p:nvSpPr>
          <p:cNvPr id="14" name="Shape 11"/>
          <p:cNvSpPr/>
          <p:nvPr/>
        </p:nvSpPr>
        <p:spPr>
          <a:xfrm>
            <a:off x="7818120" y="2258568"/>
            <a:ext cx="91440" cy="1408176"/>
          </a:xfrm>
          <a:prstGeom prst="rect">
            <a:avLst/>
          </a:prstGeom>
          <a:solidFill>
            <a:srgbClr val="1B3A6B"/>
          </a:solidFill>
          <a:ln/>
        </p:spPr>
      </p:sp>
      <p:sp>
        <p:nvSpPr>
          <p:cNvPr id="15" name="Text 12"/>
          <p:cNvSpPr/>
          <p:nvPr/>
        </p:nvSpPr>
        <p:spPr>
          <a:xfrm>
            <a:off x="8019288" y="2331720"/>
            <a:ext cx="3867912" cy="274320"/>
          </a:xfrm>
          <a:prstGeom prst="rect">
            <a:avLst/>
          </a:prstGeom>
          <a:noFill/>
          <a:ln/>
        </p:spPr>
        <p:txBody>
          <a:bodyPr wrap="square" rtlCol="0" anchor="ctr"/>
          <a:lstStyle/>
          <a:p>
            <a:pPr indent="0" marL="0">
              <a:buNone/>
            </a:pPr>
            <a:r>
              <a:rPr lang="en-US" sz="1100" b="1" dirty="0">
                <a:solidFill>
                  <a:srgbClr val="1B3A6B"/>
                </a:solidFill>
                <a:latin typeface="Yu Mincho" pitchFamily="34" charset="0"/>
                <a:ea typeface="Yu Mincho" pitchFamily="34" charset="-122"/>
                <a:cs typeface="Yu Mincho" pitchFamily="34" charset="-120"/>
              </a:rPr>
              <a:t>探索履歴に自動保存</a:t>
            </a:r>
            <a:endParaRPr lang="en-US" sz="1100" dirty="0"/>
          </a:p>
        </p:txBody>
      </p:sp>
      <p:sp>
        <p:nvSpPr>
          <p:cNvPr id="16" name="Text 13"/>
          <p:cNvSpPr/>
          <p:nvPr/>
        </p:nvSpPr>
        <p:spPr>
          <a:xfrm>
            <a:off x="8019288" y="2624328"/>
            <a:ext cx="3867912" cy="969264"/>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左パネルの HISTORY に探索結果が自動記録される。最大20件保存し、過去の探索を再閲覧・再利用できる。</a:t>
            </a:r>
            <a:endParaRPr lang="en-US" sz="950" dirty="0"/>
          </a:p>
        </p:txBody>
      </p:sp>
      <p:sp>
        <p:nvSpPr>
          <p:cNvPr id="17" name="Shape 14"/>
          <p:cNvSpPr/>
          <p:nvPr/>
        </p:nvSpPr>
        <p:spPr>
          <a:xfrm>
            <a:off x="7818120" y="3739896"/>
            <a:ext cx="4142232" cy="1408176"/>
          </a:xfrm>
          <a:prstGeom prst="rect">
            <a:avLst/>
          </a:prstGeom>
          <a:solidFill>
            <a:srgbClr val="EEF2FA"/>
          </a:solidFill>
          <a:ln w="6350">
            <a:solidFill>
              <a:srgbClr val="C5D0E6"/>
            </a:solidFill>
            <a:prstDash val="solid"/>
          </a:ln>
        </p:spPr>
      </p:sp>
      <p:sp>
        <p:nvSpPr>
          <p:cNvPr id="18" name="Shape 15"/>
          <p:cNvSpPr/>
          <p:nvPr/>
        </p:nvSpPr>
        <p:spPr>
          <a:xfrm>
            <a:off x="7818120" y="3739896"/>
            <a:ext cx="91440" cy="1408176"/>
          </a:xfrm>
          <a:prstGeom prst="rect">
            <a:avLst/>
          </a:prstGeom>
          <a:solidFill>
            <a:srgbClr val="1B3A6B"/>
          </a:solidFill>
          <a:ln/>
        </p:spPr>
      </p:sp>
      <p:sp>
        <p:nvSpPr>
          <p:cNvPr id="19" name="Text 16"/>
          <p:cNvSpPr/>
          <p:nvPr/>
        </p:nvSpPr>
        <p:spPr>
          <a:xfrm>
            <a:off x="8019288" y="3813048"/>
            <a:ext cx="3867912" cy="274320"/>
          </a:xfrm>
          <a:prstGeom prst="rect">
            <a:avLst/>
          </a:prstGeom>
          <a:noFill/>
          <a:ln/>
        </p:spPr>
        <p:txBody>
          <a:bodyPr wrap="square" rtlCol="0" anchor="ctr"/>
          <a:lstStyle/>
          <a:p>
            <a:pPr indent="0" marL="0">
              <a:buNone/>
            </a:pPr>
            <a:r>
              <a:rPr lang="en-US" sz="1100" b="1" dirty="0">
                <a:solidFill>
                  <a:srgbClr val="1B3A6B"/>
                </a:solidFill>
                <a:latin typeface="Yu Mincho" pitchFamily="34" charset="0"/>
                <a:ea typeface="Yu Mincho" pitchFamily="34" charset="-122"/>
                <a:cs typeface="Yu Mincho" pitchFamily="34" charset="-120"/>
              </a:rPr>
              <a:t>プレイリストへ追加・保存</a:t>
            </a:r>
            <a:endParaRPr lang="en-US" sz="1100" dirty="0"/>
          </a:p>
        </p:txBody>
      </p:sp>
      <p:sp>
        <p:nvSpPr>
          <p:cNvPr id="20" name="Text 17"/>
          <p:cNvSpPr/>
          <p:nvPr/>
        </p:nvSpPr>
        <p:spPr>
          <a:xfrm>
            <a:off x="8019288" y="4105656"/>
            <a:ext cx="3867912" cy="969264"/>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個別追加または「全曲を一括追加」でプレイリストに登録。保存したプレイリストはログイン後も永続的に管理・編集できる。</a:t>
            </a:r>
            <a:endParaRPr lang="en-US" sz="950" dirty="0"/>
          </a:p>
        </p:txBody>
      </p:sp>
      <p:sp>
        <p:nvSpPr>
          <p:cNvPr id="21" name="Shape 18"/>
          <p:cNvSpPr/>
          <p:nvPr/>
        </p:nvSpPr>
        <p:spPr>
          <a:xfrm>
            <a:off x="7818120" y="5221224"/>
            <a:ext cx="4142232" cy="1408176"/>
          </a:xfrm>
          <a:prstGeom prst="rect">
            <a:avLst/>
          </a:prstGeom>
          <a:solidFill>
            <a:srgbClr val="EEF2FA"/>
          </a:solidFill>
          <a:ln w="6350">
            <a:solidFill>
              <a:srgbClr val="C5D0E6"/>
            </a:solidFill>
            <a:prstDash val="solid"/>
          </a:ln>
        </p:spPr>
      </p:sp>
      <p:sp>
        <p:nvSpPr>
          <p:cNvPr id="22" name="Shape 19"/>
          <p:cNvSpPr/>
          <p:nvPr/>
        </p:nvSpPr>
        <p:spPr>
          <a:xfrm>
            <a:off x="7818120" y="5221224"/>
            <a:ext cx="91440" cy="1408176"/>
          </a:xfrm>
          <a:prstGeom prst="rect">
            <a:avLst/>
          </a:prstGeom>
          <a:solidFill>
            <a:srgbClr val="1B3A6B"/>
          </a:solidFill>
          <a:ln/>
        </p:spPr>
      </p:sp>
      <p:sp>
        <p:nvSpPr>
          <p:cNvPr id="23" name="Text 20"/>
          <p:cNvSpPr/>
          <p:nvPr/>
        </p:nvSpPr>
        <p:spPr>
          <a:xfrm>
            <a:off x="8019288" y="5294376"/>
            <a:ext cx="3867912" cy="274320"/>
          </a:xfrm>
          <a:prstGeom prst="rect">
            <a:avLst/>
          </a:prstGeom>
          <a:noFill/>
          <a:ln/>
        </p:spPr>
        <p:txBody>
          <a:bodyPr wrap="square" rtlCol="0" anchor="ctr"/>
          <a:lstStyle/>
          <a:p>
            <a:pPr indent="0" marL="0">
              <a:buNone/>
            </a:pPr>
            <a:r>
              <a:rPr lang="en-US" sz="1100" b="1" dirty="0">
                <a:solidFill>
                  <a:srgbClr val="1B3A6B"/>
                </a:solidFill>
                <a:latin typeface="Yu Mincho" pitchFamily="34" charset="0"/>
                <a:ea typeface="Yu Mincho" pitchFamily="34" charset="-122"/>
                <a:cs typeface="Yu Mincho" pitchFamily="34" charset="-120"/>
              </a:rPr>
              <a:t>YouTube Music へ書き出し</a:t>
            </a:r>
            <a:endParaRPr lang="en-US" sz="1100" dirty="0"/>
          </a:p>
        </p:txBody>
      </p:sp>
      <p:sp>
        <p:nvSpPr>
          <p:cNvPr id="24" name="Text 21"/>
          <p:cNvSpPr/>
          <p:nvPr/>
        </p:nvSpPr>
        <p:spPr>
          <a:xfrm>
            <a:off x="8019288" y="5586984"/>
            <a:ext cx="3867912" cy="969264"/>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プレイリストを YouTube Music のライブラリへ自動書き出し。YouTube Data API でプレイリスト作成・曲追加まで一括処理。（※ OAuth 審査待ち・現在はテストユーザーのみ）</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73152"/>
          </a:xfrm>
          <a:prstGeom prst="rect">
            <a:avLst/>
          </a:prstGeom>
          <a:solidFill>
            <a:srgbClr val="1B3A6B"/>
          </a:solidFill>
          <a:ln/>
        </p:spPr>
      </p:sp>
      <p:sp>
        <p:nvSpPr>
          <p:cNvPr id="4" name="Text 2"/>
          <p:cNvSpPr/>
          <p:nvPr/>
        </p:nvSpPr>
        <p:spPr>
          <a:xfrm>
            <a:off x="10972800" y="109728"/>
            <a:ext cx="1005840" cy="201168"/>
          </a:xfrm>
          <a:prstGeom prst="rect">
            <a:avLst/>
          </a:prstGeom>
          <a:noFill/>
          <a:ln/>
        </p:spPr>
        <p:txBody>
          <a:bodyPr wrap="square" rtlCol="0" anchor="ctr"/>
          <a:lstStyle/>
          <a:p>
            <a:pPr algn="r" indent="0" marL="0">
              <a:buNone/>
            </a:pPr>
            <a:r>
              <a:rPr lang="en-US" sz="800" dirty="0">
                <a:solidFill>
                  <a:srgbClr val="888888"/>
                </a:solidFill>
                <a:latin typeface="Yu Gothic" pitchFamily="34" charset="0"/>
                <a:ea typeface="Yu Gothic" pitchFamily="34" charset="-122"/>
                <a:cs typeface="Yu Gothic" pitchFamily="34" charset="-120"/>
              </a:rPr>
              <a:t>7 / 11</a:t>
            </a:r>
            <a:endParaRPr lang="en-US" sz="800" dirty="0"/>
          </a:p>
        </p:txBody>
      </p:sp>
      <p:sp>
        <p:nvSpPr>
          <p:cNvPr id="5" name="Text 3"/>
          <p:cNvSpPr/>
          <p:nvPr/>
        </p:nvSpPr>
        <p:spPr>
          <a:xfrm>
            <a:off x="411480" y="137160"/>
            <a:ext cx="10424160" cy="457200"/>
          </a:xfrm>
          <a:prstGeom prst="rect">
            <a:avLst/>
          </a:prstGeom>
          <a:noFill/>
          <a:ln/>
        </p:spPr>
        <p:txBody>
          <a:bodyPr wrap="square" rtlCol="0" anchor="ctr"/>
          <a:lstStyle/>
          <a:p>
            <a:pPr algn="l" indent="0" marL="0">
              <a:buNone/>
            </a:pPr>
            <a:r>
              <a:rPr lang="en-US" sz="1600" b="1" dirty="0">
                <a:solidFill>
                  <a:srgbClr val="1B3A6B"/>
                </a:solidFill>
                <a:latin typeface="Yu Mincho" pitchFamily="34" charset="0"/>
                <a:ea typeface="Yu Mincho" pitchFamily="34" charset="-122"/>
                <a:cs typeface="Yu Mincho" pitchFamily="34" charset="-120"/>
              </a:rPr>
              <a:t>類似曲の詳細パネル ── BPM・キー・AI選曲理由を一画面で確認</a:t>
            </a:r>
            <a:endParaRPr lang="en-US" sz="1600" dirty="0"/>
          </a:p>
        </p:txBody>
      </p:sp>
      <p:sp>
        <p:nvSpPr>
          <p:cNvPr id="6" name="Shape 4"/>
          <p:cNvSpPr/>
          <p:nvPr/>
        </p:nvSpPr>
        <p:spPr>
          <a:xfrm>
            <a:off x="411480" y="658368"/>
            <a:ext cx="11365992" cy="0"/>
          </a:xfrm>
          <a:prstGeom prst="line">
            <a:avLst/>
          </a:prstGeom>
          <a:noFill/>
          <a:ln w="9525">
            <a:solidFill>
              <a:srgbClr val="4A6FA5"/>
            </a:solidFill>
            <a:prstDash val="solid"/>
          </a:ln>
        </p:spPr>
      </p:sp>
      <p:pic>
        <p:nvPicPr>
          <p:cNvPr id="7" name="Image 0" descr="preencoded.png">    </p:cNvPr>
          <p:cNvPicPr>
            <a:picLocks noChangeAspect="1"/>
          </p:cNvPicPr>
          <p:nvPr/>
        </p:nvPicPr>
        <p:blipFill>
          <a:blip r:embed="rId1"/>
          <a:stretch>
            <a:fillRect/>
          </a:stretch>
        </p:blipFill>
        <p:spPr>
          <a:xfrm>
            <a:off x="411480" y="777240"/>
            <a:ext cx="6858000" cy="4286250"/>
          </a:xfrm>
          <a:prstGeom prst="rect">
            <a:avLst/>
          </a:prstGeom>
        </p:spPr>
      </p:pic>
      <p:sp>
        <p:nvSpPr>
          <p:cNvPr id="8" name="Shape 5"/>
          <p:cNvSpPr/>
          <p:nvPr/>
        </p:nvSpPr>
        <p:spPr>
          <a:xfrm>
            <a:off x="411480" y="777240"/>
            <a:ext cx="6858000" cy="4286250"/>
          </a:xfrm>
          <a:prstGeom prst="rect">
            <a:avLst/>
          </a:prstGeom>
          <a:ln w="6350">
            <a:solidFill>
              <a:srgbClr val="C5D0E6"/>
            </a:solidFill>
            <a:prstDash val="solid"/>
          </a:ln>
        </p:spPr>
      </p:sp>
      <p:sp>
        <p:nvSpPr>
          <p:cNvPr id="9" name="Shape 6"/>
          <p:cNvSpPr/>
          <p:nvPr/>
        </p:nvSpPr>
        <p:spPr>
          <a:xfrm>
            <a:off x="7470648" y="777240"/>
            <a:ext cx="4517136" cy="1111910"/>
          </a:xfrm>
          <a:prstGeom prst="rect">
            <a:avLst/>
          </a:prstGeom>
          <a:solidFill>
            <a:srgbClr val="EEF2FA"/>
          </a:solidFill>
          <a:ln w="6350">
            <a:solidFill>
              <a:srgbClr val="C5D0E6"/>
            </a:solidFill>
            <a:prstDash val="solid"/>
          </a:ln>
        </p:spPr>
      </p:sp>
      <p:sp>
        <p:nvSpPr>
          <p:cNvPr id="10" name="Shape 7"/>
          <p:cNvSpPr/>
          <p:nvPr/>
        </p:nvSpPr>
        <p:spPr>
          <a:xfrm>
            <a:off x="7470648" y="777240"/>
            <a:ext cx="91440" cy="1111910"/>
          </a:xfrm>
          <a:prstGeom prst="rect">
            <a:avLst/>
          </a:prstGeom>
          <a:solidFill>
            <a:srgbClr val="1B3A6B"/>
          </a:solidFill>
          <a:ln/>
        </p:spPr>
      </p:sp>
      <p:sp>
        <p:nvSpPr>
          <p:cNvPr id="11" name="Text 8"/>
          <p:cNvSpPr/>
          <p:nvPr/>
        </p:nvSpPr>
        <p:spPr>
          <a:xfrm>
            <a:off x="7671816" y="850392"/>
            <a:ext cx="4242816" cy="274320"/>
          </a:xfrm>
          <a:prstGeom prst="rect">
            <a:avLst/>
          </a:prstGeom>
          <a:noFill/>
          <a:ln/>
        </p:spPr>
        <p:txBody>
          <a:bodyPr wrap="square" rtlCol="0" anchor="ctr"/>
          <a:lstStyle/>
          <a:p>
            <a:pPr indent="0" marL="0">
              <a:buNone/>
            </a:pPr>
            <a:r>
              <a:rPr lang="en-US" sz="1050" b="1" dirty="0">
                <a:solidFill>
                  <a:srgbClr val="1B3A6B"/>
                </a:solidFill>
                <a:latin typeface="Yu Mincho" pitchFamily="34" charset="0"/>
                <a:ea typeface="Yu Mincho" pitchFamily="34" charset="-122"/>
                <a:cs typeface="Yu Mincho" pitchFamily="34" charset="-120"/>
              </a:rPr>
              <a:t>トラック基本情報</a:t>
            </a:r>
            <a:endParaRPr lang="en-US" sz="1050" dirty="0"/>
          </a:p>
        </p:txBody>
      </p:sp>
      <p:sp>
        <p:nvSpPr>
          <p:cNvPr id="12" name="Text 9"/>
          <p:cNvSpPr/>
          <p:nvPr/>
        </p:nvSpPr>
        <p:spPr>
          <a:xfrm>
            <a:off x="7671816" y="1143000"/>
            <a:ext cx="4242816" cy="672998"/>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曲名・アーティスト・アルバム・リリース年を表示。ボーカルの有無を Gemini AI が判定しバッジで表示。</a:t>
            </a:r>
            <a:endParaRPr lang="en-US" sz="950" dirty="0"/>
          </a:p>
        </p:txBody>
      </p:sp>
      <p:sp>
        <p:nvSpPr>
          <p:cNvPr id="13" name="Shape 10"/>
          <p:cNvSpPr/>
          <p:nvPr/>
        </p:nvSpPr>
        <p:spPr>
          <a:xfrm>
            <a:off x="7470648" y="1962302"/>
            <a:ext cx="4517136" cy="1111910"/>
          </a:xfrm>
          <a:prstGeom prst="rect">
            <a:avLst/>
          </a:prstGeom>
          <a:solidFill>
            <a:srgbClr val="EEF2FA"/>
          </a:solidFill>
          <a:ln w="6350">
            <a:solidFill>
              <a:srgbClr val="C5D0E6"/>
            </a:solidFill>
            <a:prstDash val="solid"/>
          </a:ln>
        </p:spPr>
      </p:sp>
      <p:sp>
        <p:nvSpPr>
          <p:cNvPr id="14" name="Shape 11"/>
          <p:cNvSpPr/>
          <p:nvPr/>
        </p:nvSpPr>
        <p:spPr>
          <a:xfrm>
            <a:off x="7470648" y="1962302"/>
            <a:ext cx="91440" cy="1111910"/>
          </a:xfrm>
          <a:prstGeom prst="rect">
            <a:avLst/>
          </a:prstGeom>
          <a:solidFill>
            <a:srgbClr val="1B3A6B"/>
          </a:solidFill>
          <a:ln/>
        </p:spPr>
      </p:sp>
      <p:sp>
        <p:nvSpPr>
          <p:cNvPr id="15" name="Text 12"/>
          <p:cNvSpPr/>
          <p:nvPr/>
        </p:nvSpPr>
        <p:spPr>
          <a:xfrm>
            <a:off x="7671816" y="2035454"/>
            <a:ext cx="4242816" cy="274320"/>
          </a:xfrm>
          <a:prstGeom prst="rect">
            <a:avLst/>
          </a:prstGeom>
          <a:noFill/>
          <a:ln/>
        </p:spPr>
        <p:txBody>
          <a:bodyPr wrap="square" rtlCol="0" anchor="ctr"/>
          <a:lstStyle/>
          <a:p>
            <a:pPr indent="0" marL="0">
              <a:buNone/>
            </a:pPr>
            <a:r>
              <a:rPr lang="en-US" sz="1050" b="1" dirty="0">
                <a:solidFill>
                  <a:srgbClr val="1B3A6B"/>
                </a:solidFill>
                <a:latin typeface="Yu Mincho" pitchFamily="34" charset="0"/>
                <a:ea typeface="Yu Mincho" pitchFamily="34" charset="-122"/>
                <a:cs typeface="Yu Mincho" pitchFamily="34" charset="-120"/>
              </a:rPr>
              <a:t>BPM / KEY / ENERGY</a:t>
            </a:r>
            <a:endParaRPr lang="en-US" sz="1050" dirty="0"/>
          </a:p>
        </p:txBody>
      </p:sp>
      <p:sp>
        <p:nvSpPr>
          <p:cNvPr id="16" name="Text 13"/>
          <p:cNvSpPr/>
          <p:nvPr/>
        </p:nvSpPr>
        <p:spPr>
          <a:xfrm>
            <a:off x="7671816" y="2328062"/>
            <a:ext cx="4242816" cy="672998"/>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BPM 125 / KEY 7A（Camelot）＝ D minor / ENERGY 85%。Gemini が自動推定し、エネルギーはバーグラフで視覚化。</a:t>
            </a:r>
            <a:endParaRPr lang="en-US" sz="950" dirty="0"/>
          </a:p>
        </p:txBody>
      </p:sp>
      <p:sp>
        <p:nvSpPr>
          <p:cNvPr id="17" name="Shape 14"/>
          <p:cNvSpPr/>
          <p:nvPr/>
        </p:nvSpPr>
        <p:spPr>
          <a:xfrm>
            <a:off x="7470648" y="3147365"/>
            <a:ext cx="4517136" cy="1111910"/>
          </a:xfrm>
          <a:prstGeom prst="rect">
            <a:avLst/>
          </a:prstGeom>
          <a:solidFill>
            <a:srgbClr val="EEF2FA"/>
          </a:solidFill>
          <a:ln w="6350">
            <a:solidFill>
              <a:srgbClr val="C5D0E6"/>
            </a:solidFill>
            <a:prstDash val="solid"/>
          </a:ln>
        </p:spPr>
      </p:sp>
      <p:sp>
        <p:nvSpPr>
          <p:cNvPr id="18" name="Shape 15"/>
          <p:cNvSpPr/>
          <p:nvPr/>
        </p:nvSpPr>
        <p:spPr>
          <a:xfrm>
            <a:off x="7470648" y="3147365"/>
            <a:ext cx="91440" cy="1111910"/>
          </a:xfrm>
          <a:prstGeom prst="rect">
            <a:avLst/>
          </a:prstGeom>
          <a:solidFill>
            <a:srgbClr val="1B3A6B"/>
          </a:solidFill>
          <a:ln/>
        </p:spPr>
      </p:sp>
      <p:sp>
        <p:nvSpPr>
          <p:cNvPr id="19" name="Text 16"/>
          <p:cNvSpPr/>
          <p:nvPr/>
        </p:nvSpPr>
        <p:spPr>
          <a:xfrm>
            <a:off x="7671816" y="3220517"/>
            <a:ext cx="4242816" cy="274320"/>
          </a:xfrm>
          <a:prstGeom prst="rect">
            <a:avLst/>
          </a:prstGeom>
          <a:noFill/>
          <a:ln/>
        </p:spPr>
        <p:txBody>
          <a:bodyPr wrap="square" rtlCol="0" anchor="ctr"/>
          <a:lstStyle/>
          <a:p>
            <a:pPr indent="0" marL="0">
              <a:buNone/>
            </a:pPr>
            <a:r>
              <a:rPr lang="en-US" sz="1050" b="1" dirty="0">
                <a:solidFill>
                  <a:srgbClr val="1B3A6B"/>
                </a:solidFill>
                <a:latin typeface="Yu Mincho" pitchFamily="34" charset="0"/>
                <a:ea typeface="Yu Mincho" pitchFamily="34" charset="-122"/>
                <a:cs typeface="Yu Mincho" pitchFamily="34" charset="-120"/>
              </a:rPr>
              <a:t>ジャンルタグ</a:t>
            </a:r>
            <a:endParaRPr lang="en-US" sz="1050" dirty="0"/>
          </a:p>
        </p:txBody>
      </p:sp>
      <p:sp>
        <p:nvSpPr>
          <p:cNvPr id="20" name="Text 17"/>
          <p:cNvSpPr/>
          <p:nvPr/>
        </p:nvSpPr>
        <p:spPr>
          <a:xfrm>
            <a:off x="7671816" y="3513125"/>
            <a:ext cx="4242816" cy="672998"/>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「Disco」「Funk」「Soul」「Boogie」のジャンルタグ。Gemini が楽曲を分析して自動付与する。</a:t>
            </a:r>
            <a:endParaRPr lang="en-US" sz="950" dirty="0"/>
          </a:p>
        </p:txBody>
      </p:sp>
      <p:sp>
        <p:nvSpPr>
          <p:cNvPr id="21" name="Shape 18"/>
          <p:cNvSpPr/>
          <p:nvPr/>
        </p:nvSpPr>
        <p:spPr>
          <a:xfrm>
            <a:off x="7470648" y="4332427"/>
            <a:ext cx="4517136" cy="1111910"/>
          </a:xfrm>
          <a:prstGeom prst="rect">
            <a:avLst/>
          </a:prstGeom>
          <a:solidFill>
            <a:srgbClr val="EEF2FA"/>
          </a:solidFill>
          <a:ln w="6350">
            <a:solidFill>
              <a:srgbClr val="C5D0E6"/>
            </a:solidFill>
            <a:prstDash val="solid"/>
          </a:ln>
        </p:spPr>
      </p:sp>
      <p:sp>
        <p:nvSpPr>
          <p:cNvPr id="22" name="Shape 19"/>
          <p:cNvSpPr/>
          <p:nvPr/>
        </p:nvSpPr>
        <p:spPr>
          <a:xfrm>
            <a:off x="7470648" y="4332427"/>
            <a:ext cx="91440" cy="1111910"/>
          </a:xfrm>
          <a:prstGeom prst="rect">
            <a:avLst/>
          </a:prstGeom>
          <a:solidFill>
            <a:srgbClr val="1B3A6B"/>
          </a:solidFill>
          <a:ln/>
        </p:spPr>
      </p:sp>
      <p:sp>
        <p:nvSpPr>
          <p:cNvPr id="23" name="Text 20"/>
          <p:cNvSpPr/>
          <p:nvPr/>
        </p:nvSpPr>
        <p:spPr>
          <a:xfrm>
            <a:off x="7671816" y="4405579"/>
            <a:ext cx="4242816" cy="274320"/>
          </a:xfrm>
          <a:prstGeom prst="rect">
            <a:avLst/>
          </a:prstGeom>
          <a:noFill/>
          <a:ln/>
        </p:spPr>
        <p:txBody>
          <a:bodyPr wrap="square" rtlCol="0" anchor="ctr"/>
          <a:lstStyle/>
          <a:p>
            <a:pPr indent="0" marL="0">
              <a:buNone/>
            </a:pPr>
            <a:r>
              <a:rPr lang="en-US" sz="1050" b="1" dirty="0">
                <a:solidFill>
                  <a:srgbClr val="1B3A6B"/>
                </a:solidFill>
                <a:latin typeface="Yu Mincho" pitchFamily="34" charset="0"/>
                <a:ea typeface="Yu Mincho" pitchFamily="34" charset="-122"/>
                <a:cs typeface="Yu Mincho" pitchFamily="34" charset="-120"/>
              </a:rPr>
              <a:t>AI 選曲の理由</a:t>
            </a:r>
            <a:endParaRPr lang="en-US" sz="1050" dirty="0"/>
          </a:p>
        </p:txBody>
      </p:sp>
      <p:sp>
        <p:nvSpPr>
          <p:cNvPr id="24" name="Text 21"/>
          <p:cNvSpPr/>
          <p:nvPr/>
        </p:nvSpPr>
        <p:spPr>
          <a:xfrm>
            <a:off x="7671816" y="4698187"/>
            <a:ext cx="4242816" cy="672998"/>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「なぜこの曲が選ばれたか」を Gemini が日本語で説明。Seed 曲との音楽的共通点（ベースライン・グルーヴ・時代感など）を具体的に記述。</a:t>
            </a:r>
            <a:endParaRPr lang="en-US" sz="950" dirty="0"/>
          </a:p>
        </p:txBody>
      </p:sp>
      <p:sp>
        <p:nvSpPr>
          <p:cNvPr id="25" name="Shape 22"/>
          <p:cNvSpPr/>
          <p:nvPr/>
        </p:nvSpPr>
        <p:spPr>
          <a:xfrm>
            <a:off x="7470648" y="5517490"/>
            <a:ext cx="4517136" cy="1111910"/>
          </a:xfrm>
          <a:prstGeom prst="rect">
            <a:avLst/>
          </a:prstGeom>
          <a:solidFill>
            <a:srgbClr val="EEF2FA"/>
          </a:solidFill>
          <a:ln w="6350">
            <a:solidFill>
              <a:srgbClr val="C5D0E6"/>
            </a:solidFill>
            <a:prstDash val="solid"/>
          </a:ln>
        </p:spPr>
      </p:sp>
      <p:sp>
        <p:nvSpPr>
          <p:cNvPr id="26" name="Shape 23"/>
          <p:cNvSpPr/>
          <p:nvPr/>
        </p:nvSpPr>
        <p:spPr>
          <a:xfrm>
            <a:off x="7470648" y="5517490"/>
            <a:ext cx="91440" cy="1111910"/>
          </a:xfrm>
          <a:prstGeom prst="rect">
            <a:avLst/>
          </a:prstGeom>
          <a:solidFill>
            <a:srgbClr val="1B3A6B"/>
          </a:solidFill>
          <a:ln/>
        </p:spPr>
      </p:sp>
      <p:sp>
        <p:nvSpPr>
          <p:cNvPr id="27" name="Text 24"/>
          <p:cNvSpPr/>
          <p:nvPr/>
        </p:nvSpPr>
        <p:spPr>
          <a:xfrm>
            <a:off x="7671816" y="5590642"/>
            <a:ext cx="4242816" cy="274320"/>
          </a:xfrm>
          <a:prstGeom prst="rect">
            <a:avLst/>
          </a:prstGeom>
          <a:noFill/>
          <a:ln/>
        </p:spPr>
        <p:txBody>
          <a:bodyPr wrap="square" rtlCol="0" anchor="ctr"/>
          <a:lstStyle/>
          <a:p>
            <a:pPr indent="0" marL="0">
              <a:buNone/>
            </a:pPr>
            <a:r>
              <a:rPr lang="en-US" sz="1050" b="1" dirty="0">
                <a:solidFill>
                  <a:srgbClr val="1B3A6B"/>
                </a:solidFill>
                <a:latin typeface="Yu Mincho" pitchFamily="34" charset="0"/>
                <a:ea typeface="Yu Mincho" pitchFamily="34" charset="-122"/>
                <a:cs typeface="Yu Mincho" pitchFamily="34" charset="-120"/>
              </a:rPr>
              <a:t>再生数 &amp; YouTube</a:t>
            </a:r>
            <a:endParaRPr lang="en-US" sz="1050" dirty="0"/>
          </a:p>
        </p:txBody>
      </p:sp>
      <p:sp>
        <p:nvSpPr>
          <p:cNvPr id="28" name="Text 25"/>
          <p:cNvSpPr/>
          <p:nvPr/>
        </p:nvSpPr>
        <p:spPr>
          <a:xfrm>
            <a:off x="7671816" y="5883250"/>
            <a:ext cx="4242816" cy="672998"/>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Deezer から取得した再生数統計と「YouTube で見る」ボタン。クリックで公式 MV に遷移。</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73152"/>
          </a:xfrm>
          <a:prstGeom prst="rect">
            <a:avLst/>
          </a:prstGeom>
          <a:solidFill>
            <a:srgbClr val="1B3A6B"/>
          </a:solidFill>
          <a:ln/>
        </p:spPr>
      </p:sp>
      <p:sp>
        <p:nvSpPr>
          <p:cNvPr id="4" name="Text 2"/>
          <p:cNvSpPr/>
          <p:nvPr/>
        </p:nvSpPr>
        <p:spPr>
          <a:xfrm>
            <a:off x="10972800" y="109728"/>
            <a:ext cx="1005840" cy="201168"/>
          </a:xfrm>
          <a:prstGeom prst="rect">
            <a:avLst/>
          </a:prstGeom>
          <a:noFill/>
          <a:ln/>
        </p:spPr>
        <p:txBody>
          <a:bodyPr wrap="square" rtlCol="0" anchor="ctr"/>
          <a:lstStyle/>
          <a:p>
            <a:pPr algn="r" indent="0" marL="0">
              <a:buNone/>
            </a:pPr>
            <a:r>
              <a:rPr lang="en-US" sz="800" dirty="0">
                <a:solidFill>
                  <a:srgbClr val="888888"/>
                </a:solidFill>
                <a:latin typeface="Yu Gothic" pitchFamily="34" charset="0"/>
                <a:ea typeface="Yu Gothic" pitchFamily="34" charset="-122"/>
                <a:cs typeface="Yu Gothic" pitchFamily="34" charset="-120"/>
              </a:rPr>
              <a:t>8 / 11</a:t>
            </a:r>
            <a:endParaRPr lang="en-US" sz="800" dirty="0"/>
          </a:p>
        </p:txBody>
      </p:sp>
      <p:sp>
        <p:nvSpPr>
          <p:cNvPr id="5" name="Text 3"/>
          <p:cNvSpPr/>
          <p:nvPr/>
        </p:nvSpPr>
        <p:spPr>
          <a:xfrm>
            <a:off x="411480" y="137160"/>
            <a:ext cx="10424160" cy="457200"/>
          </a:xfrm>
          <a:prstGeom prst="rect">
            <a:avLst/>
          </a:prstGeom>
          <a:noFill/>
          <a:ln/>
        </p:spPr>
        <p:txBody>
          <a:bodyPr wrap="square" rtlCol="0" anchor="ctr"/>
          <a:lstStyle/>
          <a:p>
            <a:pPr algn="l" indent="0" marL="0">
              <a:buNone/>
            </a:pPr>
            <a:r>
              <a:rPr lang="en-US" sz="1600" b="1" dirty="0">
                <a:solidFill>
                  <a:srgbClr val="1B3A6B"/>
                </a:solidFill>
                <a:latin typeface="Yu Mincho" pitchFamily="34" charset="0"/>
                <a:ea typeface="Yu Mincho" pitchFamily="34" charset="-122"/>
                <a:cs typeface="Yu Mincho" pitchFamily="34" charset="-120"/>
              </a:rPr>
              <a:t>アプリケーションアーキテクチャ ── Next.js（Vercel）× 5 外部サービス</a:t>
            </a:r>
            <a:endParaRPr lang="en-US" sz="1600" dirty="0"/>
          </a:p>
        </p:txBody>
      </p:sp>
      <p:sp>
        <p:nvSpPr>
          <p:cNvPr id="6" name="Shape 4"/>
          <p:cNvSpPr/>
          <p:nvPr/>
        </p:nvSpPr>
        <p:spPr>
          <a:xfrm>
            <a:off x="411480" y="658368"/>
            <a:ext cx="11365992" cy="0"/>
          </a:xfrm>
          <a:prstGeom prst="line">
            <a:avLst/>
          </a:prstGeom>
          <a:noFill/>
          <a:ln w="9525">
            <a:solidFill>
              <a:srgbClr val="4A6FA5"/>
            </a:solidFill>
            <a:prstDash val="solid"/>
          </a:ln>
        </p:spPr>
      </p:sp>
      <p:sp>
        <p:nvSpPr>
          <p:cNvPr id="7" name="Shape 5"/>
          <p:cNvSpPr/>
          <p:nvPr/>
        </p:nvSpPr>
        <p:spPr>
          <a:xfrm>
            <a:off x="228600" y="2651760"/>
            <a:ext cx="1755648" cy="1463040"/>
          </a:xfrm>
          <a:prstGeom prst="rect">
            <a:avLst/>
          </a:prstGeom>
          <a:solidFill>
            <a:srgbClr val="DDE4F2"/>
          </a:solidFill>
          <a:ln w="10160">
            <a:solidFill>
              <a:srgbClr val="4A6FA5"/>
            </a:solidFill>
            <a:prstDash val="solid"/>
          </a:ln>
        </p:spPr>
      </p:sp>
      <p:sp>
        <p:nvSpPr>
          <p:cNvPr id="8" name="Text 6"/>
          <p:cNvSpPr/>
          <p:nvPr/>
        </p:nvSpPr>
        <p:spPr>
          <a:xfrm>
            <a:off x="228600" y="2834640"/>
            <a:ext cx="1755648" cy="292608"/>
          </a:xfrm>
          <a:prstGeom prst="rect">
            <a:avLst/>
          </a:prstGeom>
          <a:noFill/>
          <a:ln/>
        </p:spPr>
        <p:txBody>
          <a:bodyPr wrap="square" rtlCol="0" anchor="ctr"/>
          <a:lstStyle/>
          <a:p>
            <a:pPr algn="ctr" indent="0" marL="0">
              <a:buNone/>
            </a:pPr>
            <a:r>
              <a:rPr lang="en-US" sz="1200" b="1" dirty="0">
                <a:solidFill>
                  <a:srgbClr val="1B3A6B"/>
                </a:solidFill>
                <a:latin typeface="Yu Mincho" pitchFamily="34" charset="0"/>
                <a:ea typeface="Yu Mincho" pitchFamily="34" charset="-122"/>
                <a:cs typeface="Yu Mincho" pitchFamily="34" charset="-120"/>
              </a:rPr>
              <a:t>ユーザー</a:t>
            </a:r>
            <a:endParaRPr lang="en-US" sz="1200" dirty="0"/>
          </a:p>
        </p:txBody>
      </p:sp>
      <p:sp>
        <p:nvSpPr>
          <p:cNvPr id="9" name="Text 7"/>
          <p:cNvSpPr/>
          <p:nvPr/>
        </p:nvSpPr>
        <p:spPr>
          <a:xfrm>
            <a:off x="228600" y="3145536"/>
            <a:ext cx="1755648" cy="256032"/>
          </a:xfrm>
          <a:prstGeom prst="rect">
            <a:avLst/>
          </a:prstGeom>
          <a:noFill/>
          <a:ln/>
        </p:spPr>
        <p:txBody>
          <a:bodyPr wrap="square" rtlCol="0" anchor="ctr"/>
          <a:lstStyle/>
          <a:p>
            <a:pPr algn="ctr" indent="0" marL="0">
              <a:buNone/>
            </a:pPr>
            <a:r>
              <a:rPr lang="en-US" sz="1000" dirty="0">
                <a:solidFill>
                  <a:srgbClr val="444444"/>
                </a:solidFill>
                <a:latin typeface="Yu Gothic" pitchFamily="34" charset="0"/>
                <a:ea typeface="Yu Gothic" pitchFamily="34" charset="-122"/>
                <a:cs typeface="Yu Gothic" pitchFamily="34" charset="-120"/>
              </a:rPr>
              <a:t>ブラウザ</a:t>
            </a:r>
            <a:endParaRPr lang="en-US" sz="1000" dirty="0"/>
          </a:p>
        </p:txBody>
      </p:sp>
      <p:sp>
        <p:nvSpPr>
          <p:cNvPr id="10" name="Shape 8"/>
          <p:cNvSpPr/>
          <p:nvPr/>
        </p:nvSpPr>
        <p:spPr>
          <a:xfrm>
            <a:off x="1984248" y="3383280"/>
            <a:ext cx="228600" cy="0"/>
          </a:xfrm>
          <a:prstGeom prst="line">
            <a:avLst/>
          </a:prstGeom>
          <a:noFill/>
          <a:ln w="15240">
            <a:solidFill>
              <a:srgbClr val="4A6FA5"/>
            </a:solidFill>
            <a:prstDash val="solid"/>
          </a:ln>
        </p:spPr>
      </p:sp>
      <p:sp>
        <p:nvSpPr>
          <p:cNvPr id="11" name="Text 9"/>
          <p:cNvSpPr/>
          <p:nvPr/>
        </p:nvSpPr>
        <p:spPr>
          <a:xfrm>
            <a:off x="2103120" y="3264408"/>
            <a:ext cx="201168" cy="219456"/>
          </a:xfrm>
          <a:prstGeom prst="rect">
            <a:avLst/>
          </a:prstGeom>
          <a:noFill/>
          <a:ln/>
        </p:spPr>
        <p:txBody>
          <a:bodyPr wrap="square" rtlCol="0" anchor="ctr"/>
          <a:lstStyle/>
          <a:p>
            <a:pPr algn="ctr" indent="0" marL="0">
              <a:buNone/>
            </a:pPr>
            <a:r>
              <a:rPr lang="en-US" sz="900" dirty="0">
                <a:solidFill>
                  <a:srgbClr val="4A6FA5"/>
                </a:solidFill>
                <a:latin typeface="Yu Gothic" pitchFamily="34" charset="0"/>
                <a:ea typeface="Yu Gothic" pitchFamily="34" charset="-122"/>
                <a:cs typeface="Yu Gothic" pitchFamily="34" charset="-120"/>
              </a:rPr>
              <a:t>▶</a:t>
            </a:r>
            <a:endParaRPr lang="en-US" sz="900" dirty="0"/>
          </a:p>
        </p:txBody>
      </p:sp>
      <p:sp>
        <p:nvSpPr>
          <p:cNvPr id="12" name="Shape 10"/>
          <p:cNvSpPr/>
          <p:nvPr/>
        </p:nvSpPr>
        <p:spPr>
          <a:xfrm>
            <a:off x="2267712" y="804672"/>
            <a:ext cx="4590288" cy="5687568"/>
          </a:xfrm>
          <a:prstGeom prst="rect">
            <a:avLst/>
          </a:prstGeom>
          <a:solidFill>
            <a:srgbClr val="EEF2FA"/>
          </a:solidFill>
          <a:ln w="15240">
            <a:solidFill>
              <a:srgbClr val="2D5096"/>
            </a:solidFill>
            <a:prstDash val="solid"/>
          </a:ln>
        </p:spPr>
      </p:sp>
      <p:sp>
        <p:nvSpPr>
          <p:cNvPr id="13" name="Shape 11"/>
          <p:cNvSpPr/>
          <p:nvPr/>
        </p:nvSpPr>
        <p:spPr>
          <a:xfrm>
            <a:off x="2267712" y="804672"/>
            <a:ext cx="4590288" cy="384048"/>
          </a:xfrm>
          <a:prstGeom prst="rect">
            <a:avLst/>
          </a:prstGeom>
          <a:solidFill>
            <a:srgbClr val="1B3A6B"/>
          </a:solidFill>
          <a:ln/>
        </p:spPr>
      </p:sp>
      <p:sp>
        <p:nvSpPr>
          <p:cNvPr id="14" name="Text 12"/>
          <p:cNvSpPr/>
          <p:nvPr/>
        </p:nvSpPr>
        <p:spPr>
          <a:xfrm>
            <a:off x="2404872" y="850392"/>
            <a:ext cx="4315968" cy="292608"/>
          </a:xfrm>
          <a:prstGeom prst="rect">
            <a:avLst/>
          </a:prstGeom>
          <a:noFill/>
          <a:ln/>
        </p:spPr>
        <p:txBody>
          <a:bodyPr wrap="square" rtlCol="0" anchor="ctr"/>
          <a:lstStyle/>
          <a:p>
            <a:pPr algn="ctr" indent="0" marL="0">
              <a:buNone/>
            </a:pPr>
            <a:r>
              <a:rPr lang="en-US" sz="1300" b="1" dirty="0">
                <a:solidFill>
                  <a:srgbClr val="FFFFFF"/>
                </a:solidFill>
                <a:latin typeface="Yu Mincho" pitchFamily="34" charset="0"/>
                <a:ea typeface="Yu Mincho" pitchFamily="34" charset="-122"/>
                <a:cs typeface="Yu Mincho" pitchFamily="34" charset="-120"/>
              </a:rPr>
              <a:t>Next.js  /  Vercel</a:t>
            </a:r>
            <a:endParaRPr lang="en-US" sz="1300" dirty="0"/>
          </a:p>
        </p:txBody>
      </p:sp>
      <p:sp>
        <p:nvSpPr>
          <p:cNvPr id="15" name="Shape 13"/>
          <p:cNvSpPr/>
          <p:nvPr/>
        </p:nvSpPr>
        <p:spPr>
          <a:xfrm>
            <a:off x="2468880" y="1280160"/>
            <a:ext cx="4187952" cy="1572768"/>
          </a:xfrm>
          <a:prstGeom prst="rect">
            <a:avLst/>
          </a:prstGeom>
          <a:solidFill>
            <a:srgbClr val="FFFFFF"/>
          </a:solidFill>
          <a:ln w="7620">
            <a:solidFill>
              <a:srgbClr val="C5D0E6"/>
            </a:solidFill>
            <a:prstDash val="solid"/>
          </a:ln>
        </p:spPr>
      </p:sp>
      <p:sp>
        <p:nvSpPr>
          <p:cNvPr id="16" name="Shape 14"/>
          <p:cNvSpPr/>
          <p:nvPr/>
        </p:nvSpPr>
        <p:spPr>
          <a:xfrm>
            <a:off x="2468880" y="1280160"/>
            <a:ext cx="4187952" cy="54864"/>
          </a:xfrm>
          <a:prstGeom prst="rect">
            <a:avLst/>
          </a:prstGeom>
          <a:solidFill>
            <a:srgbClr val="2D5096"/>
          </a:solidFill>
          <a:ln/>
        </p:spPr>
      </p:sp>
      <p:sp>
        <p:nvSpPr>
          <p:cNvPr id="17" name="Text 15"/>
          <p:cNvSpPr/>
          <p:nvPr/>
        </p:nvSpPr>
        <p:spPr>
          <a:xfrm>
            <a:off x="2615184" y="1389888"/>
            <a:ext cx="3895344" cy="274320"/>
          </a:xfrm>
          <a:prstGeom prst="rect">
            <a:avLst/>
          </a:prstGeom>
          <a:noFill/>
          <a:ln/>
        </p:spPr>
        <p:txBody>
          <a:bodyPr wrap="square" rtlCol="0" anchor="ctr"/>
          <a:lstStyle/>
          <a:p>
            <a:pPr indent="0" marL="0">
              <a:buNone/>
            </a:pPr>
            <a:r>
              <a:rPr lang="en-US" sz="1100" b="1" dirty="0">
                <a:solidFill>
                  <a:srgbClr val="1B3A6B"/>
                </a:solidFill>
                <a:latin typeface="Yu Mincho" pitchFamily="34" charset="0"/>
                <a:ea typeface="Yu Mincho" pitchFamily="34" charset="-122"/>
                <a:cs typeface="Yu Mincho" pitchFamily="34" charset="-120"/>
              </a:rPr>
              <a:t>App Router  ──  UI 層</a:t>
            </a:r>
            <a:endParaRPr lang="en-US" sz="1100" dirty="0"/>
          </a:p>
        </p:txBody>
      </p:sp>
      <p:sp>
        <p:nvSpPr>
          <p:cNvPr id="18" name="Text 16"/>
          <p:cNvSpPr/>
          <p:nvPr/>
        </p:nvSpPr>
        <p:spPr>
          <a:xfrm>
            <a:off x="2615184" y="1737360"/>
            <a:ext cx="3895344" cy="1005840"/>
          </a:xfrm>
          <a:prstGeom prst="rect">
            <a:avLst/>
          </a:prstGeom>
          <a:noFill/>
          <a:ln/>
        </p:spPr>
        <p:txBody>
          <a:bodyPr wrap="square" rtlCol="0" anchor="ctr"/>
          <a:lstStyle/>
          <a:p>
            <a:pPr indent="0" marL="0">
              <a:buNone/>
            </a:pPr>
            <a:r>
              <a:rPr lang="en-US" sz="950" dirty="0">
                <a:solidFill>
                  <a:srgbClr val="444444"/>
                </a:solidFill>
                <a:latin typeface="Yu Gothic" pitchFamily="34" charset="0"/>
                <a:ea typeface="Yu Gothic" pitchFamily="34" charset="-122"/>
                <a:cs typeface="Yu Gothic" pitchFamily="34" charset="-120"/>
              </a:rPr>
              <a:t>· React Server / Client Components（画面描画・インタラクション）</a:t>
            </a:r>
            <a:endParaRPr lang="en-US" sz="950" dirty="0"/>
          </a:p>
          <a:p>
            <a:pPr indent="0" marL="0">
              <a:buNone/>
            </a:pPr>
            <a:r>
              <a:rPr lang="en-US" sz="950" dirty="0">
                <a:solidFill>
                  <a:srgbClr val="444444"/>
                </a:solidFill>
                <a:latin typeface="Yu Gothic" pitchFamily="34" charset="0"/>
                <a:ea typeface="Yu Gothic" pitchFamily="34" charset="-122"/>
                <a:cs typeface="Yu Gothic" pitchFamily="34" charset="-120"/>
              </a:rPr>
              <a:t>· ページルーティング / レイアウト管理</a:t>
            </a:r>
            <a:endParaRPr lang="en-US" sz="950" dirty="0"/>
          </a:p>
          <a:p>
            <a:pPr indent="0" marL="0">
              <a:buNone/>
            </a:pPr>
            <a:r>
              <a:rPr lang="en-US" sz="950" dirty="0">
                <a:solidFill>
                  <a:srgbClr val="444444"/>
                </a:solidFill>
                <a:latin typeface="Yu Gothic" pitchFamily="34" charset="0"/>
                <a:ea typeface="Yu Gothic" pitchFamily="34" charset="-122"/>
                <a:cs typeface="Yu Gothic" pitchFamily="34" charset="-120"/>
              </a:rPr>
              <a:t>· PWA 対応 / レスポンシブ UI</a:t>
            </a:r>
            <a:endParaRPr lang="en-US" sz="950" dirty="0"/>
          </a:p>
        </p:txBody>
      </p:sp>
      <p:sp>
        <p:nvSpPr>
          <p:cNvPr id="19" name="Shape 17"/>
          <p:cNvSpPr/>
          <p:nvPr/>
        </p:nvSpPr>
        <p:spPr>
          <a:xfrm>
            <a:off x="4562856" y="2889504"/>
            <a:ext cx="0" cy="164592"/>
          </a:xfrm>
          <a:prstGeom prst="line">
            <a:avLst/>
          </a:prstGeom>
          <a:noFill/>
          <a:ln w="12700">
            <a:solidFill>
              <a:srgbClr val="4A6FA5"/>
            </a:solidFill>
            <a:prstDash val="solid"/>
          </a:ln>
        </p:spPr>
      </p:sp>
      <p:sp>
        <p:nvSpPr>
          <p:cNvPr id="20" name="Text 18"/>
          <p:cNvSpPr/>
          <p:nvPr/>
        </p:nvSpPr>
        <p:spPr>
          <a:xfrm>
            <a:off x="4453128" y="2999232"/>
            <a:ext cx="219456" cy="182880"/>
          </a:xfrm>
          <a:prstGeom prst="rect">
            <a:avLst/>
          </a:prstGeom>
          <a:noFill/>
          <a:ln/>
        </p:spPr>
        <p:txBody>
          <a:bodyPr wrap="square" rtlCol="0" anchor="ctr"/>
          <a:lstStyle/>
          <a:p>
            <a:pPr algn="ctr" indent="0" marL="0">
              <a:buNone/>
            </a:pPr>
            <a:r>
              <a:rPr lang="en-US" sz="800" dirty="0">
                <a:solidFill>
                  <a:srgbClr val="4A6FA5"/>
                </a:solidFill>
                <a:latin typeface="Yu Gothic" pitchFamily="34" charset="0"/>
                <a:ea typeface="Yu Gothic" pitchFamily="34" charset="-122"/>
                <a:cs typeface="Yu Gothic" pitchFamily="34" charset="-120"/>
              </a:rPr>
              <a:t>▼</a:t>
            </a:r>
            <a:endParaRPr lang="en-US" sz="800" dirty="0"/>
          </a:p>
        </p:txBody>
      </p:sp>
      <p:sp>
        <p:nvSpPr>
          <p:cNvPr id="21" name="Shape 19"/>
          <p:cNvSpPr/>
          <p:nvPr/>
        </p:nvSpPr>
        <p:spPr>
          <a:xfrm>
            <a:off x="2468880" y="3255264"/>
            <a:ext cx="4187952" cy="3127248"/>
          </a:xfrm>
          <a:prstGeom prst="rect">
            <a:avLst/>
          </a:prstGeom>
          <a:solidFill>
            <a:srgbClr val="FFFFFF"/>
          </a:solidFill>
          <a:ln w="7620">
            <a:solidFill>
              <a:srgbClr val="C5D0E6"/>
            </a:solidFill>
            <a:prstDash val="solid"/>
          </a:ln>
        </p:spPr>
      </p:sp>
      <p:sp>
        <p:nvSpPr>
          <p:cNvPr id="22" name="Shape 20"/>
          <p:cNvSpPr/>
          <p:nvPr/>
        </p:nvSpPr>
        <p:spPr>
          <a:xfrm>
            <a:off x="2468880" y="3255264"/>
            <a:ext cx="4187952" cy="54864"/>
          </a:xfrm>
          <a:prstGeom prst="rect">
            <a:avLst/>
          </a:prstGeom>
          <a:solidFill>
            <a:srgbClr val="2D5096"/>
          </a:solidFill>
          <a:ln/>
        </p:spPr>
      </p:sp>
      <p:sp>
        <p:nvSpPr>
          <p:cNvPr id="23" name="Text 21"/>
          <p:cNvSpPr/>
          <p:nvPr/>
        </p:nvSpPr>
        <p:spPr>
          <a:xfrm>
            <a:off x="2615184" y="3364992"/>
            <a:ext cx="3895344" cy="274320"/>
          </a:xfrm>
          <a:prstGeom prst="rect">
            <a:avLst/>
          </a:prstGeom>
          <a:noFill/>
          <a:ln/>
        </p:spPr>
        <p:txBody>
          <a:bodyPr wrap="square" rtlCol="0" anchor="ctr"/>
          <a:lstStyle/>
          <a:p>
            <a:pPr indent="0" marL="0">
              <a:buNone/>
            </a:pPr>
            <a:r>
              <a:rPr lang="en-US" sz="1100" b="1" dirty="0">
                <a:solidFill>
                  <a:srgbClr val="1B3A6B"/>
                </a:solidFill>
                <a:latin typeface="Yu Mincho" pitchFamily="34" charset="0"/>
                <a:ea typeface="Yu Mincho" pitchFamily="34" charset="-122"/>
                <a:cs typeface="Yu Mincho" pitchFamily="34" charset="-120"/>
              </a:rPr>
              <a:t>API Routes  ──  サーバー層</a:t>
            </a:r>
            <a:endParaRPr lang="en-US" sz="1100" dirty="0"/>
          </a:p>
        </p:txBody>
      </p:sp>
      <p:sp>
        <p:nvSpPr>
          <p:cNvPr id="24" name="Shape 22"/>
          <p:cNvSpPr/>
          <p:nvPr/>
        </p:nvSpPr>
        <p:spPr>
          <a:xfrm>
            <a:off x="2615184" y="3730752"/>
            <a:ext cx="1115568" cy="219456"/>
          </a:xfrm>
          <a:prstGeom prst="rect">
            <a:avLst/>
          </a:prstGeom>
          <a:solidFill>
            <a:srgbClr val="2D5096"/>
          </a:solidFill>
          <a:ln/>
        </p:spPr>
      </p:sp>
      <p:sp>
        <p:nvSpPr>
          <p:cNvPr id="25" name="Text 23"/>
          <p:cNvSpPr/>
          <p:nvPr/>
        </p:nvSpPr>
        <p:spPr>
          <a:xfrm>
            <a:off x="2615184" y="3730752"/>
            <a:ext cx="1115568" cy="219456"/>
          </a:xfrm>
          <a:prstGeom prst="rect">
            <a:avLst/>
          </a:prstGeom>
          <a:noFill/>
          <a:ln/>
        </p:spPr>
        <p:txBody>
          <a:bodyPr wrap="square"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Gemini AI</a:t>
            </a:r>
            <a:endParaRPr lang="en-US" sz="850" dirty="0"/>
          </a:p>
        </p:txBody>
      </p:sp>
      <p:sp>
        <p:nvSpPr>
          <p:cNvPr id="26" name="Text 24"/>
          <p:cNvSpPr/>
          <p:nvPr/>
        </p:nvSpPr>
        <p:spPr>
          <a:xfrm>
            <a:off x="3803904" y="3730752"/>
            <a:ext cx="2852928" cy="219456"/>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  類似曲探索・BPM / キー解析・絞り込みフィルター</a:t>
            </a:r>
            <a:endParaRPr lang="en-US" sz="900" dirty="0"/>
          </a:p>
        </p:txBody>
      </p:sp>
      <p:sp>
        <p:nvSpPr>
          <p:cNvPr id="27" name="Shape 25"/>
          <p:cNvSpPr/>
          <p:nvPr/>
        </p:nvSpPr>
        <p:spPr>
          <a:xfrm>
            <a:off x="2615184" y="4297680"/>
            <a:ext cx="1115568" cy="219456"/>
          </a:xfrm>
          <a:prstGeom prst="rect">
            <a:avLst/>
          </a:prstGeom>
          <a:solidFill>
            <a:srgbClr val="2D5096"/>
          </a:solidFill>
          <a:ln/>
        </p:spPr>
      </p:sp>
      <p:sp>
        <p:nvSpPr>
          <p:cNvPr id="28" name="Text 26"/>
          <p:cNvSpPr/>
          <p:nvPr/>
        </p:nvSpPr>
        <p:spPr>
          <a:xfrm>
            <a:off x="2615184" y="4297680"/>
            <a:ext cx="1115568" cy="219456"/>
          </a:xfrm>
          <a:prstGeom prst="rect">
            <a:avLst/>
          </a:prstGeom>
          <a:noFill/>
          <a:ln/>
        </p:spPr>
        <p:txBody>
          <a:bodyPr wrap="square"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iTunes API</a:t>
            </a:r>
            <a:endParaRPr lang="en-US" sz="850" dirty="0"/>
          </a:p>
        </p:txBody>
      </p:sp>
      <p:sp>
        <p:nvSpPr>
          <p:cNvPr id="29" name="Text 27"/>
          <p:cNvSpPr/>
          <p:nvPr/>
        </p:nvSpPr>
        <p:spPr>
          <a:xfrm>
            <a:off x="3803904" y="4297680"/>
            <a:ext cx="2852928" cy="219456"/>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  楽曲検索・アルバムアート取得</a:t>
            </a:r>
            <a:endParaRPr lang="en-US" sz="900" dirty="0"/>
          </a:p>
        </p:txBody>
      </p:sp>
      <p:sp>
        <p:nvSpPr>
          <p:cNvPr id="30" name="Shape 28"/>
          <p:cNvSpPr/>
          <p:nvPr/>
        </p:nvSpPr>
        <p:spPr>
          <a:xfrm>
            <a:off x="2615184" y="4864608"/>
            <a:ext cx="1115568" cy="219456"/>
          </a:xfrm>
          <a:prstGeom prst="rect">
            <a:avLst/>
          </a:prstGeom>
          <a:solidFill>
            <a:srgbClr val="2D5096"/>
          </a:solidFill>
          <a:ln/>
        </p:spPr>
      </p:sp>
      <p:sp>
        <p:nvSpPr>
          <p:cNvPr id="31" name="Text 29"/>
          <p:cNvSpPr/>
          <p:nvPr/>
        </p:nvSpPr>
        <p:spPr>
          <a:xfrm>
            <a:off x="2615184" y="4864608"/>
            <a:ext cx="1115568" cy="219456"/>
          </a:xfrm>
          <a:prstGeom prst="rect">
            <a:avLst/>
          </a:prstGeom>
          <a:noFill/>
          <a:ln/>
        </p:spPr>
        <p:txBody>
          <a:bodyPr wrap="square"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Deezer API</a:t>
            </a:r>
            <a:endParaRPr lang="en-US" sz="850" dirty="0"/>
          </a:p>
        </p:txBody>
      </p:sp>
      <p:sp>
        <p:nvSpPr>
          <p:cNvPr id="32" name="Text 30"/>
          <p:cNvSpPr/>
          <p:nvPr/>
        </p:nvSpPr>
        <p:spPr>
          <a:xfrm>
            <a:off x="3803904" y="4864608"/>
            <a:ext cx="2852928" cy="219456"/>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  BPM 補完・プレビュー URL フォールバック</a:t>
            </a:r>
            <a:endParaRPr lang="en-US" sz="900" dirty="0"/>
          </a:p>
        </p:txBody>
      </p:sp>
      <p:sp>
        <p:nvSpPr>
          <p:cNvPr id="33" name="Shape 31"/>
          <p:cNvSpPr/>
          <p:nvPr/>
        </p:nvSpPr>
        <p:spPr>
          <a:xfrm>
            <a:off x="2615184" y="5431536"/>
            <a:ext cx="1115568" cy="219456"/>
          </a:xfrm>
          <a:prstGeom prst="rect">
            <a:avLst/>
          </a:prstGeom>
          <a:solidFill>
            <a:srgbClr val="2D5096"/>
          </a:solidFill>
          <a:ln/>
        </p:spPr>
      </p:sp>
      <p:sp>
        <p:nvSpPr>
          <p:cNvPr id="34" name="Text 32"/>
          <p:cNvSpPr/>
          <p:nvPr/>
        </p:nvSpPr>
        <p:spPr>
          <a:xfrm>
            <a:off x="2615184" y="5431536"/>
            <a:ext cx="1115568" cy="219456"/>
          </a:xfrm>
          <a:prstGeom prst="rect">
            <a:avLst/>
          </a:prstGeom>
          <a:noFill/>
          <a:ln/>
        </p:spPr>
        <p:txBody>
          <a:bodyPr wrap="square"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YouTube API</a:t>
            </a:r>
            <a:endParaRPr lang="en-US" sz="850" dirty="0"/>
          </a:p>
        </p:txBody>
      </p:sp>
      <p:sp>
        <p:nvSpPr>
          <p:cNvPr id="35" name="Text 33"/>
          <p:cNvSpPr/>
          <p:nvPr/>
        </p:nvSpPr>
        <p:spPr>
          <a:xfrm>
            <a:off x="3803904" y="5431536"/>
            <a:ext cx="2852928" cy="219456"/>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  再生数取得・プレイリスト書き出し</a:t>
            </a:r>
            <a:endParaRPr lang="en-US" sz="900" dirty="0"/>
          </a:p>
        </p:txBody>
      </p:sp>
      <p:sp>
        <p:nvSpPr>
          <p:cNvPr id="36" name="Shape 34"/>
          <p:cNvSpPr/>
          <p:nvPr/>
        </p:nvSpPr>
        <p:spPr>
          <a:xfrm>
            <a:off x="2615184" y="5998464"/>
            <a:ext cx="1115568" cy="219456"/>
          </a:xfrm>
          <a:prstGeom prst="rect">
            <a:avLst/>
          </a:prstGeom>
          <a:solidFill>
            <a:srgbClr val="2D5096"/>
          </a:solidFill>
          <a:ln/>
        </p:spPr>
      </p:sp>
      <p:sp>
        <p:nvSpPr>
          <p:cNvPr id="37" name="Text 35"/>
          <p:cNvSpPr/>
          <p:nvPr/>
        </p:nvSpPr>
        <p:spPr>
          <a:xfrm>
            <a:off x="2615184" y="5998464"/>
            <a:ext cx="1115568" cy="219456"/>
          </a:xfrm>
          <a:prstGeom prst="rect">
            <a:avLst/>
          </a:prstGeom>
          <a:noFill/>
          <a:ln/>
        </p:spPr>
        <p:txBody>
          <a:bodyPr wrap="square"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Supabase</a:t>
            </a:r>
            <a:endParaRPr lang="en-US" sz="850" dirty="0"/>
          </a:p>
        </p:txBody>
      </p:sp>
      <p:sp>
        <p:nvSpPr>
          <p:cNvPr id="38" name="Text 36"/>
          <p:cNvSpPr/>
          <p:nvPr/>
        </p:nvSpPr>
        <p:spPr>
          <a:xfrm>
            <a:off x="3803904" y="5998464"/>
            <a:ext cx="2852928" cy="219456"/>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  プレイリスト保存・読み込み・ユーザー認証</a:t>
            </a:r>
            <a:endParaRPr lang="en-US" sz="900" dirty="0"/>
          </a:p>
        </p:txBody>
      </p:sp>
      <p:sp>
        <p:nvSpPr>
          <p:cNvPr id="39" name="Shape 37"/>
          <p:cNvSpPr/>
          <p:nvPr/>
        </p:nvSpPr>
        <p:spPr>
          <a:xfrm>
            <a:off x="6903720" y="3648456"/>
            <a:ext cx="201168" cy="0"/>
          </a:xfrm>
          <a:prstGeom prst="line">
            <a:avLst/>
          </a:prstGeom>
          <a:noFill/>
          <a:ln w="15240">
            <a:solidFill>
              <a:srgbClr val="4A6FA5"/>
            </a:solidFill>
            <a:prstDash val="solid"/>
          </a:ln>
        </p:spPr>
      </p:sp>
      <p:sp>
        <p:nvSpPr>
          <p:cNvPr id="40" name="Text 38"/>
          <p:cNvSpPr/>
          <p:nvPr/>
        </p:nvSpPr>
        <p:spPr>
          <a:xfrm>
            <a:off x="7004304" y="3538728"/>
            <a:ext cx="201168" cy="219456"/>
          </a:xfrm>
          <a:prstGeom prst="rect">
            <a:avLst/>
          </a:prstGeom>
          <a:noFill/>
          <a:ln/>
        </p:spPr>
        <p:txBody>
          <a:bodyPr wrap="square" rtlCol="0" anchor="ctr"/>
          <a:lstStyle/>
          <a:p>
            <a:pPr algn="ctr" indent="0" marL="0">
              <a:buNone/>
            </a:pPr>
            <a:r>
              <a:rPr lang="en-US" sz="900" dirty="0">
                <a:solidFill>
                  <a:srgbClr val="4A6FA5"/>
                </a:solidFill>
                <a:latin typeface="Yu Gothic" pitchFamily="34" charset="0"/>
                <a:ea typeface="Yu Gothic" pitchFamily="34" charset="-122"/>
                <a:cs typeface="Yu Gothic" pitchFamily="34" charset="-120"/>
              </a:rPr>
              <a:t>▶</a:t>
            </a:r>
            <a:endParaRPr lang="en-US" sz="900" dirty="0"/>
          </a:p>
        </p:txBody>
      </p:sp>
      <p:sp>
        <p:nvSpPr>
          <p:cNvPr id="41" name="Shape 39"/>
          <p:cNvSpPr/>
          <p:nvPr/>
        </p:nvSpPr>
        <p:spPr>
          <a:xfrm>
            <a:off x="7260336" y="804672"/>
            <a:ext cx="4727448" cy="1005840"/>
          </a:xfrm>
          <a:prstGeom prst="rect">
            <a:avLst/>
          </a:prstGeom>
          <a:solidFill>
            <a:srgbClr val="EEF2FA"/>
          </a:solidFill>
          <a:ln w="6350">
            <a:solidFill>
              <a:srgbClr val="C5D0E6"/>
            </a:solidFill>
            <a:prstDash val="solid"/>
          </a:ln>
        </p:spPr>
      </p:sp>
      <p:sp>
        <p:nvSpPr>
          <p:cNvPr id="42" name="Shape 40"/>
          <p:cNvSpPr/>
          <p:nvPr/>
        </p:nvSpPr>
        <p:spPr>
          <a:xfrm>
            <a:off x="7260336" y="804672"/>
            <a:ext cx="91440" cy="1005840"/>
          </a:xfrm>
          <a:prstGeom prst="rect">
            <a:avLst/>
          </a:prstGeom>
          <a:solidFill>
            <a:srgbClr val="2D5096"/>
          </a:solidFill>
          <a:ln/>
        </p:spPr>
      </p:sp>
      <p:sp>
        <p:nvSpPr>
          <p:cNvPr id="43" name="Text 41"/>
          <p:cNvSpPr/>
          <p:nvPr/>
        </p:nvSpPr>
        <p:spPr>
          <a:xfrm>
            <a:off x="7461504" y="932688"/>
            <a:ext cx="4453128" cy="256032"/>
          </a:xfrm>
          <a:prstGeom prst="rect">
            <a:avLst/>
          </a:prstGeom>
          <a:noFill/>
          <a:ln/>
        </p:spPr>
        <p:txBody>
          <a:bodyPr wrap="square" rtlCol="0" anchor="ctr"/>
          <a:lstStyle/>
          <a:p>
            <a:pPr indent="0" marL="0">
              <a:buNone/>
            </a:pPr>
            <a:r>
              <a:rPr lang="en-US" sz="1100" b="1" dirty="0">
                <a:solidFill>
                  <a:srgbClr val="1B3A6B"/>
                </a:solidFill>
                <a:latin typeface="Yu Mincho" pitchFamily="34" charset="0"/>
                <a:ea typeface="Yu Mincho" pitchFamily="34" charset="-122"/>
                <a:cs typeface="Yu Mincho" pitchFamily="34" charset="-120"/>
              </a:rPr>
              <a:t>Google Gemini API</a:t>
            </a:r>
            <a:endParaRPr lang="en-US" sz="1100" dirty="0"/>
          </a:p>
        </p:txBody>
      </p:sp>
      <p:sp>
        <p:nvSpPr>
          <p:cNvPr id="44" name="Text 42"/>
          <p:cNvSpPr/>
          <p:nvPr/>
        </p:nvSpPr>
        <p:spPr>
          <a:xfrm>
            <a:off x="7461504" y="1207008"/>
            <a:ext cx="4453128" cy="219456"/>
          </a:xfrm>
          <a:prstGeom prst="rect">
            <a:avLst/>
          </a:prstGeom>
          <a:noFill/>
          <a:ln/>
        </p:spPr>
        <p:txBody>
          <a:bodyPr wrap="square" rtlCol="0" anchor="ctr"/>
          <a:lstStyle/>
          <a:p>
            <a:pPr indent="0" marL="0">
              <a:buNone/>
            </a:pPr>
            <a:r>
              <a:rPr lang="en-US" sz="950" b="1" dirty="0">
                <a:solidFill>
                  <a:srgbClr val="2D5096"/>
                </a:solidFill>
                <a:latin typeface="Yu Gothic" pitchFamily="34" charset="0"/>
                <a:ea typeface="Yu Gothic" pitchFamily="34" charset="-122"/>
                <a:cs typeface="Yu Gothic" pitchFamily="34" charset="-120"/>
              </a:rPr>
              <a:t>AI エンジン</a:t>
            </a:r>
            <a:endParaRPr lang="en-US" sz="950" dirty="0"/>
          </a:p>
        </p:txBody>
      </p:sp>
      <p:sp>
        <p:nvSpPr>
          <p:cNvPr id="45" name="Text 43"/>
          <p:cNvSpPr/>
          <p:nvPr/>
        </p:nvSpPr>
        <p:spPr>
          <a:xfrm>
            <a:off x="7461504" y="1444752"/>
            <a:ext cx="4453128" cy="256032"/>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類似曲推薦・BPM / キー解析</a:t>
            </a:r>
            <a:endParaRPr lang="en-US" sz="900" dirty="0"/>
          </a:p>
        </p:txBody>
      </p:sp>
      <p:sp>
        <p:nvSpPr>
          <p:cNvPr id="46" name="Shape 44"/>
          <p:cNvSpPr/>
          <p:nvPr/>
        </p:nvSpPr>
        <p:spPr>
          <a:xfrm>
            <a:off x="7260336" y="1975104"/>
            <a:ext cx="4727448" cy="1005840"/>
          </a:xfrm>
          <a:prstGeom prst="rect">
            <a:avLst/>
          </a:prstGeom>
          <a:solidFill>
            <a:srgbClr val="EEF2FA"/>
          </a:solidFill>
          <a:ln w="6350">
            <a:solidFill>
              <a:srgbClr val="C5D0E6"/>
            </a:solidFill>
            <a:prstDash val="solid"/>
          </a:ln>
        </p:spPr>
      </p:sp>
      <p:sp>
        <p:nvSpPr>
          <p:cNvPr id="47" name="Shape 45"/>
          <p:cNvSpPr/>
          <p:nvPr/>
        </p:nvSpPr>
        <p:spPr>
          <a:xfrm>
            <a:off x="7260336" y="1975104"/>
            <a:ext cx="91440" cy="1005840"/>
          </a:xfrm>
          <a:prstGeom prst="rect">
            <a:avLst/>
          </a:prstGeom>
          <a:solidFill>
            <a:srgbClr val="2D5096"/>
          </a:solidFill>
          <a:ln/>
        </p:spPr>
      </p:sp>
      <p:sp>
        <p:nvSpPr>
          <p:cNvPr id="48" name="Text 46"/>
          <p:cNvSpPr/>
          <p:nvPr/>
        </p:nvSpPr>
        <p:spPr>
          <a:xfrm>
            <a:off x="7461504" y="2103120"/>
            <a:ext cx="4453128" cy="256032"/>
          </a:xfrm>
          <a:prstGeom prst="rect">
            <a:avLst/>
          </a:prstGeom>
          <a:noFill/>
          <a:ln/>
        </p:spPr>
        <p:txBody>
          <a:bodyPr wrap="square" rtlCol="0" anchor="ctr"/>
          <a:lstStyle/>
          <a:p>
            <a:pPr indent="0" marL="0">
              <a:buNone/>
            </a:pPr>
            <a:r>
              <a:rPr lang="en-US" sz="1100" b="1" dirty="0">
                <a:solidFill>
                  <a:srgbClr val="1B3A6B"/>
                </a:solidFill>
                <a:latin typeface="Yu Mincho" pitchFamily="34" charset="0"/>
                <a:ea typeface="Yu Mincho" pitchFamily="34" charset="-122"/>
                <a:cs typeface="Yu Mincho" pitchFamily="34" charset="-120"/>
              </a:rPr>
              <a:t>iTunes Search API</a:t>
            </a:r>
            <a:endParaRPr lang="en-US" sz="1100" dirty="0"/>
          </a:p>
        </p:txBody>
      </p:sp>
      <p:sp>
        <p:nvSpPr>
          <p:cNvPr id="49" name="Text 47"/>
          <p:cNvSpPr/>
          <p:nvPr/>
        </p:nvSpPr>
        <p:spPr>
          <a:xfrm>
            <a:off x="7461504" y="2377440"/>
            <a:ext cx="4453128" cy="219456"/>
          </a:xfrm>
          <a:prstGeom prst="rect">
            <a:avLst/>
          </a:prstGeom>
          <a:noFill/>
          <a:ln/>
        </p:spPr>
        <p:txBody>
          <a:bodyPr wrap="square" rtlCol="0" anchor="ctr"/>
          <a:lstStyle/>
          <a:p>
            <a:pPr indent="0" marL="0">
              <a:buNone/>
            </a:pPr>
            <a:r>
              <a:rPr lang="en-US" sz="950" b="1" dirty="0">
                <a:solidFill>
                  <a:srgbClr val="2D5096"/>
                </a:solidFill>
                <a:latin typeface="Yu Gothic" pitchFamily="34" charset="0"/>
                <a:ea typeface="Yu Gothic" pitchFamily="34" charset="-122"/>
                <a:cs typeface="Yu Gothic" pitchFamily="34" charset="-120"/>
              </a:rPr>
              <a:t>楽曲検索・メタデータ</a:t>
            </a:r>
            <a:endParaRPr lang="en-US" sz="950" dirty="0"/>
          </a:p>
        </p:txBody>
      </p:sp>
      <p:sp>
        <p:nvSpPr>
          <p:cNvPr id="50" name="Text 48"/>
          <p:cNvSpPr/>
          <p:nvPr/>
        </p:nvSpPr>
        <p:spPr>
          <a:xfrm>
            <a:off x="7461504" y="2615184"/>
            <a:ext cx="4453128" cy="256032"/>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メイン検索・アルバムアート取得</a:t>
            </a:r>
            <a:endParaRPr lang="en-US" sz="900" dirty="0"/>
          </a:p>
        </p:txBody>
      </p:sp>
      <p:sp>
        <p:nvSpPr>
          <p:cNvPr id="51" name="Shape 49"/>
          <p:cNvSpPr/>
          <p:nvPr/>
        </p:nvSpPr>
        <p:spPr>
          <a:xfrm>
            <a:off x="7260336" y="3145536"/>
            <a:ext cx="4727448" cy="1005840"/>
          </a:xfrm>
          <a:prstGeom prst="rect">
            <a:avLst/>
          </a:prstGeom>
          <a:solidFill>
            <a:srgbClr val="EEF2FA"/>
          </a:solidFill>
          <a:ln w="6350">
            <a:solidFill>
              <a:srgbClr val="C5D0E6"/>
            </a:solidFill>
            <a:prstDash val="solid"/>
          </a:ln>
        </p:spPr>
      </p:sp>
      <p:sp>
        <p:nvSpPr>
          <p:cNvPr id="52" name="Shape 50"/>
          <p:cNvSpPr/>
          <p:nvPr/>
        </p:nvSpPr>
        <p:spPr>
          <a:xfrm>
            <a:off x="7260336" y="3145536"/>
            <a:ext cx="91440" cy="1005840"/>
          </a:xfrm>
          <a:prstGeom prst="rect">
            <a:avLst/>
          </a:prstGeom>
          <a:solidFill>
            <a:srgbClr val="2D5096"/>
          </a:solidFill>
          <a:ln/>
        </p:spPr>
      </p:sp>
      <p:sp>
        <p:nvSpPr>
          <p:cNvPr id="53" name="Text 51"/>
          <p:cNvSpPr/>
          <p:nvPr/>
        </p:nvSpPr>
        <p:spPr>
          <a:xfrm>
            <a:off x="7461504" y="3273552"/>
            <a:ext cx="4453128" cy="256032"/>
          </a:xfrm>
          <a:prstGeom prst="rect">
            <a:avLst/>
          </a:prstGeom>
          <a:noFill/>
          <a:ln/>
        </p:spPr>
        <p:txBody>
          <a:bodyPr wrap="square" rtlCol="0" anchor="ctr"/>
          <a:lstStyle/>
          <a:p>
            <a:pPr indent="0" marL="0">
              <a:buNone/>
            </a:pPr>
            <a:r>
              <a:rPr lang="en-US" sz="1100" b="1" dirty="0">
                <a:solidFill>
                  <a:srgbClr val="1B3A6B"/>
                </a:solidFill>
                <a:latin typeface="Yu Mincho" pitchFamily="34" charset="0"/>
                <a:ea typeface="Yu Mincho" pitchFamily="34" charset="-122"/>
                <a:cs typeface="Yu Mincho" pitchFamily="34" charset="-120"/>
              </a:rPr>
              <a:t>Deezer API</a:t>
            </a:r>
            <a:endParaRPr lang="en-US" sz="1100" dirty="0"/>
          </a:p>
        </p:txBody>
      </p:sp>
      <p:sp>
        <p:nvSpPr>
          <p:cNvPr id="54" name="Text 52"/>
          <p:cNvSpPr/>
          <p:nvPr/>
        </p:nvSpPr>
        <p:spPr>
          <a:xfrm>
            <a:off x="7461504" y="3547872"/>
            <a:ext cx="4453128" cy="219456"/>
          </a:xfrm>
          <a:prstGeom prst="rect">
            <a:avLst/>
          </a:prstGeom>
          <a:noFill/>
          <a:ln/>
        </p:spPr>
        <p:txBody>
          <a:bodyPr wrap="square" rtlCol="0" anchor="ctr"/>
          <a:lstStyle/>
          <a:p>
            <a:pPr indent="0" marL="0">
              <a:buNone/>
            </a:pPr>
            <a:r>
              <a:rPr lang="en-US" sz="950" b="1" dirty="0">
                <a:solidFill>
                  <a:srgbClr val="2D5096"/>
                </a:solidFill>
                <a:latin typeface="Yu Gothic" pitchFamily="34" charset="0"/>
                <a:ea typeface="Yu Gothic" pitchFamily="34" charset="-122"/>
                <a:cs typeface="Yu Gothic" pitchFamily="34" charset="-120"/>
              </a:rPr>
              <a:t>BPM / プレビュー</a:t>
            </a:r>
            <a:endParaRPr lang="en-US" sz="950" dirty="0"/>
          </a:p>
        </p:txBody>
      </p:sp>
      <p:sp>
        <p:nvSpPr>
          <p:cNvPr id="55" name="Text 53"/>
          <p:cNvSpPr/>
          <p:nvPr/>
        </p:nvSpPr>
        <p:spPr>
          <a:xfrm>
            <a:off x="7461504" y="3785616"/>
            <a:ext cx="4453128" cy="256032"/>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BPM 補完・プレビューフォールバック</a:t>
            </a:r>
            <a:endParaRPr lang="en-US" sz="900" dirty="0"/>
          </a:p>
        </p:txBody>
      </p:sp>
      <p:sp>
        <p:nvSpPr>
          <p:cNvPr id="56" name="Shape 54"/>
          <p:cNvSpPr/>
          <p:nvPr/>
        </p:nvSpPr>
        <p:spPr>
          <a:xfrm>
            <a:off x="7260336" y="4315968"/>
            <a:ext cx="4727448" cy="1005840"/>
          </a:xfrm>
          <a:prstGeom prst="rect">
            <a:avLst/>
          </a:prstGeom>
          <a:solidFill>
            <a:srgbClr val="EEF2FA"/>
          </a:solidFill>
          <a:ln w="6350">
            <a:solidFill>
              <a:srgbClr val="C5D0E6"/>
            </a:solidFill>
            <a:prstDash val="solid"/>
          </a:ln>
        </p:spPr>
      </p:sp>
      <p:sp>
        <p:nvSpPr>
          <p:cNvPr id="57" name="Shape 55"/>
          <p:cNvSpPr/>
          <p:nvPr/>
        </p:nvSpPr>
        <p:spPr>
          <a:xfrm>
            <a:off x="7260336" y="4315968"/>
            <a:ext cx="91440" cy="1005840"/>
          </a:xfrm>
          <a:prstGeom prst="rect">
            <a:avLst/>
          </a:prstGeom>
          <a:solidFill>
            <a:srgbClr val="2D5096"/>
          </a:solidFill>
          <a:ln/>
        </p:spPr>
      </p:sp>
      <p:sp>
        <p:nvSpPr>
          <p:cNvPr id="58" name="Text 56"/>
          <p:cNvSpPr/>
          <p:nvPr/>
        </p:nvSpPr>
        <p:spPr>
          <a:xfrm>
            <a:off x="7461504" y="4443984"/>
            <a:ext cx="4453128" cy="256032"/>
          </a:xfrm>
          <a:prstGeom prst="rect">
            <a:avLst/>
          </a:prstGeom>
          <a:noFill/>
          <a:ln/>
        </p:spPr>
        <p:txBody>
          <a:bodyPr wrap="square" rtlCol="0" anchor="ctr"/>
          <a:lstStyle/>
          <a:p>
            <a:pPr indent="0" marL="0">
              <a:buNone/>
            </a:pPr>
            <a:r>
              <a:rPr lang="en-US" sz="1100" b="1" dirty="0">
                <a:solidFill>
                  <a:srgbClr val="1B3A6B"/>
                </a:solidFill>
                <a:latin typeface="Yu Mincho" pitchFamily="34" charset="0"/>
                <a:ea typeface="Yu Mincho" pitchFamily="34" charset="-122"/>
                <a:cs typeface="Yu Mincho" pitchFamily="34" charset="-120"/>
              </a:rPr>
              <a:t>YouTube Data API</a:t>
            </a:r>
            <a:endParaRPr lang="en-US" sz="1100" dirty="0"/>
          </a:p>
        </p:txBody>
      </p:sp>
      <p:sp>
        <p:nvSpPr>
          <p:cNvPr id="59" name="Text 57"/>
          <p:cNvSpPr/>
          <p:nvPr/>
        </p:nvSpPr>
        <p:spPr>
          <a:xfrm>
            <a:off x="7461504" y="4718304"/>
            <a:ext cx="4453128" cy="219456"/>
          </a:xfrm>
          <a:prstGeom prst="rect">
            <a:avLst/>
          </a:prstGeom>
          <a:noFill/>
          <a:ln/>
        </p:spPr>
        <p:txBody>
          <a:bodyPr wrap="square" rtlCol="0" anchor="ctr"/>
          <a:lstStyle/>
          <a:p>
            <a:pPr indent="0" marL="0">
              <a:buNone/>
            </a:pPr>
            <a:r>
              <a:rPr lang="en-US" sz="950" b="1" dirty="0">
                <a:solidFill>
                  <a:srgbClr val="2D5096"/>
                </a:solidFill>
                <a:latin typeface="Yu Gothic" pitchFamily="34" charset="0"/>
                <a:ea typeface="Yu Gothic" pitchFamily="34" charset="-122"/>
                <a:cs typeface="Yu Gothic" pitchFamily="34" charset="-120"/>
              </a:rPr>
              <a:t>動画・書き出し</a:t>
            </a:r>
            <a:endParaRPr lang="en-US" sz="950" dirty="0"/>
          </a:p>
        </p:txBody>
      </p:sp>
      <p:sp>
        <p:nvSpPr>
          <p:cNvPr id="60" name="Text 58"/>
          <p:cNvSpPr/>
          <p:nvPr/>
        </p:nvSpPr>
        <p:spPr>
          <a:xfrm>
            <a:off x="7461504" y="4956048"/>
            <a:ext cx="4453128" cy="256032"/>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再生数取得・プレイリスト書き出し</a:t>
            </a:r>
            <a:endParaRPr lang="en-US" sz="900" dirty="0"/>
          </a:p>
        </p:txBody>
      </p:sp>
      <p:sp>
        <p:nvSpPr>
          <p:cNvPr id="61" name="Shape 59"/>
          <p:cNvSpPr/>
          <p:nvPr/>
        </p:nvSpPr>
        <p:spPr>
          <a:xfrm>
            <a:off x="7260336" y="5486400"/>
            <a:ext cx="4727448" cy="1005840"/>
          </a:xfrm>
          <a:prstGeom prst="rect">
            <a:avLst/>
          </a:prstGeom>
          <a:solidFill>
            <a:srgbClr val="EEF2FA"/>
          </a:solidFill>
          <a:ln w="6350">
            <a:solidFill>
              <a:srgbClr val="C5D0E6"/>
            </a:solidFill>
            <a:prstDash val="solid"/>
          </a:ln>
        </p:spPr>
      </p:sp>
      <p:sp>
        <p:nvSpPr>
          <p:cNvPr id="62" name="Shape 60"/>
          <p:cNvSpPr/>
          <p:nvPr/>
        </p:nvSpPr>
        <p:spPr>
          <a:xfrm>
            <a:off x="7260336" y="5486400"/>
            <a:ext cx="91440" cy="1005840"/>
          </a:xfrm>
          <a:prstGeom prst="rect">
            <a:avLst/>
          </a:prstGeom>
          <a:solidFill>
            <a:srgbClr val="1B3A6B"/>
          </a:solidFill>
          <a:ln/>
        </p:spPr>
      </p:sp>
      <p:sp>
        <p:nvSpPr>
          <p:cNvPr id="63" name="Text 61"/>
          <p:cNvSpPr/>
          <p:nvPr/>
        </p:nvSpPr>
        <p:spPr>
          <a:xfrm>
            <a:off x="7461504" y="5614416"/>
            <a:ext cx="4453128" cy="256032"/>
          </a:xfrm>
          <a:prstGeom prst="rect">
            <a:avLst/>
          </a:prstGeom>
          <a:noFill/>
          <a:ln/>
        </p:spPr>
        <p:txBody>
          <a:bodyPr wrap="square" rtlCol="0" anchor="ctr"/>
          <a:lstStyle/>
          <a:p>
            <a:pPr indent="0" marL="0">
              <a:buNone/>
            </a:pPr>
            <a:r>
              <a:rPr lang="en-US" sz="1100" b="1" dirty="0">
                <a:solidFill>
                  <a:srgbClr val="1B3A6B"/>
                </a:solidFill>
                <a:latin typeface="Yu Mincho" pitchFamily="34" charset="0"/>
                <a:ea typeface="Yu Mincho" pitchFamily="34" charset="-122"/>
                <a:cs typeface="Yu Mincho" pitchFamily="34" charset="-120"/>
              </a:rPr>
              <a:t>Supabase</a:t>
            </a:r>
            <a:endParaRPr lang="en-US" sz="1100" dirty="0"/>
          </a:p>
        </p:txBody>
      </p:sp>
      <p:sp>
        <p:nvSpPr>
          <p:cNvPr id="64" name="Text 62"/>
          <p:cNvSpPr/>
          <p:nvPr/>
        </p:nvSpPr>
        <p:spPr>
          <a:xfrm>
            <a:off x="7461504" y="5888736"/>
            <a:ext cx="4453128" cy="219456"/>
          </a:xfrm>
          <a:prstGeom prst="rect">
            <a:avLst/>
          </a:prstGeom>
          <a:noFill/>
          <a:ln/>
        </p:spPr>
        <p:txBody>
          <a:bodyPr wrap="square" rtlCol="0" anchor="ctr"/>
          <a:lstStyle/>
          <a:p>
            <a:pPr indent="0" marL="0">
              <a:buNone/>
            </a:pPr>
            <a:r>
              <a:rPr lang="en-US" sz="950" b="1" dirty="0">
                <a:solidFill>
                  <a:srgbClr val="2D5096"/>
                </a:solidFill>
                <a:latin typeface="Yu Gothic" pitchFamily="34" charset="0"/>
                <a:ea typeface="Yu Gothic" pitchFamily="34" charset="-122"/>
                <a:cs typeface="Yu Gothic" pitchFamily="34" charset="-120"/>
              </a:rPr>
              <a:t>DB / 認証</a:t>
            </a:r>
            <a:endParaRPr lang="en-US" sz="950" dirty="0"/>
          </a:p>
        </p:txBody>
      </p:sp>
      <p:sp>
        <p:nvSpPr>
          <p:cNvPr id="65" name="Text 63"/>
          <p:cNvSpPr/>
          <p:nvPr/>
        </p:nvSpPr>
        <p:spPr>
          <a:xfrm>
            <a:off x="7461504" y="6126480"/>
            <a:ext cx="4453128" cy="256032"/>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プレイリスト保存・ユーザー管理</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73152"/>
          </a:xfrm>
          <a:prstGeom prst="rect">
            <a:avLst/>
          </a:prstGeom>
          <a:solidFill>
            <a:srgbClr val="1B3A6B"/>
          </a:solidFill>
          <a:ln/>
        </p:spPr>
      </p:sp>
      <p:sp>
        <p:nvSpPr>
          <p:cNvPr id="4" name="Text 2"/>
          <p:cNvSpPr/>
          <p:nvPr/>
        </p:nvSpPr>
        <p:spPr>
          <a:xfrm>
            <a:off x="10972800" y="109728"/>
            <a:ext cx="1005840" cy="201168"/>
          </a:xfrm>
          <a:prstGeom prst="rect">
            <a:avLst/>
          </a:prstGeom>
          <a:noFill/>
          <a:ln/>
        </p:spPr>
        <p:txBody>
          <a:bodyPr wrap="square" rtlCol="0" anchor="ctr"/>
          <a:lstStyle/>
          <a:p>
            <a:pPr algn="r" indent="0" marL="0">
              <a:buNone/>
            </a:pPr>
            <a:r>
              <a:rPr lang="en-US" sz="800" dirty="0">
                <a:solidFill>
                  <a:srgbClr val="888888"/>
                </a:solidFill>
                <a:latin typeface="Yu Gothic" pitchFamily="34" charset="0"/>
                <a:ea typeface="Yu Gothic" pitchFamily="34" charset="-122"/>
                <a:cs typeface="Yu Gothic" pitchFamily="34" charset="-120"/>
              </a:rPr>
              <a:t>9 / 11</a:t>
            </a:r>
            <a:endParaRPr lang="en-US" sz="800" dirty="0"/>
          </a:p>
        </p:txBody>
      </p:sp>
      <p:sp>
        <p:nvSpPr>
          <p:cNvPr id="5" name="Text 3"/>
          <p:cNvSpPr/>
          <p:nvPr/>
        </p:nvSpPr>
        <p:spPr>
          <a:xfrm>
            <a:off x="411480" y="137160"/>
            <a:ext cx="10424160" cy="457200"/>
          </a:xfrm>
          <a:prstGeom prst="rect">
            <a:avLst/>
          </a:prstGeom>
          <a:noFill/>
          <a:ln/>
        </p:spPr>
        <p:txBody>
          <a:bodyPr wrap="square" rtlCol="0" anchor="ctr"/>
          <a:lstStyle/>
          <a:p>
            <a:pPr algn="l" indent="0" marL="0">
              <a:buNone/>
            </a:pPr>
            <a:r>
              <a:rPr lang="en-US" sz="1600" b="1" dirty="0">
                <a:solidFill>
                  <a:srgbClr val="1B3A6B"/>
                </a:solidFill>
                <a:latin typeface="Yu Mincho" pitchFamily="34" charset="0"/>
                <a:ea typeface="Yu Mincho" pitchFamily="34" charset="-122"/>
                <a:cs typeface="Yu Mincho" pitchFamily="34" charset="-120"/>
              </a:rPr>
              <a:t>ER図 (Supabase) ── RLS で行単位アクセス制御</a:t>
            </a:r>
            <a:endParaRPr lang="en-US" sz="1600" dirty="0"/>
          </a:p>
        </p:txBody>
      </p:sp>
      <p:sp>
        <p:nvSpPr>
          <p:cNvPr id="6" name="Shape 4"/>
          <p:cNvSpPr/>
          <p:nvPr/>
        </p:nvSpPr>
        <p:spPr>
          <a:xfrm>
            <a:off x="411480" y="658368"/>
            <a:ext cx="11365992" cy="0"/>
          </a:xfrm>
          <a:prstGeom prst="line">
            <a:avLst/>
          </a:prstGeom>
          <a:noFill/>
          <a:ln w="9525">
            <a:solidFill>
              <a:srgbClr val="4A6FA5"/>
            </a:solidFill>
            <a:prstDash val="solid"/>
          </a:ln>
        </p:spPr>
      </p:sp>
      <p:sp>
        <p:nvSpPr>
          <p:cNvPr id="7" name="Shape 5"/>
          <p:cNvSpPr/>
          <p:nvPr/>
        </p:nvSpPr>
        <p:spPr>
          <a:xfrm>
            <a:off x="274320" y="841248"/>
            <a:ext cx="3520440" cy="1554480"/>
          </a:xfrm>
          <a:prstGeom prst="rect">
            <a:avLst/>
          </a:prstGeom>
          <a:solidFill>
            <a:srgbClr val="FFFFFF"/>
          </a:solidFill>
          <a:ln w="12700">
            <a:solidFill>
              <a:srgbClr val="2D5096"/>
            </a:solidFill>
            <a:prstDash val="solid"/>
          </a:ln>
        </p:spPr>
      </p:sp>
      <p:sp>
        <p:nvSpPr>
          <p:cNvPr id="8" name="Shape 6"/>
          <p:cNvSpPr/>
          <p:nvPr/>
        </p:nvSpPr>
        <p:spPr>
          <a:xfrm>
            <a:off x="274320" y="841248"/>
            <a:ext cx="3520440" cy="402336"/>
          </a:xfrm>
          <a:prstGeom prst="rect">
            <a:avLst/>
          </a:prstGeom>
          <a:solidFill>
            <a:srgbClr val="2D5096"/>
          </a:solidFill>
          <a:ln/>
        </p:spPr>
      </p:sp>
      <p:sp>
        <p:nvSpPr>
          <p:cNvPr id="9" name="Text 7"/>
          <p:cNvSpPr/>
          <p:nvPr/>
        </p:nvSpPr>
        <p:spPr>
          <a:xfrm>
            <a:off x="384048" y="896112"/>
            <a:ext cx="3374136" cy="310896"/>
          </a:xfrm>
          <a:prstGeom prst="rect">
            <a:avLst/>
          </a:prstGeom>
          <a:noFill/>
          <a:ln/>
        </p:spPr>
        <p:txBody>
          <a:bodyPr wrap="square" rtlCol="0" anchor="ctr"/>
          <a:lstStyle/>
          <a:p>
            <a:pPr indent="0" marL="0">
              <a:buNone/>
            </a:pPr>
            <a:r>
              <a:rPr lang="en-US" sz="1050" b="1" dirty="0">
                <a:solidFill>
                  <a:srgbClr val="FFFFFF"/>
                </a:solidFill>
                <a:latin typeface="Yu Mincho" pitchFamily="34" charset="0"/>
                <a:ea typeface="Yu Mincho" pitchFamily="34" charset="-122"/>
                <a:cs typeface="Yu Mincho" pitchFamily="34" charset="-120"/>
              </a:rPr>
              <a:t>auth.users  (Supabase 管理)</a:t>
            </a:r>
            <a:endParaRPr lang="en-US" sz="1050" dirty="0"/>
          </a:p>
        </p:txBody>
      </p:sp>
      <p:sp>
        <p:nvSpPr>
          <p:cNvPr id="10" name="Shape 8"/>
          <p:cNvSpPr/>
          <p:nvPr/>
        </p:nvSpPr>
        <p:spPr>
          <a:xfrm>
            <a:off x="274320" y="1243584"/>
            <a:ext cx="3520440" cy="384048"/>
          </a:xfrm>
          <a:prstGeom prst="rect">
            <a:avLst/>
          </a:prstGeom>
          <a:solidFill>
            <a:srgbClr val="DDE4F2"/>
          </a:solidFill>
          <a:ln/>
        </p:spPr>
      </p:sp>
      <p:sp>
        <p:nvSpPr>
          <p:cNvPr id="11" name="Shape 9"/>
          <p:cNvSpPr/>
          <p:nvPr/>
        </p:nvSpPr>
        <p:spPr>
          <a:xfrm>
            <a:off x="292608" y="1243584"/>
            <a:ext cx="3483864" cy="0"/>
          </a:xfrm>
          <a:prstGeom prst="line">
            <a:avLst/>
          </a:prstGeom>
          <a:noFill/>
          <a:ln w="5080">
            <a:solidFill>
              <a:srgbClr val="C5D0E6"/>
            </a:solidFill>
            <a:prstDash val="solid"/>
          </a:ln>
        </p:spPr>
      </p:sp>
      <p:sp>
        <p:nvSpPr>
          <p:cNvPr id="12" name="Shape 10"/>
          <p:cNvSpPr/>
          <p:nvPr/>
        </p:nvSpPr>
        <p:spPr>
          <a:xfrm>
            <a:off x="338328" y="1325880"/>
            <a:ext cx="256032" cy="201168"/>
          </a:xfrm>
          <a:prstGeom prst="rect">
            <a:avLst/>
          </a:prstGeom>
          <a:solidFill>
            <a:srgbClr val="1B3A6B"/>
          </a:solidFill>
          <a:ln/>
        </p:spPr>
      </p:sp>
      <p:sp>
        <p:nvSpPr>
          <p:cNvPr id="13" name="Text 11"/>
          <p:cNvSpPr/>
          <p:nvPr/>
        </p:nvSpPr>
        <p:spPr>
          <a:xfrm>
            <a:off x="338328" y="1325880"/>
            <a:ext cx="256032" cy="201168"/>
          </a:xfrm>
          <a:prstGeom prst="rect">
            <a:avLst/>
          </a:prstGeom>
          <a:noFill/>
          <a:ln/>
        </p:spPr>
        <p:txBody>
          <a:bodyPr wrap="square" rtlCol="0" anchor="ctr"/>
          <a:lstStyle/>
          <a:p>
            <a:pPr algn="ctr" indent="0" marL="0">
              <a:buNone/>
            </a:pPr>
            <a:r>
              <a:rPr lang="en-US" sz="650" b="1" dirty="0">
                <a:solidFill>
                  <a:srgbClr val="FFFFFF"/>
                </a:solidFill>
                <a:latin typeface="Yu Gothic" pitchFamily="34" charset="0"/>
                <a:ea typeface="Yu Gothic" pitchFamily="34" charset="-122"/>
                <a:cs typeface="Yu Gothic" pitchFamily="34" charset="-120"/>
              </a:rPr>
              <a:t>PK</a:t>
            </a:r>
            <a:endParaRPr lang="en-US" sz="650" dirty="0"/>
          </a:p>
        </p:txBody>
      </p:sp>
      <p:sp>
        <p:nvSpPr>
          <p:cNvPr id="14" name="Text 12"/>
          <p:cNvSpPr/>
          <p:nvPr/>
        </p:nvSpPr>
        <p:spPr>
          <a:xfrm>
            <a:off x="676656" y="1307592"/>
            <a:ext cx="1188720" cy="292608"/>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id</a:t>
            </a:r>
            <a:endParaRPr lang="en-US" sz="900" dirty="0"/>
          </a:p>
        </p:txBody>
      </p:sp>
      <p:sp>
        <p:nvSpPr>
          <p:cNvPr id="15" name="Text 13"/>
          <p:cNvSpPr/>
          <p:nvPr/>
        </p:nvSpPr>
        <p:spPr>
          <a:xfrm>
            <a:off x="1865376" y="1307592"/>
            <a:ext cx="1051560" cy="292608"/>
          </a:xfrm>
          <a:prstGeom prst="rect">
            <a:avLst/>
          </a:prstGeom>
          <a:noFill/>
          <a:ln/>
        </p:spPr>
        <p:txBody>
          <a:bodyPr wrap="square" rtlCol="0" anchor="ctr"/>
          <a:lstStyle/>
          <a:p>
            <a:pPr indent="0" marL="0">
              <a:buNone/>
            </a:pPr>
            <a:r>
              <a:rPr lang="en-US" sz="850" dirty="0">
                <a:solidFill>
                  <a:srgbClr val="888888"/>
                </a:solidFill>
                <a:latin typeface="Yu Gothic" pitchFamily="34" charset="0"/>
                <a:ea typeface="Yu Gothic" pitchFamily="34" charset="-122"/>
                <a:cs typeface="Yu Gothic" pitchFamily="34" charset="-120"/>
              </a:rPr>
              <a:t>UUID</a:t>
            </a:r>
            <a:endParaRPr lang="en-US" sz="850" dirty="0"/>
          </a:p>
        </p:txBody>
      </p:sp>
      <p:sp>
        <p:nvSpPr>
          <p:cNvPr id="16" name="Shape 14"/>
          <p:cNvSpPr/>
          <p:nvPr/>
        </p:nvSpPr>
        <p:spPr>
          <a:xfrm>
            <a:off x="292608" y="1627632"/>
            <a:ext cx="3483864" cy="0"/>
          </a:xfrm>
          <a:prstGeom prst="line">
            <a:avLst/>
          </a:prstGeom>
          <a:noFill/>
          <a:ln w="5080">
            <a:solidFill>
              <a:srgbClr val="C5D0E6"/>
            </a:solidFill>
            <a:prstDash val="solid"/>
          </a:ln>
        </p:spPr>
      </p:sp>
      <p:sp>
        <p:nvSpPr>
          <p:cNvPr id="17" name="Text 15"/>
          <p:cNvSpPr/>
          <p:nvPr/>
        </p:nvSpPr>
        <p:spPr>
          <a:xfrm>
            <a:off x="676656" y="1691640"/>
            <a:ext cx="1188720" cy="292608"/>
          </a:xfrm>
          <a:prstGeom prst="rect">
            <a:avLst/>
          </a:prstGeom>
          <a:noFill/>
          <a:ln/>
        </p:spPr>
        <p:txBody>
          <a:bodyPr wrap="square" rtlCol="0" anchor="ctr"/>
          <a:lstStyle/>
          <a:p>
            <a:pPr indent="0" marL="0">
              <a:buNone/>
            </a:pPr>
            <a:r>
              <a:rPr lang="en-US" sz="900" dirty="0">
                <a:solidFill>
                  <a:srgbClr val="1B3A6B"/>
                </a:solidFill>
                <a:latin typeface="Yu Gothic" pitchFamily="34" charset="0"/>
                <a:ea typeface="Yu Gothic" pitchFamily="34" charset="-122"/>
                <a:cs typeface="Yu Gothic" pitchFamily="34" charset="-120"/>
              </a:rPr>
              <a:t>email</a:t>
            </a:r>
            <a:endParaRPr lang="en-US" sz="900" dirty="0"/>
          </a:p>
        </p:txBody>
      </p:sp>
      <p:sp>
        <p:nvSpPr>
          <p:cNvPr id="18" name="Text 16"/>
          <p:cNvSpPr/>
          <p:nvPr/>
        </p:nvSpPr>
        <p:spPr>
          <a:xfrm>
            <a:off x="1865376" y="1691640"/>
            <a:ext cx="1051560" cy="292608"/>
          </a:xfrm>
          <a:prstGeom prst="rect">
            <a:avLst/>
          </a:prstGeom>
          <a:noFill/>
          <a:ln/>
        </p:spPr>
        <p:txBody>
          <a:bodyPr wrap="square" rtlCol="0" anchor="ctr"/>
          <a:lstStyle/>
          <a:p>
            <a:pPr indent="0" marL="0">
              <a:buNone/>
            </a:pPr>
            <a:r>
              <a:rPr lang="en-US" sz="850" dirty="0">
                <a:solidFill>
                  <a:srgbClr val="888888"/>
                </a:solidFill>
                <a:latin typeface="Yu Gothic" pitchFamily="34" charset="0"/>
                <a:ea typeface="Yu Gothic" pitchFamily="34" charset="-122"/>
                <a:cs typeface="Yu Gothic" pitchFamily="34" charset="-120"/>
              </a:rPr>
              <a:t>text</a:t>
            </a:r>
            <a:endParaRPr lang="en-US" sz="850" dirty="0"/>
          </a:p>
        </p:txBody>
      </p:sp>
      <p:sp>
        <p:nvSpPr>
          <p:cNvPr id="19" name="Shape 17"/>
          <p:cNvSpPr/>
          <p:nvPr/>
        </p:nvSpPr>
        <p:spPr>
          <a:xfrm>
            <a:off x="274320" y="2011680"/>
            <a:ext cx="3520440" cy="384048"/>
          </a:xfrm>
          <a:prstGeom prst="rect">
            <a:avLst/>
          </a:prstGeom>
          <a:solidFill>
            <a:srgbClr val="DDE4F2"/>
          </a:solidFill>
          <a:ln/>
        </p:spPr>
      </p:sp>
      <p:sp>
        <p:nvSpPr>
          <p:cNvPr id="20" name="Shape 18"/>
          <p:cNvSpPr/>
          <p:nvPr/>
        </p:nvSpPr>
        <p:spPr>
          <a:xfrm>
            <a:off x="292608" y="2011680"/>
            <a:ext cx="3483864" cy="0"/>
          </a:xfrm>
          <a:prstGeom prst="line">
            <a:avLst/>
          </a:prstGeom>
          <a:noFill/>
          <a:ln w="5080">
            <a:solidFill>
              <a:srgbClr val="C5D0E6"/>
            </a:solidFill>
            <a:prstDash val="solid"/>
          </a:ln>
        </p:spPr>
      </p:sp>
      <p:sp>
        <p:nvSpPr>
          <p:cNvPr id="21" name="Text 19"/>
          <p:cNvSpPr/>
          <p:nvPr/>
        </p:nvSpPr>
        <p:spPr>
          <a:xfrm>
            <a:off x="676656" y="2075688"/>
            <a:ext cx="1188720" cy="292608"/>
          </a:xfrm>
          <a:prstGeom prst="rect">
            <a:avLst/>
          </a:prstGeom>
          <a:noFill/>
          <a:ln/>
        </p:spPr>
        <p:txBody>
          <a:bodyPr wrap="square" rtlCol="0" anchor="ctr"/>
          <a:lstStyle/>
          <a:p>
            <a:pPr indent="0" marL="0">
              <a:buNone/>
            </a:pPr>
            <a:r>
              <a:rPr lang="en-US" sz="900" dirty="0">
                <a:solidFill>
                  <a:srgbClr val="1B3A6B"/>
                </a:solidFill>
                <a:latin typeface="Yu Gothic" pitchFamily="34" charset="0"/>
                <a:ea typeface="Yu Gothic" pitchFamily="34" charset="-122"/>
                <a:cs typeface="Yu Gothic" pitchFamily="34" charset="-120"/>
              </a:rPr>
              <a:t>created_at</a:t>
            </a:r>
            <a:endParaRPr lang="en-US" sz="900" dirty="0"/>
          </a:p>
        </p:txBody>
      </p:sp>
      <p:sp>
        <p:nvSpPr>
          <p:cNvPr id="22" name="Text 20"/>
          <p:cNvSpPr/>
          <p:nvPr/>
        </p:nvSpPr>
        <p:spPr>
          <a:xfrm>
            <a:off x="1865376" y="2075688"/>
            <a:ext cx="1051560" cy="292608"/>
          </a:xfrm>
          <a:prstGeom prst="rect">
            <a:avLst/>
          </a:prstGeom>
          <a:noFill/>
          <a:ln/>
        </p:spPr>
        <p:txBody>
          <a:bodyPr wrap="square" rtlCol="0" anchor="ctr"/>
          <a:lstStyle/>
          <a:p>
            <a:pPr indent="0" marL="0">
              <a:buNone/>
            </a:pPr>
            <a:r>
              <a:rPr lang="en-US" sz="850" dirty="0">
                <a:solidFill>
                  <a:srgbClr val="888888"/>
                </a:solidFill>
                <a:latin typeface="Yu Gothic" pitchFamily="34" charset="0"/>
                <a:ea typeface="Yu Gothic" pitchFamily="34" charset="-122"/>
                <a:cs typeface="Yu Gothic" pitchFamily="34" charset="-120"/>
              </a:rPr>
              <a:t>timestamptz</a:t>
            </a:r>
            <a:endParaRPr lang="en-US" sz="850" dirty="0"/>
          </a:p>
        </p:txBody>
      </p:sp>
      <p:sp>
        <p:nvSpPr>
          <p:cNvPr id="23" name="Shape 21"/>
          <p:cNvSpPr/>
          <p:nvPr/>
        </p:nvSpPr>
        <p:spPr>
          <a:xfrm>
            <a:off x="274320" y="2651760"/>
            <a:ext cx="3520440" cy="1554480"/>
          </a:xfrm>
          <a:prstGeom prst="rect">
            <a:avLst/>
          </a:prstGeom>
          <a:solidFill>
            <a:srgbClr val="FFFFFF"/>
          </a:solidFill>
          <a:ln w="12700">
            <a:solidFill>
              <a:srgbClr val="2D5096"/>
            </a:solidFill>
            <a:prstDash val="solid"/>
          </a:ln>
        </p:spPr>
      </p:sp>
      <p:sp>
        <p:nvSpPr>
          <p:cNvPr id="24" name="Shape 22"/>
          <p:cNvSpPr/>
          <p:nvPr/>
        </p:nvSpPr>
        <p:spPr>
          <a:xfrm>
            <a:off x="274320" y="2651760"/>
            <a:ext cx="3520440" cy="402336"/>
          </a:xfrm>
          <a:prstGeom prst="rect">
            <a:avLst/>
          </a:prstGeom>
          <a:solidFill>
            <a:srgbClr val="1B3A6B"/>
          </a:solidFill>
          <a:ln/>
        </p:spPr>
      </p:sp>
      <p:sp>
        <p:nvSpPr>
          <p:cNvPr id="25" name="Text 23"/>
          <p:cNvSpPr/>
          <p:nvPr/>
        </p:nvSpPr>
        <p:spPr>
          <a:xfrm>
            <a:off x="384048" y="2706624"/>
            <a:ext cx="3374136" cy="310896"/>
          </a:xfrm>
          <a:prstGeom prst="rect">
            <a:avLst/>
          </a:prstGeom>
          <a:noFill/>
          <a:ln/>
        </p:spPr>
        <p:txBody>
          <a:bodyPr wrap="square" rtlCol="0" anchor="ctr"/>
          <a:lstStyle/>
          <a:p>
            <a:pPr indent="0" marL="0">
              <a:buNone/>
            </a:pPr>
            <a:r>
              <a:rPr lang="en-US" sz="1050" b="1" dirty="0">
                <a:solidFill>
                  <a:srgbClr val="FFFFFF"/>
                </a:solidFill>
                <a:latin typeface="Yu Mincho" pitchFamily="34" charset="0"/>
                <a:ea typeface="Yu Mincho" pitchFamily="34" charset="-122"/>
                <a:cs typeface="Yu Mincho" pitchFamily="34" charset="-120"/>
              </a:rPr>
              <a:t>users  (プロフィール)</a:t>
            </a:r>
            <a:endParaRPr lang="en-US" sz="1050" dirty="0"/>
          </a:p>
        </p:txBody>
      </p:sp>
      <p:sp>
        <p:nvSpPr>
          <p:cNvPr id="26" name="Shape 24"/>
          <p:cNvSpPr/>
          <p:nvPr/>
        </p:nvSpPr>
        <p:spPr>
          <a:xfrm>
            <a:off x="274320" y="3054096"/>
            <a:ext cx="3520440" cy="384048"/>
          </a:xfrm>
          <a:prstGeom prst="rect">
            <a:avLst/>
          </a:prstGeom>
          <a:solidFill>
            <a:srgbClr val="DDE4F2"/>
          </a:solidFill>
          <a:ln/>
        </p:spPr>
      </p:sp>
      <p:sp>
        <p:nvSpPr>
          <p:cNvPr id="27" name="Shape 25"/>
          <p:cNvSpPr/>
          <p:nvPr/>
        </p:nvSpPr>
        <p:spPr>
          <a:xfrm>
            <a:off x="292608" y="3054096"/>
            <a:ext cx="3483864" cy="0"/>
          </a:xfrm>
          <a:prstGeom prst="line">
            <a:avLst/>
          </a:prstGeom>
          <a:noFill/>
          <a:ln w="5080">
            <a:solidFill>
              <a:srgbClr val="C5D0E6"/>
            </a:solidFill>
            <a:prstDash val="solid"/>
          </a:ln>
        </p:spPr>
      </p:sp>
      <p:sp>
        <p:nvSpPr>
          <p:cNvPr id="28" name="Shape 26"/>
          <p:cNvSpPr/>
          <p:nvPr/>
        </p:nvSpPr>
        <p:spPr>
          <a:xfrm>
            <a:off x="338328" y="3136392"/>
            <a:ext cx="256032" cy="201168"/>
          </a:xfrm>
          <a:prstGeom prst="rect">
            <a:avLst/>
          </a:prstGeom>
          <a:solidFill>
            <a:srgbClr val="1B3A6B"/>
          </a:solidFill>
          <a:ln/>
        </p:spPr>
      </p:sp>
      <p:sp>
        <p:nvSpPr>
          <p:cNvPr id="29" name="Text 27"/>
          <p:cNvSpPr/>
          <p:nvPr/>
        </p:nvSpPr>
        <p:spPr>
          <a:xfrm>
            <a:off x="338328" y="3136392"/>
            <a:ext cx="256032" cy="201168"/>
          </a:xfrm>
          <a:prstGeom prst="rect">
            <a:avLst/>
          </a:prstGeom>
          <a:noFill/>
          <a:ln/>
        </p:spPr>
        <p:txBody>
          <a:bodyPr wrap="square" rtlCol="0" anchor="ctr"/>
          <a:lstStyle/>
          <a:p>
            <a:pPr algn="ctr" indent="0" marL="0">
              <a:buNone/>
            </a:pPr>
            <a:r>
              <a:rPr lang="en-US" sz="650" b="1" dirty="0">
                <a:solidFill>
                  <a:srgbClr val="FFFFFF"/>
                </a:solidFill>
                <a:latin typeface="Yu Gothic" pitchFamily="34" charset="0"/>
                <a:ea typeface="Yu Gothic" pitchFamily="34" charset="-122"/>
                <a:cs typeface="Yu Gothic" pitchFamily="34" charset="-120"/>
              </a:rPr>
              <a:t>PK</a:t>
            </a:r>
            <a:endParaRPr lang="en-US" sz="650" dirty="0"/>
          </a:p>
        </p:txBody>
      </p:sp>
      <p:sp>
        <p:nvSpPr>
          <p:cNvPr id="30" name="Text 28"/>
          <p:cNvSpPr/>
          <p:nvPr/>
        </p:nvSpPr>
        <p:spPr>
          <a:xfrm>
            <a:off x="676656" y="3118104"/>
            <a:ext cx="1188720" cy="292608"/>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id</a:t>
            </a:r>
            <a:endParaRPr lang="en-US" sz="900" dirty="0"/>
          </a:p>
        </p:txBody>
      </p:sp>
      <p:sp>
        <p:nvSpPr>
          <p:cNvPr id="31" name="Text 29"/>
          <p:cNvSpPr/>
          <p:nvPr/>
        </p:nvSpPr>
        <p:spPr>
          <a:xfrm>
            <a:off x="1865376" y="3118104"/>
            <a:ext cx="1051560" cy="292608"/>
          </a:xfrm>
          <a:prstGeom prst="rect">
            <a:avLst/>
          </a:prstGeom>
          <a:noFill/>
          <a:ln/>
        </p:spPr>
        <p:txBody>
          <a:bodyPr wrap="square" rtlCol="0" anchor="ctr"/>
          <a:lstStyle/>
          <a:p>
            <a:pPr indent="0" marL="0">
              <a:buNone/>
            </a:pPr>
            <a:r>
              <a:rPr lang="en-US" sz="850" dirty="0">
                <a:solidFill>
                  <a:srgbClr val="888888"/>
                </a:solidFill>
                <a:latin typeface="Yu Gothic" pitchFamily="34" charset="0"/>
                <a:ea typeface="Yu Gothic" pitchFamily="34" charset="-122"/>
                <a:cs typeface="Yu Gothic" pitchFamily="34" charset="-120"/>
              </a:rPr>
              <a:t>UUID</a:t>
            </a:r>
            <a:endParaRPr lang="en-US" sz="850" dirty="0"/>
          </a:p>
        </p:txBody>
      </p:sp>
      <p:sp>
        <p:nvSpPr>
          <p:cNvPr id="32" name="Text 30"/>
          <p:cNvSpPr/>
          <p:nvPr/>
        </p:nvSpPr>
        <p:spPr>
          <a:xfrm>
            <a:off x="2916936" y="3118104"/>
            <a:ext cx="877824" cy="292608"/>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 auth.users.id</a:t>
            </a:r>
            <a:endParaRPr lang="en-US" sz="800" dirty="0"/>
          </a:p>
        </p:txBody>
      </p:sp>
      <p:sp>
        <p:nvSpPr>
          <p:cNvPr id="33" name="Shape 31"/>
          <p:cNvSpPr/>
          <p:nvPr/>
        </p:nvSpPr>
        <p:spPr>
          <a:xfrm>
            <a:off x="292608" y="3438144"/>
            <a:ext cx="3483864" cy="0"/>
          </a:xfrm>
          <a:prstGeom prst="line">
            <a:avLst/>
          </a:prstGeom>
          <a:noFill/>
          <a:ln w="5080">
            <a:solidFill>
              <a:srgbClr val="C5D0E6"/>
            </a:solidFill>
            <a:prstDash val="solid"/>
          </a:ln>
        </p:spPr>
      </p:sp>
      <p:sp>
        <p:nvSpPr>
          <p:cNvPr id="34" name="Text 32"/>
          <p:cNvSpPr/>
          <p:nvPr/>
        </p:nvSpPr>
        <p:spPr>
          <a:xfrm>
            <a:off x="676656" y="3502152"/>
            <a:ext cx="1188720" cy="292608"/>
          </a:xfrm>
          <a:prstGeom prst="rect">
            <a:avLst/>
          </a:prstGeom>
          <a:noFill/>
          <a:ln/>
        </p:spPr>
        <p:txBody>
          <a:bodyPr wrap="square" rtlCol="0" anchor="ctr"/>
          <a:lstStyle/>
          <a:p>
            <a:pPr indent="0" marL="0">
              <a:buNone/>
            </a:pPr>
            <a:r>
              <a:rPr lang="en-US" sz="900" dirty="0">
                <a:solidFill>
                  <a:srgbClr val="1B3A6B"/>
                </a:solidFill>
                <a:latin typeface="Yu Gothic" pitchFamily="34" charset="0"/>
                <a:ea typeface="Yu Gothic" pitchFamily="34" charset="-122"/>
                <a:cs typeface="Yu Gothic" pitchFamily="34" charset="-120"/>
              </a:rPr>
              <a:t>user_id</a:t>
            </a:r>
            <a:endParaRPr lang="en-US" sz="900" dirty="0"/>
          </a:p>
        </p:txBody>
      </p:sp>
      <p:sp>
        <p:nvSpPr>
          <p:cNvPr id="35" name="Text 33"/>
          <p:cNvSpPr/>
          <p:nvPr/>
        </p:nvSpPr>
        <p:spPr>
          <a:xfrm>
            <a:off x="1865376" y="3502152"/>
            <a:ext cx="1051560" cy="292608"/>
          </a:xfrm>
          <a:prstGeom prst="rect">
            <a:avLst/>
          </a:prstGeom>
          <a:noFill/>
          <a:ln/>
        </p:spPr>
        <p:txBody>
          <a:bodyPr wrap="square" rtlCol="0" anchor="ctr"/>
          <a:lstStyle/>
          <a:p>
            <a:pPr indent="0" marL="0">
              <a:buNone/>
            </a:pPr>
            <a:r>
              <a:rPr lang="en-US" sz="850" dirty="0">
                <a:solidFill>
                  <a:srgbClr val="888888"/>
                </a:solidFill>
                <a:latin typeface="Yu Gothic" pitchFamily="34" charset="0"/>
                <a:ea typeface="Yu Gothic" pitchFamily="34" charset="-122"/>
                <a:cs typeface="Yu Gothic" pitchFamily="34" charset="-120"/>
              </a:rPr>
              <a:t>text</a:t>
            </a:r>
            <a:endParaRPr lang="en-US" sz="850" dirty="0"/>
          </a:p>
        </p:txBody>
      </p:sp>
      <p:sp>
        <p:nvSpPr>
          <p:cNvPr id="36" name="Text 34"/>
          <p:cNvSpPr/>
          <p:nvPr/>
        </p:nvSpPr>
        <p:spPr>
          <a:xfrm>
            <a:off x="2916936" y="3502152"/>
            <a:ext cx="877824" cy="292608"/>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表示名</a:t>
            </a:r>
            <a:endParaRPr lang="en-US" sz="800" dirty="0"/>
          </a:p>
        </p:txBody>
      </p:sp>
      <p:sp>
        <p:nvSpPr>
          <p:cNvPr id="37" name="Shape 35"/>
          <p:cNvSpPr/>
          <p:nvPr/>
        </p:nvSpPr>
        <p:spPr>
          <a:xfrm>
            <a:off x="274320" y="3822192"/>
            <a:ext cx="3520440" cy="384048"/>
          </a:xfrm>
          <a:prstGeom prst="rect">
            <a:avLst/>
          </a:prstGeom>
          <a:solidFill>
            <a:srgbClr val="DDE4F2"/>
          </a:solidFill>
          <a:ln/>
        </p:spPr>
      </p:sp>
      <p:sp>
        <p:nvSpPr>
          <p:cNvPr id="38" name="Shape 36"/>
          <p:cNvSpPr/>
          <p:nvPr/>
        </p:nvSpPr>
        <p:spPr>
          <a:xfrm>
            <a:off x="292608" y="3822192"/>
            <a:ext cx="3483864" cy="0"/>
          </a:xfrm>
          <a:prstGeom prst="line">
            <a:avLst/>
          </a:prstGeom>
          <a:noFill/>
          <a:ln w="5080">
            <a:solidFill>
              <a:srgbClr val="C5D0E6"/>
            </a:solidFill>
            <a:prstDash val="solid"/>
          </a:ln>
        </p:spPr>
      </p:sp>
      <p:sp>
        <p:nvSpPr>
          <p:cNvPr id="39" name="Text 37"/>
          <p:cNvSpPr/>
          <p:nvPr/>
        </p:nvSpPr>
        <p:spPr>
          <a:xfrm>
            <a:off x="676656" y="3886200"/>
            <a:ext cx="1188720" cy="292608"/>
          </a:xfrm>
          <a:prstGeom prst="rect">
            <a:avLst/>
          </a:prstGeom>
          <a:noFill/>
          <a:ln/>
        </p:spPr>
        <p:txBody>
          <a:bodyPr wrap="square" rtlCol="0" anchor="ctr"/>
          <a:lstStyle/>
          <a:p>
            <a:pPr indent="0" marL="0">
              <a:buNone/>
            </a:pPr>
            <a:r>
              <a:rPr lang="en-US" sz="900" dirty="0">
                <a:solidFill>
                  <a:srgbClr val="1B3A6B"/>
                </a:solidFill>
                <a:latin typeface="Yu Gothic" pitchFamily="34" charset="0"/>
                <a:ea typeface="Yu Gothic" pitchFamily="34" charset="-122"/>
                <a:cs typeface="Yu Gothic" pitchFamily="34" charset="-120"/>
              </a:rPr>
              <a:t>avatar_url</a:t>
            </a:r>
            <a:endParaRPr lang="en-US" sz="900" dirty="0"/>
          </a:p>
        </p:txBody>
      </p:sp>
      <p:sp>
        <p:nvSpPr>
          <p:cNvPr id="40" name="Text 38"/>
          <p:cNvSpPr/>
          <p:nvPr/>
        </p:nvSpPr>
        <p:spPr>
          <a:xfrm>
            <a:off x="1865376" y="3886200"/>
            <a:ext cx="1051560" cy="292608"/>
          </a:xfrm>
          <a:prstGeom prst="rect">
            <a:avLst/>
          </a:prstGeom>
          <a:noFill/>
          <a:ln/>
        </p:spPr>
        <p:txBody>
          <a:bodyPr wrap="square" rtlCol="0" anchor="ctr"/>
          <a:lstStyle/>
          <a:p>
            <a:pPr indent="0" marL="0">
              <a:buNone/>
            </a:pPr>
            <a:r>
              <a:rPr lang="en-US" sz="850" dirty="0">
                <a:solidFill>
                  <a:srgbClr val="888888"/>
                </a:solidFill>
                <a:latin typeface="Yu Gothic" pitchFamily="34" charset="0"/>
                <a:ea typeface="Yu Gothic" pitchFamily="34" charset="-122"/>
                <a:cs typeface="Yu Gothic" pitchFamily="34" charset="-120"/>
              </a:rPr>
              <a:t>text</a:t>
            </a:r>
            <a:endParaRPr lang="en-US" sz="850" dirty="0"/>
          </a:p>
        </p:txBody>
      </p:sp>
      <p:sp>
        <p:nvSpPr>
          <p:cNvPr id="41" name="Shape 39"/>
          <p:cNvSpPr/>
          <p:nvPr/>
        </p:nvSpPr>
        <p:spPr>
          <a:xfrm>
            <a:off x="4114800" y="841248"/>
            <a:ext cx="4297680" cy="3474720"/>
          </a:xfrm>
          <a:prstGeom prst="rect">
            <a:avLst/>
          </a:prstGeom>
          <a:solidFill>
            <a:srgbClr val="FFFFFF"/>
          </a:solidFill>
          <a:ln w="12700">
            <a:solidFill>
              <a:srgbClr val="2D5096"/>
            </a:solidFill>
            <a:prstDash val="solid"/>
          </a:ln>
        </p:spPr>
      </p:sp>
      <p:sp>
        <p:nvSpPr>
          <p:cNvPr id="42" name="Shape 40"/>
          <p:cNvSpPr/>
          <p:nvPr/>
        </p:nvSpPr>
        <p:spPr>
          <a:xfrm>
            <a:off x="4114800" y="841248"/>
            <a:ext cx="4297680" cy="402336"/>
          </a:xfrm>
          <a:prstGeom prst="rect">
            <a:avLst/>
          </a:prstGeom>
          <a:solidFill>
            <a:srgbClr val="1B3A6B"/>
          </a:solidFill>
          <a:ln/>
        </p:spPr>
      </p:sp>
      <p:sp>
        <p:nvSpPr>
          <p:cNvPr id="43" name="Text 41"/>
          <p:cNvSpPr/>
          <p:nvPr/>
        </p:nvSpPr>
        <p:spPr>
          <a:xfrm>
            <a:off x="4224528" y="896112"/>
            <a:ext cx="4151376" cy="310896"/>
          </a:xfrm>
          <a:prstGeom prst="rect">
            <a:avLst/>
          </a:prstGeom>
          <a:noFill/>
          <a:ln/>
        </p:spPr>
        <p:txBody>
          <a:bodyPr wrap="square" rtlCol="0" anchor="ctr"/>
          <a:lstStyle/>
          <a:p>
            <a:pPr indent="0" marL="0">
              <a:buNone/>
            </a:pPr>
            <a:r>
              <a:rPr lang="en-US" sz="1050" b="1" dirty="0">
                <a:solidFill>
                  <a:srgbClr val="FFFFFF"/>
                </a:solidFill>
                <a:latin typeface="Yu Mincho" pitchFamily="34" charset="0"/>
                <a:ea typeface="Yu Mincho" pitchFamily="34" charset="-122"/>
                <a:cs typeface="Yu Mincho" pitchFamily="34" charset="-120"/>
              </a:rPr>
              <a:t>playlists</a:t>
            </a:r>
            <a:endParaRPr lang="en-US" sz="1050" dirty="0"/>
          </a:p>
        </p:txBody>
      </p:sp>
      <p:sp>
        <p:nvSpPr>
          <p:cNvPr id="44" name="Shape 42"/>
          <p:cNvSpPr/>
          <p:nvPr/>
        </p:nvSpPr>
        <p:spPr>
          <a:xfrm>
            <a:off x="4114800" y="1243584"/>
            <a:ext cx="4297680" cy="384048"/>
          </a:xfrm>
          <a:prstGeom prst="rect">
            <a:avLst/>
          </a:prstGeom>
          <a:solidFill>
            <a:srgbClr val="DDE4F2"/>
          </a:solidFill>
          <a:ln/>
        </p:spPr>
      </p:sp>
      <p:sp>
        <p:nvSpPr>
          <p:cNvPr id="45" name="Shape 43"/>
          <p:cNvSpPr/>
          <p:nvPr/>
        </p:nvSpPr>
        <p:spPr>
          <a:xfrm>
            <a:off x="4133088" y="1243584"/>
            <a:ext cx="4261104" cy="0"/>
          </a:xfrm>
          <a:prstGeom prst="line">
            <a:avLst/>
          </a:prstGeom>
          <a:noFill/>
          <a:ln w="5080">
            <a:solidFill>
              <a:srgbClr val="C5D0E6"/>
            </a:solidFill>
            <a:prstDash val="solid"/>
          </a:ln>
        </p:spPr>
      </p:sp>
      <p:sp>
        <p:nvSpPr>
          <p:cNvPr id="46" name="Shape 44"/>
          <p:cNvSpPr/>
          <p:nvPr/>
        </p:nvSpPr>
        <p:spPr>
          <a:xfrm>
            <a:off x="4178808" y="1325880"/>
            <a:ext cx="256032" cy="201168"/>
          </a:xfrm>
          <a:prstGeom prst="rect">
            <a:avLst/>
          </a:prstGeom>
          <a:solidFill>
            <a:srgbClr val="1B3A6B"/>
          </a:solidFill>
          <a:ln/>
        </p:spPr>
      </p:sp>
      <p:sp>
        <p:nvSpPr>
          <p:cNvPr id="47" name="Text 45"/>
          <p:cNvSpPr/>
          <p:nvPr/>
        </p:nvSpPr>
        <p:spPr>
          <a:xfrm>
            <a:off x="4178808" y="1325880"/>
            <a:ext cx="256032" cy="201168"/>
          </a:xfrm>
          <a:prstGeom prst="rect">
            <a:avLst/>
          </a:prstGeom>
          <a:noFill/>
          <a:ln/>
        </p:spPr>
        <p:txBody>
          <a:bodyPr wrap="square" rtlCol="0" anchor="ctr"/>
          <a:lstStyle/>
          <a:p>
            <a:pPr algn="ctr" indent="0" marL="0">
              <a:buNone/>
            </a:pPr>
            <a:r>
              <a:rPr lang="en-US" sz="650" b="1" dirty="0">
                <a:solidFill>
                  <a:srgbClr val="FFFFFF"/>
                </a:solidFill>
                <a:latin typeface="Yu Gothic" pitchFamily="34" charset="0"/>
                <a:ea typeface="Yu Gothic" pitchFamily="34" charset="-122"/>
                <a:cs typeface="Yu Gothic" pitchFamily="34" charset="-120"/>
              </a:rPr>
              <a:t>PK</a:t>
            </a:r>
            <a:endParaRPr lang="en-US" sz="650" dirty="0"/>
          </a:p>
        </p:txBody>
      </p:sp>
      <p:sp>
        <p:nvSpPr>
          <p:cNvPr id="48" name="Text 46"/>
          <p:cNvSpPr/>
          <p:nvPr/>
        </p:nvSpPr>
        <p:spPr>
          <a:xfrm>
            <a:off x="4517136" y="1307592"/>
            <a:ext cx="1371600" cy="292608"/>
          </a:xfrm>
          <a:prstGeom prst="rect">
            <a:avLst/>
          </a:prstGeom>
          <a:noFill/>
          <a:ln/>
        </p:spPr>
        <p:txBody>
          <a:bodyPr wrap="square" rtlCol="0" anchor="ctr"/>
          <a:lstStyle/>
          <a:p>
            <a:pPr indent="0" marL="0">
              <a:buNone/>
            </a:pPr>
            <a:r>
              <a:rPr lang="en-US" sz="900" b="1" dirty="0">
                <a:solidFill>
                  <a:srgbClr val="1B3A6B"/>
                </a:solidFill>
                <a:latin typeface="Yu Gothic" pitchFamily="34" charset="0"/>
                <a:ea typeface="Yu Gothic" pitchFamily="34" charset="-122"/>
                <a:cs typeface="Yu Gothic" pitchFamily="34" charset="-120"/>
              </a:rPr>
              <a:t>id</a:t>
            </a:r>
            <a:endParaRPr lang="en-US" sz="900" dirty="0"/>
          </a:p>
        </p:txBody>
      </p:sp>
      <p:sp>
        <p:nvSpPr>
          <p:cNvPr id="49" name="Text 47"/>
          <p:cNvSpPr/>
          <p:nvPr/>
        </p:nvSpPr>
        <p:spPr>
          <a:xfrm>
            <a:off x="5888736" y="1307592"/>
            <a:ext cx="1051560" cy="292608"/>
          </a:xfrm>
          <a:prstGeom prst="rect">
            <a:avLst/>
          </a:prstGeom>
          <a:noFill/>
          <a:ln/>
        </p:spPr>
        <p:txBody>
          <a:bodyPr wrap="square" rtlCol="0" anchor="ctr"/>
          <a:lstStyle/>
          <a:p>
            <a:pPr indent="0" marL="0">
              <a:buNone/>
            </a:pPr>
            <a:r>
              <a:rPr lang="en-US" sz="850" dirty="0">
                <a:solidFill>
                  <a:srgbClr val="888888"/>
                </a:solidFill>
                <a:latin typeface="Yu Gothic" pitchFamily="34" charset="0"/>
                <a:ea typeface="Yu Gothic" pitchFamily="34" charset="-122"/>
                <a:cs typeface="Yu Gothic" pitchFamily="34" charset="-120"/>
              </a:rPr>
              <a:t>UUID</a:t>
            </a:r>
            <a:endParaRPr lang="en-US" sz="850" dirty="0"/>
          </a:p>
        </p:txBody>
      </p:sp>
      <p:sp>
        <p:nvSpPr>
          <p:cNvPr id="50" name="Shape 48"/>
          <p:cNvSpPr/>
          <p:nvPr/>
        </p:nvSpPr>
        <p:spPr>
          <a:xfrm>
            <a:off x="4133088" y="1627632"/>
            <a:ext cx="4261104" cy="0"/>
          </a:xfrm>
          <a:prstGeom prst="line">
            <a:avLst/>
          </a:prstGeom>
          <a:noFill/>
          <a:ln w="5080">
            <a:solidFill>
              <a:srgbClr val="C5D0E6"/>
            </a:solidFill>
            <a:prstDash val="solid"/>
          </a:ln>
        </p:spPr>
      </p:sp>
      <p:sp>
        <p:nvSpPr>
          <p:cNvPr id="51" name="Shape 49"/>
          <p:cNvSpPr/>
          <p:nvPr/>
        </p:nvSpPr>
        <p:spPr>
          <a:xfrm>
            <a:off x="4178808" y="1709928"/>
            <a:ext cx="256032" cy="201168"/>
          </a:xfrm>
          <a:prstGeom prst="rect">
            <a:avLst/>
          </a:prstGeom>
          <a:solidFill>
            <a:srgbClr val="2D5096"/>
          </a:solidFill>
          <a:ln/>
        </p:spPr>
      </p:sp>
      <p:sp>
        <p:nvSpPr>
          <p:cNvPr id="52" name="Text 50"/>
          <p:cNvSpPr/>
          <p:nvPr/>
        </p:nvSpPr>
        <p:spPr>
          <a:xfrm>
            <a:off x="4178808" y="1709928"/>
            <a:ext cx="256032" cy="201168"/>
          </a:xfrm>
          <a:prstGeom prst="rect">
            <a:avLst/>
          </a:prstGeom>
          <a:noFill/>
          <a:ln/>
        </p:spPr>
        <p:txBody>
          <a:bodyPr wrap="square" rtlCol="0" anchor="ctr"/>
          <a:lstStyle/>
          <a:p>
            <a:pPr algn="ctr" indent="0" marL="0">
              <a:buNone/>
            </a:pPr>
            <a:r>
              <a:rPr lang="en-US" sz="650" b="1" dirty="0">
                <a:solidFill>
                  <a:srgbClr val="FFFFFF"/>
                </a:solidFill>
                <a:latin typeface="Yu Gothic" pitchFamily="34" charset="0"/>
                <a:ea typeface="Yu Gothic" pitchFamily="34" charset="-122"/>
                <a:cs typeface="Yu Gothic" pitchFamily="34" charset="-120"/>
              </a:rPr>
              <a:t>FK</a:t>
            </a:r>
            <a:endParaRPr lang="en-US" sz="650" dirty="0"/>
          </a:p>
        </p:txBody>
      </p:sp>
      <p:sp>
        <p:nvSpPr>
          <p:cNvPr id="53" name="Text 51"/>
          <p:cNvSpPr/>
          <p:nvPr/>
        </p:nvSpPr>
        <p:spPr>
          <a:xfrm>
            <a:off x="4517136" y="1691640"/>
            <a:ext cx="1371600" cy="292608"/>
          </a:xfrm>
          <a:prstGeom prst="rect">
            <a:avLst/>
          </a:prstGeom>
          <a:noFill/>
          <a:ln/>
        </p:spPr>
        <p:txBody>
          <a:bodyPr wrap="square" rtlCol="0" anchor="ctr"/>
          <a:lstStyle/>
          <a:p>
            <a:pPr indent="0" marL="0">
              <a:buNone/>
            </a:pPr>
            <a:r>
              <a:rPr lang="en-US" sz="900" dirty="0">
                <a:solidFill>
                  <a:srgbClr val="1B3A6B"/>
                </a:solidFill>
                <a:latin typeface="Yu Gothic" pitchFamily="34" charset="0"/>
                <a:ea typeface="Yu Gothic" pitchFamily="34" charset="-122"/>
                <a:cs typeface="Yu Gothic" pitchFamily="34" charset="-120"/>
              </a:rPr>
              <a:t>user_id</a:t>
            </a:r>
            <a:endParaRPr lang="en-US" sz="900" dirty="0"/>
          </a:p>
        </p:txBody>
      </p:sp>
      <p:sp>
        <p:nvSpPr>
          <p:cNvPr id="54" name="Text 52"/>
          <p:cNvSpPr/>
          <p:nvPr/>
        </p:nvSpPr>
        <p:spPr>
          <a:xfrm>
            <a:off x="5888736" y="1691640"/>
            <a:ext cx="1051560" cy="292608"/>
          </a:xfrm>
          <a:prstGeom prst="rect">
            <a:avLst/>
          </a:prstGeom>
          <a:noFill/>
          <a:ln/>
        </p:spPr>
        <p:txBody>
          <a:bodyPr wrap="square" rtlCol="0" anchor="ctr"/>
          <a:lstStyle/>
          <a:p>
            <a:pPr indent="0" marL="0">
              <a:buNone/>
            </a:pPr>
            <a:r>
              <a:rPr lang="en-US" sz="850" dirty="0">
                <a:solidFill>
                  <a:srgbClr val="888888"/>
                </a:solidFill>
                <a:latin typeface="Yu Gothic" pitchFamily="34" charset="0"/>
                <a:ea typeface="Yu Gothic" pitchFamily="34" charset="-122"/>
                <a:cs typeface="Yu Gothic" pitchFamily="34" charset="-120"/>
              </a:rPr>
              <a:t>UUID</a:t>
            </a:r>
            <a:endParaRPr lang="en-US" sz="850" dirty="0"/>
          </a:p>
        </p:txBody>
      </p:sp>
      <p:sp>
        <p:nvSpPr>
          <p:cNvPr id="55" name="Text 53"/>
          <p:cNvSpPr/>
          <p:nvPr/>
        </p:nvSpPr>
        <p:spPr>
          <a:xfrm>
            <a:off x="6940296" y="1691640"/>
            <a:ext cx="1472184" cy="292608"/>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 auth.users.id</a:t>
            </a:r>
            <a:endParaRPr lang="en-US" sz="800" dirty="0"/>
          </a:p>
        </p:txBody>
      </p:sp>
      <p:sp>
        <p:nvSpPr>
          <p:cNvPr id="56" name="Shape 54"/>
          <p:cNvSpPr/>
          <p:nvPr/>
        </p:nvSpPr>
        <p:spPr>
          <a:xfrm>
            <a:off x="4114800" y="2011680"/>
            <a:ext cx="4297680" cy="384048"/>
          </a:xfrm>
          <a:prstGeom prst="rect">
            <a:avLst/>
          </a:prstGeom>
          <a:solidFill>
            <a:srgbClr val="DDE4F2"/>
          </a:solidFill>
          <a:ln/>
        </p:spPr>
      </p:sp>
      <p:sp>
        <p:nvSpPr>
          <p:cNvPr id="57" name="Shape 55"/>
          <p:cNvSpPr/>
          <p:nvPr/>
        </p:nvSpPr>
        <p:spPr>
          <a:xfrm>
            <a:off x="4133088" y="2011680"/>
            <a:ext cx="4261104" cy="0"/>
          </a:xfrm>
          <a:prstGeom prst="line">
            <a:avLst/>
          </a:prstGeom>
          <a:noFill/>
          <a:ln w="5080">
            <a:solidFill>
              <a:srgbClr val="C5D0E6"/>
            </a:solidFill>
            <a:prstDash val="solid"/>
          </a:ln>
        </p:spPr>
      </p:sp>
      <p:sp>
        <p:nvSpPr>
          <p:cNvPr id="58" name="Text 56"/>
          <p:cNvSpPr/>
          <p:nvPr/>
        </p:nvSpPr>
        <p:spPr>
          <a:xfrm>
            <a:off x="4517136" y="2075688"/>
            <a:ext cx="1371600" cy="292608"/>
          </a:xfrm>
          <a:prstGeom prst="rect">
            <a:avLst/>
          </a:prstGeom>
          <a:noFill/>
          <a:ln/>
        </p:spPr>
        <p:txBody>
          <a:bodyPr wrap="square" rtlCol="0" anchor="ctr"/>
          <a:lstStyle/>
          <a:p>
            <a:pPr indent="0" marL="0">
              <a:buNone/>
            </a:pPr>
            <a:r>
              <a:rPr lang="en-US" sz="900" dirty="0">
                <a:solidFill>
                  <a:srgbClr val="1B3A6B"/>
                </a:solidFill>
                <a:latin typeface="Yu Gothic" pitchFamily="34" charset="0"/>
                <a:ea typeface="Yu Gothic" pitchFamily="34" charset="-122"/>
                <a:cs typeface="Yu Gothic" pitchFamily="34" charset="-120"/>
              </a:rPr>
              <a:t>name</a:t>
            </a:r>
            <a:endParaRPr lang="en-US" sz="900" dirty="0"/>
          </a:p>
        </p:txBody>
      </p:sp>
      <p:sp>
        <p:nvSpPr>
          <p:cNvPr id="59" name="Text 57"/>
          <p:cNvSpPr/>
          <p:nvPr/>
        </p:nvSpPr>
        <p:spPr>
          <a:xfrm>
            <a:off x="5888736" y="2075688"/>
            <a:ext cx="1051560" cy="292608"/>
          </a:xfrm>
          <a:prstGeom prst="rect">
            <a:avLst/>
          </a:prstGeom>
          <a:noFill/>
          <a:ln/>
        </p:spPr>
        <p:txBody>
          <a:bodyPr wrap="square" rtlCol="0" anchor="ctr"/>
          <a:lstStyle/>
          <a:p>
            <a:pPr indent="0" marL="0">
              <a:buNone/>
            </a:pPr>
            <a:r>
              <a:rPr lang="en-US" sz="850" dirty="0">
                <a:solidFill>
                  <a:srgbClr val="888888"/>
                </a:solidFill>
                <a:latin typeface="Yu Gothic" pitchFamily="34" charset="0"/>
                <a:ea typeface="Yu Gothic" pitchFamily="34" charset="-122"/>
                <a:cs typeface="Yu Gothic" pitchFamily="34" charset="-120"/>
              </a:rPr>
              <a:t>text</a:t>
            </a:r>
            <a:endParaRPr lang="en-US" sz="850" dirty="0"/>
          </a:p>
        </p:txBody>
      </p:sp>
      <p:sp>
        <p:nvSpPr>
          <p:cNvPr id="60" name="Shape 58"/>
          <p:cNvSpPr/>
          <p:nvPr/>
        </p:nvSpPr>
        <p:spPr>
          <a:xfrm>
            <a:off x="4133088" y="2395728"/>
            <a:ext cx="4261104" cy="0"/>
          </a:xfrm>
          <a:prstGeom prst="line">
            <a:avLst/>
          </a:prstGeom>
          <a:noFill/>
          <a:ln w="5080">
            <a:solidFill>
              <a:srgbClr val="C5D0E6"/>
            </a:solidFill>
            <a:prstDash val="solid"/>
          </a:ln>
        </p:spPr>
      </p:sp>
      <p:sp>
        <p:nvSpPr>
          <p:cNvPr id="61" name="Text 59"/>
          <p:cNvSpPr/>
          <p:nvPr/>
        </p:nvSpPr>
        <p:spPr>
          <a:xfrm>
            <a:off x="4517136" y="2459736"/>
            <a:ext cx="1371600" cy="292608"/>
          </a:xfrm>
          <a:prstGeom prst="rect">
            <a:avLst/>
          </a:prstGeom>
          <a:noFill/>
          <a:ln/>
        </p:spPr>
        <p:txBody>
          <a:bodyPr wrap="square" rtlCol="0" anchor="ctr"/>
          <a:lstStyle/>
          <a:p>
            <a:pPr indent="0" marL="0">
              <a:buNone/>
            </a:pPr>
            <a:r>
              <a:rPr lang="en-US" sz="900" dirty="0">
                <a:solidFill>
                  <a:srgbClr val="1B3A6B"/>
                </a:solidFill>
                <a:latin typeface="Yu Gothic" pitchFamily="34" charset="0"/>
                <a:ea typeface="Yu Gothic" pitchFamily="34" charset="-122"/>
                <a:cs typeface="Yu Gothic" pitchFamily="34" charset="-120"/>
              </a:rPr>
              <a:t>tracks</a:t>
            </a:r>
            <a:endParaRPr lang="en-US" sz="900" dirty="0"/>
          </a:p>
        </p:txBody>
      </p:sp>
      <p:sp>
        <p:nvSpPr>
          <p:cNvPr id="62" name="Text 60"/>
          <p:cNvSpPr/>
          <p:nvPr/>
        </p:nvSpPr>
        <p:spPr>
          <a:xfrm>
            <a:off x="5888736" y="2459736"/>
            <a:ext cx="1051560" cy="292608"/>
          </a:xfrm>
          <a:prstGeom prst="rect">
            <a:avLst/>
          </a:prstGeom>
          <a:noFill/>
          <a:ln/>
        </p:spPr>
        <p:txBody>
          <a:bodyPr wrap="square" rtlCol="0" anchor="ctr"/>
          <a:lstStyle/>
          <a:p>
            <a:pPr indent="0" marL="0">
              <a:buNone/>
            </a:pPr>
            <a:r>
              <a:rPr lang="en-US" sz="850" dirty="0">
                <a:solidFill>
                  <a:srgbClr val="888888"/>
                </a:solidFill>
                <a:latin typeface="Yu Gothic" pitchFamily="34" charset="0"/>
                <a:ea typeface="Yu Gothic" pitchFamily="34" charset="-122"/>
                <a:cs typeface="Yu Gothic" pitchFamily="34" charset="-120"/>
              </a:rPr>
              <a:t>JSONB</a:t>
            </a:r>
            <a:endParaRPr lang="en-US" sz="850" dirty="0"/>
          </a:p>
        </p:txBody>
      </p:sp>
      <p:sp>
        <p:nvSpPr>
          <p:cNvPr id="63" name="Text 61"/>
          <p:cNvSpPr/>
          <p:nvPr/>
        </p:nvSpPr>
        <p:spPr>
          <a:xfrm>
            <a:off x="6940296" y="2459736"/>
            <a:ext cx="1472184" cy="292608"/>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Track[] 配列</a:t>
            </a:r>
            <a:endParaRPr lang="en-US" sz="800" dirty="0"/>
          </a:p>
        </p:txBody>
      </p:sp>
      <p:sp>
        <p:nvSpPr>
          <p:cNvPr id="64" name="Shape 62"/>
          <p:cNvSpPr/>
          <p:nvPr/>
        </p:nvSpPr>
        <p:spPr>
          <a:xfrm>
            <a:off x="4114800" y="2779776"/>
            <a:ext cx="4297680" cy="384048"/>
          </a:xfrm>
          <a:prstGeom prst="rect">
            <a:avLst/>
          </a:prstGeom>
          <a:solidFill>
            <a:srgbClr val="DDE4F2"/>
          </a:solidFill>
          <a:ln/>
        </p:spPr>
      </p:sp>
      <p:sp>
        <p:nvSpPr>
          <p:cNvPr id="65" name="Shape 63"/>
          <p:cNvSpPr/>
          <p:nvPr/>
        </p:nvSpPr>
        <p:spPr>
          <a:xfrm>
            <a:off x="4133088" y="2779776"/>
            <a:ext cx="4261104" cy="0"/>
          </a:xfrm>
          <a:prstGeom prst="line">
            <a:avLst/>
          </a:prstGeom>
          <a:noFill/>
          <a:ln w="5080">
            <a:solidFill>
              <a:srgbClr val="C5D0E6"/>
            </a:solidFill>
            <a:prstDash val="solid"/>
          </a:ln>
        </p:spPr>
      </p:sp>
      <p:sp>
        <p:nvSpPr>
          <p:cNvPr id="66" name="Text 64"/>
          <p:cNvSpPr/>
          <p:nvPr/>
        </p:nvSpPr>
        <p:spPr>
          <a:xfrm>
            <a:off x="4517136" y="2843784"/>
            <a:ext cx="1371600" cy="292608"/>
          </a:xfrm>
          <a:prstGeom prst="rect">
            <a:avLst/>
          </a:prstGeom>
          <a:noFill/>
          <a:ln/>
        </p:spPr>
        <p:txBody>
          <a:bodyPr wrap="square" rtlCol="0" anchor="ctr"/>
          <a:lstStyle/>
          <a:p>
            <a:pPr indent="0" marL="0">
              <a:buNone/>
            </a:pPr>
            <a:r>
              <a:rPr lang="en-US" sz="900" dirty="0">
                <a:solidFill>
                  <a:srgbClr val="1B3A6B"/>
                </a:solidFill>
                <a:latin typeface="Yu Gothic" pitchFamily="34" charset="0"/>
                <a:ea typeface="Yu Gothic" pitchFamily="34" charset="-122"/>
                <a:cs typeface="Yu Gothic" pitchFamily="34" charset="-120"/>
              </a:rPr>
              <a:t>user_email</a:t>
            </a:r>
            <a:endParaRPr lang="en-US" sz="900" dirty="0"/>
          </a:p>
        </p:txBody>
      </p:sp>
      <p:sp>
        <p:nvSpPr>
          <p:cNvPr id="67" name="Text 65"/>
          <p:cNvSpPr/>
          <p:nvPr/>
        </p:nvSpPr>
        <p:spPr>
          <a:xfrm>
            <a:off x="5888736" y="2843784"/>
            <a:ext cx="1051560" cy="292608"/>
          </a:xfrm>
          <a:prstGeom prst="rect">
            <a:avLst/>
          </a:prstGeom>
          <a:noFill/>
          <a:ln/>
        </p:spPr>
        <p:txBody>
          <a:bodyPr wrap="square" rtlCol="0" anchor="ctr"/>
          <a:lstStyle/>
          <a:p>
            <a:pPr indent="0" marL="0">
              <a:buNone/>
            </a:pPr>
            <a:r>
              <a:rPr lang="en-US" sz="850" dirty="0">
                <a:solidFill>
                  <a:srgbClr val="888888"/>
                </a:solidFill>
                <a:latin typeface="Yu Gothic" pitchFamily="34" charset="0"/>
                <a:ea typeface="Yu Gothic" pitchFamily="34" charset="-122"/>
                <a:cs typeface="Yu Gothic" pitchFamily="34" charset="-120"/>
              </a:rPr>
              <a:t>text</a:t>
            </a:r>
            <a:endParaRPr lang="en-US" sz="850" dirty="0"/>
          </a:p>
        </p:txBody>
      </p:sp>
      <p:sp>
        <p:nvSpPr>
          <p:cNvPr id="68" name="Shape 66"/>
          <p:cNvSpPr/>
          <p:nvPr/>
        </p:nvSpPr>
        <p:spPr>
          <a:xfrm>
            <a:off x="4133088" y="3163824"/>
            <a:ext cx="4261104" cy="0"/>
          </a:xfrm>
          <a:prstGeom prst="line">
            <a:avLst/>
          </a:prstGeom>
          <a:noFill/>
          <a:ln w="5080">
            <a:solidFill>
              <a:srgbClr val="C5D0E6"/>
            </a:solidFill>
            <a:prstDash val="solid"/>
          </a:ln>
        </p:spPr>
      </p:sp>
      <p:sp>
        <p:nvSpPr>
          <p:cNvPr id="69" name="Text 67"/>
          <p:cNvSpPr/>
          <p:nvPr/>
        </p:nvSpPr>
        <p:spPr>
          <a:xfrm>
            <a:off x="4517136" y="3227832"/>
            <a:ext cx="1371600" cy="292608"/>
          </a:xfrm>
          <a:prstGeom prst="rect">
            <a:avLst/>
          </a:prstGeom>
          <a:noFill/>
          <a:ln/>
        </p:spPr>
        <p:txBody>
          <a:bodyPr wrap="square" rtlCol="0" anchor="ctr"/>
          <a:lstStyle/>
          <a:p>
            <a:pPr indent="0" marL="0">
              <a:buNone/>
            </a:pPr>
            <a:r>
              <a:rPr lang="en-US" sz="900" dirty="0">
                <a:solidFill>
                  <a:srgbClr val="1B3A6B"/>
                </a:solidFill>
                <a:latin typeface="Yu Gothic" pitchFamily="34" charset="0"/>
                <a:ea typeface="Yu Gothic" pitchFamily="34" charset="-122"/>
                <a:cs typeface="Yu Gothic" pitchFamily="34" charset="-120"/>
              </a:rPr>
              <a:t>is_public</a:t>
            </a:r>
            <a:endParaRPr lang="en-US" sz="900" dirty="0"/>
          </a:p>
        </p:txBody>
      </p:sp>
      <p:sp>
        <p:nvSpPr>
          <p:cNvPr id="70" name="Text 68"/>
          <p:cNvSpPr/>
          <p:nvPr/>
        </p:nvSpPr>
        <p:spPr>
          <a:xfrm>
            <a:off x="5888736" y="3227832"/>
            <a:ext cx="1051560" cy="292608"/>
          </a:xfrm>
          <a:prstGeom prst="rect">
            <a:avLst/>
          </a:prstGeom>
          <a:noFill/>
          <a:ln/>
        </p:spPr>
        <p:txBody>
          <a:bodyPr wrap="square" rtlCol="0" anchor="ctr"/>
          <a:lstStyle/>
          <a:p>
            <a:pPr indent="0" marL="0">
              <a:buNone/>
            </a:pPr>
            <a:r>
              <a:rPr lang="en-US" sz="850" dirty="0">
                <a:solidFill>
                  <a:srgbClr val="888888"/>
                </a:solidFill>
                <a:latin typeface="Yu Gothic" pitchFamily="34" charset="0"/>
                <a:ea typeface="Yu Gothic" pitchFamily="34" charset="-122"/>
                <a:cs typeface="Yu Gothic" pitchFamily="34" charset="-120"/>
              </a:rPr>
              <a:t>boolean</a:t>
            </a:r>
            <a:endParaRPr lang="en-US" sz="850" dirty="0"/>
          </a:p>
        </p:txBody>
      </p:sp>
      <p:sp>
        <p:nvSpPr>
          <p:cNvPr id="71" name="Shape 69"/>
          <p:cNvSpPr/>
          <p:nvPr/>
        </p:nvSpPr>
        <p:spPr>
          <a:xfrm>
            <a:off x="4114800" y="3547872"/>
            <a:ext cx="4297680" cy="384048"/>
          </a:xfrm>
          <a:prstGeom prst="rect">
            <a:avLst/>
          </a:prstGeom>
          <a:solidFill>
            <a:srgbClr val="DDE4F2"/>
          </a:solidFill>
          <a:ln/>
        </p:spPr>
      </p:sp>
      <p:sp>
        <p:nvSpPr>
          <p:cNvPr id="72" name="Shape 70"/>
          <p:cNvSpPr/>
          <p:nvPr/>
        </p:nvSpPr>
        <p:spPr>
          <a:xfrm>
            <a:off x="4133088" y="3547872"/>
            <a:ext cx="4261104" cy="0"/>
          </a:xfrm>
          <a:prstGeom prst="line">
            <a:avLst/>
          </a:prstGeom>
          <a:noFill/>
          <a:ln w="5080">
            <a:solidFill>
              <a:srgbClr val="C5D0E6"/>
            </a:solidFill>
            <a:prstDash val="solid"/>
          </a:ln>
        </p:spPr>
      </p:sp>
      <p:sp>
        <p:nvSpPr>
          <p:cNvPr id="73" name="Text 71"/>
          <p:cNvSpPr/>
          <p:nvPr/>
        </p:nvSpPr>
        <p:spPr>
          <a:xfrm>
            <a:off x="4517136" y="3611880"/>
            <a:ext cx="1371600" cy="292608"/>
          </a:xfrm>
          <a:prstGeom prst="rect">
            <a:avLst/>
          </a:prstGeom>
          <a:noFill/>
          <a:ln/>
        </p:spPr>
        <p:txBody>
          <a:bodyPr wrap="square" rtlCol="0" anchor="ctr"/>
          <a:lstStyle/>
          <a:p>
            <a:pPr indent="0" marL="0">
              <a:buNone/>
            </a:pPr>
            <a:r>
              <a:rPr lang="en-US" sz="900" dirty="0">
                <a:solidFill>
                  <a:srgbClr val="1B3A6B"/>
                </a:solidFill>
                <a:latin typeface="Yu Gothic" pitchFamily="34" charset="0"/>
                <a:ea typeface="Yu Gothic" pitchFamily="34" charset="-122"/>
                <a:cs typeface="Yu Gothic" pitchFamily="34" charset="-120"/>
              </a:rPr>
              <a:t>slug</a:t>
            </a:r>
            <a:endParaRPr lang="en-US" sz="900" dirty="0"/>
          </a:p>
        </p:txBody>
      </p:sp>
      <p:sp>
        <p:nvSpPr>
          <p:cNvPr id="74" name="Text 72"/>
          <p:cNvSpPr/>
          <p:nvPr/>
        </p:nvSpPr>
        <p:spPr>
          <a:xfrm>
            <a:off x="5888736" y="3611880"/>
            <a:ext cx="1051560" cy="292608"/>
          </a:xfrm>
          <a:prstGeom prst="rect">
            <a:avLst/>
          </a:prstGeom>
          <a:noFill/>
          <a:ln/>
        </p:spPr>
        <p:txBody>
          <a:bodyPr wrap="square" rtlCol="0" anchor="ctr"/>
          <a:lstStyle/>
          <a:p>
            <a:pPr indent="0" marL="0">
              <a:buNone/>
            </a:pPr>
            <a:r>
              <a:rPr lang="en-US" sz="850" dirty="0">
                <a:solidFill>
                  <a:srgbClr val="888888"/>
                </a:solidFill>
                <a:latin typeface="Yu Gothic" pitchFamily="34" charset="0"/>
                <a:ea typeface="Yu Gothic" pitchFamily="34" charset="-122"/>
                <a:cs typeface="Yu Gothic" pitchFamily="34" charset="-120"/>
              </a:rPr>
              <a:t>text</a:t>
            </a:r>
            <a:endParaRPr lang="en-US" sz="850" dirty="0"/>
          </a:p>
        </p:txBody>
      </p:sp>
      <p:sp>
        <p:nvSpPr>
          <p:cNvPr id="75" name="Text 73"/>
          <p:cNvSpPr/>
          <p:nvPr/>
        </p:nvSpPr>
        <p:spPr>
          <a:xfrm>
            <a:off x="6940296" y="3611880"/>
            <a:ext cx="1472184" cy="292608"/>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公開URL 8文字</a:t>
            </a:r>
            <a:endParaRPr lang="en-US" sz="800" dirty="0"/>
          </a:p>
        </p:txBody>
      </p:sp>
      <p:sp>
        <p:nvSpPr>
          <p:cNvPr id="76" name="Shape 74"/>
          <p:cNvSpPr/>
          <p:nvPr/>
        </p:nvSpPr>
        <p:spPr>
          <a:xfrm>
            <a:off x="4133088" y="3931920"/>
            <a:ext cx="4261104" cy="0"/>
          </a:xfrm>
          <a:prstGeom prst="line">
            <a:avLst/>
          </a:prstGeom>
          <a:noFill/>
          <a:ln w="5080">
            <a:solidFill>
              <a:srgbClr val="C5D0E6"/>
            </a:solidFill>
            <a:prstDash val="solid"/>
          </a:ln>
        </p:spPr>
      </p:sp>
      <p:sp>
        <p:nvSpPr>
          <p:cNvPr id="77" name="Text 75"/>
          <p:cNvSpPr/>
          <p:nvPr/>
        </p:nvSpPr>
        <p:spPr>
          <a:xfrm>
            <a:off x="4517136" y="3995928"/>
            <a:ext cx="1371600" cy="292608"/>
          </a:xfrm>
          <a:prstGeom prst="rect">
            <a:avLst/>
          </a:prstGeom>
          <a:noFill/>
          <a:ln/>
        </p:spPr>
        <p:txBody>
          <a:bodyPr wrap="square" rtlCol="0" anchor="ctr"/>
          <a:lstStyle/>
          <a:p>
            <a:pPr indent="0" marL="0">
              <a:buNone/>
            </a:pPr>
            <a:r>
              <a:rPr lang="en-US" sz="900" dirty="0">
                <a:solidFill>
                  <a:srgbClr val="1B3A6B"/>
                </a:solidFill>
                <a:latin typeface="Yu Gothic" pitchFamily="34" charset="0"/>
                <a:ea typeface="Yu Gothic" pitchFamily="34" charset="-122"/>
                <a:cs typeface="Yu Gothic" pitchFamily="34" charset="-120"/>
              </a:rPr>
              <a:t>created_at</a:t>
            </a:r>
            <a:endParaRPr lang="en-US" sz="900" dirty="0"/>
          </a:p>
        </p:txBody>
      </p:sp>
      <p:sp>
        <p:nvSpPr>
          <p:cNvPr id="78" name="Text 76"/>
          <p:cNvSpPr/>
          <p:nvPr/>
        </p:nvSpPr>
        <p:spPr>
          <a:xfrm>
            <a:off x="5888736" y="3995928"/>
            <a:ext cx="1051560" cy="292608"/>
          </a:xfrm>
          <a:prstGeom prst="rect">
            <a:avLst/>
          </a:prstGeom>
          <a:noFill/>
          <a:ln/>
        </p:spPr>
        <p:txBody>
          <a:bodyPr wrap="square" rtlCol="0" anchor="ctr"/>
          <a:lstStyle/>
          <a:p>
            <a:pPr indent="0" marL="0">
              <a:buNone/>
            </a:pPr>
            <a:r>
              <a:rPr lang="en-US" sz="850" dirty="0">
                <a:solidFill>
                  <a:srgbClr val="888888"/>
                </a:solidFill>
                <a:latin typeface="Yu Gothic" pitchFamily="34" charset="0"/>
                <a:ea typeface="Yu Gothic" pitchFamily="34" charset="-122"/>
                <a:cs typeface="Yu Gothic" pitchFamily="34" charset="-120"/>
              </a:rPr>
              <a:t>timestamptz</a:t>
            </a:r>
            <a:endParaRPr lang="en-US" sz="850" dirty="0"/>
          </a:p>
        </p:txBody>
      </p:sp>
      <p:sp>
        <p:nvSpPr>
          <p:cNvPr id="79" name="Shape 77"/>
          <p:cNvSpPr/>
          <p:nvPr/>
        </p:nvSpPr>
        <p:spPr>
          <a:xfrm>
            <a:off x="8732520" y="841248"/>
            <a:ext cx="3182112" cy="4919472"/>
          </a:xfrm>
          <a:prstGeom prst="rect">
            <a:avLst/>
          </a:prstGeom>
          <a:solidFill>
            <a:srgbClr val="FFFFFF"/>
          </a:solidFill>
          <a:ln w="10160">
            <a:solidFill>
              <a:srgbClr val="C5D0E6"/>
            </a:solidFill>
            <a:prstDash val="dash"/>
          </a:ln>
        </p:spPr>
      </p:sp>
      <p:sp>
        <p:nvSpPr>
          <p:cNvPr id="80" name="Shape 78"/>
          <p:cNvSpPr/>
          <p:nvPr/>
        </p:nvSpPr>
        <p:spPr>
          <a:xfrm>
            <a:off x="8732520" y="841248"/>
            <a:ext cx="3182112" cy="402336"/>
          </a:xfrm>
          <a:prstGeom prst="rect">
            <a:avLst/>
          </a:prstGeom>
          <a:solidFill>
            <a:srgbClr val="777777"/>
          </a:solidFill>
          <a:ln/>
        </p:spPr>
      </p:sp>
      <p:sp>
        <p:nvSpPr>
          <p:cNvPr id="81" name="Text 79"/>
          <p:cNvSpPr/>
          <p:nvPr/>
        </p:nvSpPr>
        <p:spPr>
          <a:xfrm>
            <a:off x="8823960" y="896112"/>
            <a:ext cx="3054096" cy="310896"/>
          </a:xfrm>
          <a:prstGeom prst="rect">
            <a:avLst/>
          </a:prstGeom>
          <a:noFill/>
          <a:ln/>
        </p:spPr>
        <p:txBody>
          <a:bodyPr wrap="square" rtlCol="0" anchor="ctr"/>
          <a:lstStyle/>
          <a:p>
            <a:pPr indent="0" marL="0">
              <a:buNone/>
            </a:pPr>
            <a:r>
              <a:rPr lang="en-US" sz="950" b="1" dirty="0">
                <a:solidFill>
                  <a:srgbClr val="FFFFFF"/>
                </a:solidFill>
                <a:latin typeface="Yu Mincho" pitchFamily="34" charset="0"/>
                <a:ea typeface="Yu Mincho" pitchFamily="34" charset="-122"/>
                <a:cs typeface="Yu Mincho" pitchFamily="34" charset="-120"/>
              </a:rPr>
              <a:t>Track  (JSONB — テーブルなし)</a:t>
            </a:r>
            <a:endParaRPr lang="en-US" sz="950" dirty="0"/>
          </a:p>
        </p:txBody>
      </p:sp>
      <p:sp>
        <p:nvSpPr>
          <p:cNvPr id="82" name="Shape 80"/>
          <p:cNvSpPr/>
          <p:nvPr/>
        </p:nvSpPr>
        <p:spPr>
          <a:xfrm>
            <a:off x="10104120" y="1243584"/>
            <a:ext cx="0" cy="4517136"/>
          </a:xfrm>
          <a:prstGeom prst="line">
            <a:avLst/>
          </a:prstGeom>
          <a:noFill/>
          <a:ln w="5080">
            <a:solidFill>
              <a:srgbClr val="C5D0E6"/>
            </a:solidFill>
            <a:prstDash val="solid"/>
          </a:ln>
        </p:spPr>
      </p:sp>
      <p:sp>
        <p:nvSpPr>
          <p:cNvPr id="83" name="Shape 81"/>
          <p:cNvSpPr/>
          <p:nvPr/>
        </p:nvSpPr>
        <p:spPr>
          <a:xfrm>
            <a:off x="8732520" y="1243584"/>
            <a:ext cx="3182112" cy="347472"/>
          </a:xfrm>
          <a:prstGeom prst="rect">
            <a:avLst/>
          </a:prstGeom>
          <a:solidFill>
            <a:srgbClr val="DDE4F2"/>
          </a:solidFill>
          <a:ln/>
        </p:spPr>
      </p:sp>
      <p:sp>
        <p:nvSpPr>
          <p:cNvPr id="84" name="Shape 82"/>
          <p:cNvSpPr/>
          <p:nvPr/>
        </p:nvSpPr>
        <p:spPr>
          <a:xfrm>
            <a:off x="8750808" y="1243584"/>
            <a:ext cx="3145536" cy="0"/>
          </a:xfrm>
          <a:prstGeom prst="line">
            <a:avLst/>
          </a:prstGeom>
          <a:noFill/>
          <a:ln w="3810">
            <a:solidFill>
              <a:srgbClr val="C5D0E6"/>
            </a:solidFill>
            <a:prstDash val="solid"/>
          </a:ln>
        </p:spPr>
      </p:sp>
      <p:sp>
        <p:nvSpPr>
          <p:cNvPr id="85" name="Text 83"/>
          <p:cNvSpPr/>
          <p:nvPr/>
        </p:nvSpPr>
        <p:spPr>
          <a:xfrm>
            <a:off x="8823960" y="1298448"/>
            <a:ext cx="1280160" cy="274320"/>
          </a:xfrm>
          <a:prstGeom prst="rect">
            <a:avLst/>
          </a:prstGeom>
          <a:noFill/>
          <a:ln/>
        </p:spPr>
        <p:txBody>
          <a:bodyPr wrap="square" rtlCol="0" anchor="ctr"/>
          <a:lstStyle/>
          <a:p>
            <a:pPr indent="0" marL="0">
              <a:buNone/>
            </a:pPr>
            <a:r>
              <a:rPr lang="en-US" sz="850" dirty="0">
                <a:solidFill>
                  <a:srgbClr val="1B3A6B"/>
                </a:solidFill>
                <a:latin typeface="Yu Gothic" pitchFamily="34" charset="0"/>
                <a:ea typeface="Yu Gothic" pitchFamily="34" charset="-122"/>
                <a:cs typeface="Yu Gothic" pitchFamily="34" charset="-120"/>
              </a:rPr>
              <a:t>id</a:t>
            </a:r>
            <a:endParaRPr lang="en-US" sz="850" dirty="0"/>
          </a:p>
        </p:txBody>
      </p:sp>
      <p:sp>
        <p:nvSpPr>
          <p:cNvPr id="86" name="Text 84"/>
          <p:cNvSpPr/>
          <p:nvPr/>
        </p:nvSpPr>
        <p:spPr>
          <a:xfrm>
            <a:off x="10177272" y="1298448"/>
            <a:ext cx="1737360" cy="274320"/>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string</a:t>
            </a:r>
            <a:endParaRPr lang="en-US" sz="800" dirty="0"/>
          </a:p>
        </p:txBody>
      </p:sp>
      <p:sp>
        <p:nvSpPr>
          <p:cNvPr id="87" name="Shape 85"/>
          <p:cNvSpPr/>
          <p:nvPr/>
        </p:nvSpPr>
        <p:spPr>
          <a:xfrm>
            <a:off x="8750808" y="1591056"/>
            <a:ext cx="3145536" cy="0"/>
          </a:xfrm>
          <a:prstGeom prst="line">
            <a:avLst/>
          </a:prstGeom>
          <a:noFill/>
          <a:ln w="3810">
            <a:solidFill>
              <a:srgbClr val="C5D0E6"/>
            </a:solidFill>
            <a:prstDash val="solid"/>
          </a:ln>
        </p:spPr>
      </p:sp>
      <p:sp>
        <p:nvSpPr>
          <p:cNvPr id="88" name="Text 86"/>
          <p:cNvSpPr/>
          <p:nvPr/>
        </p:nvSpPr>
        <p:spPr>
          <a:xfrm>
            <a:off x="8823960" y="1645920"/>
            <a:ext cx="1280160" cy="274320"/>
          </a:xfrm>
          <a:prstGeom prst="rect">
            <a:avLst/>
          </a:prstGeom>
          <a:noFill/>
          <a:ln/>
        </p:spPr>
        <p:txBody>
          <a:bodyPr wrap="square" rtlCol="0" anchor="ctr"/>
          <a:lstStyle/>
          <a:p>
            <a:pPr indent="0" marL="0">
              <a:buNone/>
            </a:pPr>
            <a:r>
              <a:rPr lang="en-US" sz="850" dirty="0">
                <a:solidFill>
                  <a:srgbClr val="1B3A6B"/>
                </a:solidFill>
                <a:latin typeface="Yu Gothic" pitchFamily="34" charset="0"/>
                <a:ea typeface="Yu Gothic" pitchFamily="34" charset="-122"/>
                <a:cs typeface="Yu Gothic" pitchFamily="34" charset="-120"/>
              </a:rPr>
              <a:t>name</a:t>
            </a:r>
            <a:endParaRPr lang="en-US" sz="850" dirty="0"/>
          </a:p>
        </p:txBody>
      </p:sp>
      <p:sp>
        <p:nvSpPr>
          <p:cNvPr id="89" name="Text 87"/>
          <p:cNvSpPr/>
          <p:nvPr/>
        </p:nvSpPr>
        <p:spPr>
          <a:xfrm>
            <a:off x="10177272" y="1645920"/>
            <a:ext cx="1737360" cy="274320"/>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string</a:t>
            </a:r>
            <a:endParaRPr lang="en-US" sz="800" dirty="0"/>
          </a:p>
        </p:txBody>
      </p:sp>
      <p:sp>
        <p:nvSpPr>
          <p:cNvPr id="90" name="Shape 88"/>
          <p:cNvSpPr/>
          <p:nvPr/>
        </p:nvSpPr>
        <p:spPr>
          <a:xfrm>
            <a:off x="8732520" y="1938528"/>
            <a:ext cx="3182112" cy="347472"/>
          </a:xfrm>
          <a:prstGeom prst="rect">
            <a:avLst/>
          </a:prstGeom>
          <a:solidFill>
            <a:srgbClr val="DDE4F2"/>
          </a:solidFill>
          <a:ln/>
        </p:spPr>
      </p:sp>
      <p:sp>
        <p:nvSpPr>
          <p:cNvPr id="91" name="Shape 89"/>
          <p:cNvSpPr/>
          <p:nvPr/>
        </p:nvSpPr>
        <p:spPr>
          <a:xfrm>
            <a:off x="8750808" y="1938528"/>
            <a:ext cx="3145536" cy="0"/>
          </a:xfrm>
          <a:prstGeom prst="line">
            <a:avLst/>
          </a:prstGeom>
          <a:noFill/>
          <a:ln w="3810">
            <a:solidFill>
              <a:srgbClr val="C5D0E6"/>
            </a:solidFill>
            <a:prstDash val="solid"/>
          </a:ln>
        </p:spPr>
      </p:sp>
      <p:sp>
        <p:nvSpPr>
          <p:cNvPr id="92" name="Text 90"/>
          <p:cNvSpPr/>
          <p:nvPr/>
        </p:nvSpPr>
        <p:spPr>
          <a:xfrm>
            <a:off x="8823960" y="1993392"/>
            <a:ext cx="1280160" cy="274320"/>
          </a:xfrm>
          <a:prstGeom prst="rect">
            <a:avLst/>
          </a:prstGeom>
          <a:noFill/>
          <a:ln/>
        </p:spPr>
        <p:txBody>
          <a:bodyPr wrap="square" rtlCol="0" anchor="ctr"/>
          <a:lstStyle/>
          <a:p>
            <a:pPr indent="0" marL="0">
              <a:buNone/>
            </a:pPr>
            <a:r>
              <a:rPr lang="en-US" sz="850" dirty="0">
                <a:solidFill>
                  <a:srgbClr val="1B3A6B"/>
                </a:solidFill>
                <a:latin typeface="Yu Gothic" pitchFamily="34" charset="0"/>
                <a:ea typeface="Yu Gothic" pitchFamily="34" charset="-122"/>
                <a:cs typeface="Yu Gothic" pitchFamily="34" charset="-120"/>
              </a:rPr>
              <a:t>artists</a:t>
            </a:r>
            <a:endParaRPr lang="en-US" sz="850" dirty="0"/>
          </a:p>
        </p:txBody>
      </p:sp>
      <p:sp>
        <p:nvSpPr>
          <p:cNvPr id="93" name="Text 91"/>
          <p:cNvSpPr/>
          <p:nvPr/>
        </p:nvSpPr>
        <p:spPr>
          <a:xfrm>
            <a:off x="10177272" y="1993392"/>
            <a:ext cx="1737360" cy="274320"/>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{name}[]</a:t>
            </a:r>
            <a:endParaRPr lang="en-US" sz="800" dirty="0"/>
          </a:p>
        </p:txBody>
      </p:sp>
      <p:sp>
        <p:nvSpPr>
          <p:cNvPr id="94" name="Shape 92"/>
          <p:cNvSpPr/>
          <p:nvPr/>
        </p:nvSpPr>
        <p:spPr>
          <a:xfrm>
            <a:off x="8750808" y="2286000"/>
            <a:ext cx="3145536" cy="0"/>
          </a:xfrm>
          <a:prstGeom prst="line">
            <a:avLst/>
          </a:prstGeom>
          <a:noFill/>
          <a:ln w="3810">
            <a:solidFill>
              <a:srgbClr val="C5D0E6"/>
            </a:solidFill>
            <a:prstDash val="solid"/>
          </a:ln>
        </p:spPr>
      </p:sp>
      <p:sp>
        <p:nvSpPr>
          <p:cNvPr id="95" name="Text 93"/>
          <p:cNvSpPr/>
          <p:nvPr/>
        </p:nvSpPr>
        <p:spPr>
          <a:xfrm>
            <a:off x="8823960" y="2340864"/>
            <a:ext cx="1280160" cy="274320"/>
          </a:xfrm>
          <a:prstGeom prst="rect">
            <a:avLst/>
          </a:prstGeom>
          <a:noFill/>
          <a:ln/>
        </p:spPr>
        <p:txBody>
          <a:bodyPr wrap="square" rtlCol="0" anchor="ctr"/>
          <a:lstStyle/>
          <a:p>
            <a:pPr indent="0" marL="0">
              <a:buNone/>
            </a:pPr>
            <a:r>
              <a:rPr lang="en-US" sz="850" dirty="0">
                <a:solidFill>
                  <a:srgbClr val="1B3A6B"/>
                </a:solidFill>
                <a:latin typeface="Yu Gothic" pitchFamily="34" charset="0"/>
                <a:ea typeface="Yu Gothic" pitchFamily="34" charset="-122"/>
                <a:cs typeface="Yu Gothic" pitchFamily="34" charset="-120"/>
              </a:rPr>
              <a:t>album</a:t>
            </a:r>
            <a:endParaRPr lang="en-US" sz="850" dirty="0"/>
          </a:p>
        </p:txBody>
      </p:sp>
      <p:sp>
        <p:nvSpPr>
          <p:cNvPr id="96" name="Text 94"/>
          <p:cNvSpPr/>
          <p:nvPr/>
        </p:nvSpPr>
        <p:spPr>
          <a:xfrm>
            <a:off x="10177272" y="2340864"/>
            <a:ext cx="1737360" cy="274320"/>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{name, images[]}</a:t>
            </a:r>
            <a:endParaRPr lang="en-US" sz="800" dirty="0"/>
          </a:p>
        </p:txBody>
      </p:sp>
      <p:sp>
        <p:nvSpPr>
          <p:cNvPr id="97" name="Shape 95"/>
          <p:cNvSpPr/>
          <p:nvPr/>
        </p:nvSpPr>
        <p:spPr>
          <a:xfrm>
            <a:off x="8732520" y="2633472"/>
            <a:ext cx="3182112" cy="347472"/>
          </a:xfrm>
          <a:prstGeom prst="rect">
            <a:avLst/>
          </a:prstGeom>
          <a:solidFill>
            <a:srgbClr val="DDE4F2"/>
          </a:solidFill>
          <a:ln/>
        </p:spPr>
      </p:sp>
      <p:sp>
        <p:nvSpPr>
          <p:cNvPr id="98" name="Shape 96"/>
          <p:cNvSpPr/>
          <p:nvPr/>
        </p:nvSpPr>
        <p:spPr>
          <a:xfrm>
            <a:off x="8750808" y="2633472"/>
            <a:ext cx="3145536" cy="0"/>
          </a:xfrm>
          <a:prstGeom prst="line">
            <a:avLst/>
          </a:prstGeom>
          <a:noFill/>
          <a:ln w="3810">
            <a:solidFill>
              <a:srgbClr val="C5D0E6"/>
            </a:solidFill>
            <a:prstDash val="solid"/>
          </a:ln>
        </p:spPr>
      </p:sp>
      <p:sp>
        <p:nvSpPr>
          <p:cNvPr id="99" name="Text 97"/>
          <p:cNvSpPr/>
          <p:nvPr/>
        </p:nvSpPr>
        <p:spPr>
          <a:xfrm>
            <a:off x="8823960" y="2688336"/>
            <a:ext cx="1280160" cy="274320"/>
          </a:xfrm>
          <a:prstGeom prst="rect">
            <a:avLst/>
          </a:prstGeom>
          <a:noFill/>
          <a:ln/>
        </p:spPr>
        <p:txBody>
          <a:bodyPr wrap="square" rtlCol="0" anchor="ctr"/>
          <a:lstStyle/>
          <a:p>
            <a:pPr indent="0" marL="0">
              <a:buNone/>
            </a:pPr>
            <a:r>
              <a:rPr lang="en-US" sz="850" dirty="0">
                <a:solidFill>
                  <a:srgbClr val="1B3A6B"/>
                </a:solidFill>
                <a:latin typeface="Yu Gothic" pitchFamily="34" charset="0"/>
                <a:ea typeface="Yu Gothic" pitchFamily="34" charset="-122"/>
                <a:cs typeface="Yu Gothic" pitchFamily="34" charset="-120"/>
              </a:rPr>
              <a:t>bpm</a:t>
            </a:r>
            <a:endParaRPr lang="en-US" sz="850" dirty="0"/>
          </a:p>
        </p:txBody>
      </p:sp>
      <p:sp>
        <p:nvSpPr>
          <p:cNvPr id="100" name="Text 98"/>
          <p:cNvSpPr/>
          <p:nvPr/>
        </p:nvSpPr>
        <p:spPr>
          <a:xfrm>
            <a:off x="10177272" y="2688336"/>
            <a:ext cx="1737360" cy="274320"/>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number</a:t>
            </a:r>
            <a:endParaRPr lang="en-US" sz="800" dirty="0"/>
          </a:p>
        </p:txBody>
      </p:sp>
      <p:sp>
        <p:nvSpPr>
          <p:cNvPr id="101" name="Shape 99"/>
          <p:cNvSpPr/>
          <p:nvPr/>
        </p:nvSpPr>
        <p:spPr>
          <a:xfrm>
            <a:off x="8750808" y="2980944"/>
            <a:ext cx="3145536" cy="0"/>
          </a:xfrm>
          <a:prstGeom prst="line">
            <a:avLst/>
          </a:prstGeom>
          <a:noFill/>
          <a:ln w="3810">
            <a:solidFill>
              <a:srgbClr val="C5D0E6"/>
            </a:solidFill>
            <a:prstDash val="solid"/>
          </a:ln>
        </p:spPr>
      </p:sp>
      <p:sp>
        <p:nvSpPr>
          <p:cNvPr id="102" name="Text 100"/>
          <p:cNvSpPr/>
          <p:nvPr/>
        </p:nvSpPr>
        <p:spPr>
          <a:xfrm>
            <a:off x="8823960" y="3035808"/>
            <a:ext cx="1280160" cy="274320"/>
          </a:xfrm>
          <a:prstGeom prst="rect">
            <a:avLst/>
          </a:prstGeom>
          <a:noFill/>
          <a:ln/>
        </p:spPr>
        <p:txBody>
          <a:bodyPr wrap="square" rtlCol="0" anchor="ctr"/>
          <a:lstStyle/>
          <a:p>
            <a:pPr indent="0" marL="0">
              <a:buNone/>
            </a:pPr>
            <a:r>
              <a:rPr lang="en-US" sz="850" dirty="0">
                <a:solidFill>
                  <a:srgbClr val="1B3A6B"/>
                </a:solidFill>
                <a:latin typeface="Yu Gothic" pitchFamily="34" charset="0"/>
                <a:ea typeface="Yu Gothic" pitchFamily="34" charset="-122"/>
                <a:cs typeface="Yu Gothic" pitchFamily="34" charset="-120"/>
              </a:rPr>
              <a:t>camelot</a:t>
            </a:r>
            <a:endParaRPr lang="en-US" sz="850" dirty="0"/>
          </a:p>
        </p:txBody>
      </p:sp>
      <p:sp>
        <p:nvSpPr>
          <p:cNvPr id="103" name="Text 101"/>
          <p:cNvSpPr/>
          <p:nvPr/>
        </p:nvSpPr>
        <p:spPr>
          <a:xfrm>
            <a:off x="10177272" y="3035808"/>
            <a:ext cx="1737360" cy="274320"/>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string  例: 11A</a:t>
            </a:r>
            <a:endParaRPr lang="en-US" sz="800" dirty="0"/>
          </a:p>
        </p:txBody>
      </p:sp>
      <p:sp>
        <p:nvSpPr>
          <p:cNvPr id="104" name="Shape 102"/>
          <p:cNvSpPr/>
          <p:nvPr/>
        </p:nvSpPr>
        <p:spPr>
          <a:xfrm>
            <a:off x="8732520" y="3328416"/>
            <a:ext cx="3182112" cy="347472"/>
          </a:xfrm>
          <a:prstGeom prst="rect">
            <a:avLst/>
          </a:prstGeom>
          <a:solidFill>
            <a:srgbClr val="DDE4F2"/>
          </a:solidFill>
          <a:ln/>
        </p:spPr>
      </p:sp>
      <p:sp>
        <p:nvSpPr>
          <p:cNvPr id="105" name="Shape 103"/>
          <p:cNvSpPr/>
          <p:nvPr/>
        </p:nvSpPr>
        <p:spPr>
          <a:xfrm>
            <a:off x="8750808" y="3328416"/>
            <a:ext cx="3145536" cy="0"/>
          </a:xfrm>
          <a:prstGeom prst="line">
            <a:avLst/>
          </a:prstGeom>
          <a:noFill/>
          <a:ln w="3810">
            <a:solidFill>
              <a:srgbClr val="C5D0E6"/>
            </a:solidFill>
            <a:prstDash val="solid"/>
          </a:ln>
        </p:spPr>
      </p:sp>
      <p:sp>
        <p:nvSpPr>
          <p:cNvPr id="106" name="Text 104"/>
          <p:cNvSpPr/>
          <p:nvPr/>
        </p:nvSpPr>
        <p:spPr>
          <a:xfrm>
            <a:off x="8823960" y="3383280"/>
            <a:ext cx="1280160" cy="274320"/>
          </a:xfrm>
          <a:prstGeom prst="rect">
            <a:avLst/>
          </a:prstGeom>
          <a:noFill/>
          <a:ln/>
        </p:spPr>
        <p:txBody>
          <a:bodyPr wrap="square" rtlCol="0" anchor="ctr"/>
          <a:lstStyle/>
          <a:p>
            <a:pPr indent="0" marL="0">
              <a:buNone/>
            </a:pPr>
            <a:r>
              <a:rPr lang="en-US" sz="850" dirty="0">
                <a:solidFill>
                  <a:srgbClr val="1B3A6B"/>
                </a:solidFill>
                <a:latin typeface="Yu Gothic" pitchFamily="34" charset="0"/>
                <a:ea typeface="Yu Gothic" pitchFamily="34" charset="-122"/>
                <a:cs typeface="Yu Gothic" pitchFamily="34" charset="-120"/>
              </a:rPr>
              <a:t>energy</a:t>
            </a:r>
            <a:endParaRPr lang="en-US" sz="850" dirty="0"/>
          </a:p>
        </p:txBody>
      </p:sp>
      <p:sp>
        <p:nvSpPr>
          <p:cNvPr id="107" name="Text 105"/>
          <p:cNvSpPr/>
          <p:nvPr/>
        </p:nvSpPr>
        <p:spPr>
          <a:xfrm>
            <a:off x="10177272" y="3383280"/>
            <a:ext cx="1737360" cy="274320"/>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number  0〜1</a:t>
            </a:r>
            <a:endParaRPr lang="en-US" sz="800" dirty="0"/>
          </a:p>
        </p:txBody>
      </p:sp>
      <p:sp>
        <p:nvSpPr>
          <p:cNvPr id="108" name="Shape 106"/>
          <p:cNvSpPr/>
          <p:nvPr/>
        </p:nvSpPr>
        <p:spPr>
          <a:xfrm>
            <a:off x="8750808" y="3675888"/>
            <a:ext cx="3145536" cy="0"/>
          </a:xfrm>
          <a:prstGeom prst="line">
            <a:avLst/>
          </a:prstGeom>
          <a:noFill/>
          <a:ln w="3810">
            <a:solidFill>
              <a:srgbClr val="C5D0E6"/>
            </a:solidFill>
            <a:prstDash val="solid"/>
          </a:ln>
        </p:spPr>
      </p:sp>
      <p:sp>
        <p:nvSpPr>
          <p:cNvPr id="109" name="Text 107"/>
          <p:cNvSpPr/>
          <p:nvPr/>
        </p:nvSpPr>
        <p:spPr>
          <a:xfrm>
            <a:off x="8823960" y="3730752"/>
            <a:ext cx="1280160" cy="274320"/>
          </a:xfrm>
          <a:prstGeom prst="rect">
            <a:avLst/>
          </a:prstGeom>
          <a:noFill/>
          <a:ln/>
        </p:spPr>
        <p:txBody>
          <a:bodyPr wrap="square" rtlCol="0" anchor="ctr"/>
          <a:lstStyle/>
          <a:p>
            <a:pPr indent="0" marL="0">
              <a:buNone/>
            </a:pPr>
            <a:r>
              <a:rPr lang="en-US" sz="850" dirty="0">
                <a:solidFill>
                  <a:srgbClr val="1B3A6B"/>
                </a:solidFill>
                <a:latin typeface="Yu Gothic" pitchFamily="34" charset="0"/>
                <a:ea typeface="Yu Gothic" pitchFamily="34" charset="-122"/>
                <a:cs typeface="Yu Gothic" pitchFamily="34" charset="-120"/>
              </a:rPr>
              <a:t>is_vocal</a:t>
            </a:r>
            <a:endParaRPr lang="en-US" sz="850" dirty="0"/>
          </a:p>
        </p:txBody>
      </p:sp>
      <p:sp>
        <p:nvSpPr>
          <p:cNvPr id="110" name="Text 108"/>
          <p:cNvSpPr/>
          <p:nvPr/>
        </p:nvSpPr>
        <p:spPr>
          <a:xfrm>
            <a:off x="10177272" y="3730752"/>
            <a:ext cx="1737360" cy="274320"/>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boolean</a:t>
            </a:r>
            <a:endParaRPr lang="en-US" sz="800" dirty="0"/>
          </a:p>
        </p:txBody>
      </p:sp>
      <p:sp>
        <p:nvSpPr>
          <p:cNvPr id="111" name="Shape 109"/>
          <p:cNvSpPr/>
          <p:nvPr/>
        </p:nvSpPr>
        <p:spPr>
          <a:xfrm>
            <a:off x="8732520" y="4023360"/>
            <a:ext cx="3182112" cy="347472"/>
          </a:xfrm>
          <a:prstGeom prst="rect">
            <a:avLst/>
          </a:prstGeom>
          <a:solidFill>
            <a:srgbClr val="DDE4F2"/>
          </a:solidFill>
          <a:ln/>
        </p:spPr>
      </p:sp>
      <p:sp>
        <p:nvSpPr>
          <p:cNvPr id="112" name="Shape 110"/>
          <p:cNvSpPr/>
          <p:nvPr/>
        </p:nvSpPr>
        <p:spPr>
          <a:xfrm>
            <a:off x="8750808" y="4023360"/>
            <a:ext cx="3145536" cy="0"/>
          </a:xfrm>
          <a:prstGeom prst="line">
            <a:avLst/>
          </a:prstGeom>
          <a:noFill/>
          <a:ln w="3810">
            <a:solidFill>
              <a:srgbClr val="C5D0E6"/>
            </a:solidFill>
            <a:prstDash val="solid"/>
          </a:ln>
        </p:spPr>
      </p:sp>
      <p:sp>
        <p:nvSpPr>
          <p:cNvPr id="113" name="Text 111"/>
          <p:cNvSpPr/>
          <p:nvPr/>
        </p:nvSpPr>
        <p:spPr>
          <a:xfrm>
            <a:off x="8823960" y="4078224"/>
            <a:ext cx="1280160" cy="274320"/>
          </a:xfrm>
          <a:prstGeom prst="rect">
            <a:avLst/>
          </a:prstGeom>
          <a:noFill/>
          <a:ln/>
        </p:spPr>
        <p:txBody>
          <a:bodyPr wrap="square" rtlCol="0" anchor="ctr"/>
          <a:lstStyle/>
          <a:p>
            <a:pPr indent="0" marL="0">
              <a:buNone/>
            </a:pPr>
            <a:r>
              <a:rPr lang="en-US" sz="850" dirty="0">
                <a:solidFill>
                  <a:srgbClr val="1B3A6B"/>
                </a:solidFill>
                <a:latin typeface="Yu Gothic" pitchFamily="34" charset="0"/>
                <a:ea typeface="Yu Gothic" pitchFamily="34" charset="-122"/>
                <a:cs typeface="Yu Gothic" pitchFamily="34" charset="-120"/>
              </a:rPr>
              <a:t>genre_tags</a:t>
            </a:r>
            <a:endParaRPr lang="en-US" sz="850" dirty="0"/>
          </a:p>
        </p:txBody>
      </p:sp>
      <p:sp>
        <p:nvSpPr>
          <p:cNvPr id="114" name="Text 112"/>
          <p:cNvSpPr/>
          <p:nvPr/>
        </p:nvSpPr>
        <p:spPr>
          <a:xfrm>
            <a:off x="10177272" y="4078224"/>
            <a:ext cx="1737360" cy="274320"/>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string[]</a:t>
            </a:r>
            <a:endParaRPr lang="en-US" sz="800" dirty="0"/>
          </a:p>
        </p:txBody>
      </p:sp>
      <p:sp>
        <p:nvSpPr>
          <p:cNvPr id="115" name="Shape 113"/>
          <p:cNvSpPr/>
          <p:nvPr/>
        </p:nvSpPr>
        <p:spPr>
          <a:xfrm>
            <a:off x="8750808" y="4370832"/>
            <a:ext cx="3145536" cy="0"/>
          </a:xfrm>
          <a:prstGeom prst="line">
            <a:avLst/>
          </a:prstGeom>
          <a:noFill/>
          <a:ln w="3810">
            <a:solidFill>
              <a:srgbClr val="C5D0E6"/>
            </a:solidFill>
            <a:prstDash val="solid"/>
          </a:ln>
        </p:spPr>
      </p:sp>
      <p:sp>
        <p:nvSpPr>
          <p:cNvPr id="116" name="Text 114"/>
          <p:cNvSpPr/>
          <p:nvPr/>
        </p:nvSpPr>
        <p:spPr>
          <a:xfrm>
            <a:off x="8823960" y="4425696"/>
            <a:ext cx="1280160" cy="274320"/>
          </a:xfrm>
          <a:prstGeom prst="rect">
            <a:avLst/>
          </a:prstGeom>
          <a:noFill/>
          <a:ln/>
        </p:spPr>
        <p:txBody>
          <a:bodyPr wrap="square" rtlCol="0" anchor="ctr"/>
          <a:lstStyle/>
          <a:p>
            <a:pPr indent="0" marL="0">
              <a:buNone/>
            </a:pPr>
            <a:r>
              <a:rPr lang="en-US" sz="850" dirty="0">
                <a:solidFill>
                  <a:srgbClr val="1B3A6B"/>
                </a:solidFill>
                <a:latin typeface="Yu Gothic" pitchFamily="34" charset="0"/>
                <a:ea typeface="Yu Gothic" pitchFamily="34" charset="-122"/>
                <a:cs typeface="Yu Gothic" pitchFamily="34" charset="-120"/>
              </a:rPr>
              <a:t>release_year</a:t>
            </a:r>
            <a:endParaRPr lang="en-US" sz="850" dirty="0"/>
          </a:p>
        </p:txBody>
      </p:sp>
      <p:sp>
        <p:nvSpPr>
          <p:cNvPr id="117" name="Text 115"/>
          <p:cNvSpPr/>
          <p:nvPr/>
        </p:nvSpPr>
        <p:spPr>
          <a:xfrm>
            <a:off x="10177272" y="4425696"/>
            <a:ext cx="1737360" cy="274320"/>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number</a:t>
            </a:r>
            <a:endParaRPr lang="en-US" sz="800" dirty="0"/>
          </a:p>
        </p:txBody>
      </p:sp>
      <p:sp>
        <p:nvSpPr>
          <p:cNvPr id="118" name="Shape 116"/>
          <p:cNvSpPr/>
          <p:nvPr/>
        </p:nvSpPr>
        <p:spPr>
          <a:xfrm>
            <a:off x="8732520" y="4718304"/>
            <a:ext cx="3182112" cy="347472"/>
          </a:xfrm>
          <a:prstGeom prst="rect">
            <a:avLst/>
          </a:prstGeom>
          <a:solidFill>
            <a:srgbClr val="DDE4F2"/>
          </a:solidFill>
          <a:ln/>
        </p:spPr>
      </p:sp>
      <p:sp>
        <p:nvSpPr>
          <p:cNvPr id="119" name="Shape 117"/>
          <p:cNvSpPr/>
          <p:nvPr/>
        </p:nvSpPr>
        <p:spPr>
          <a:xfrm>
            <a:off x="8750808" y="4718304"/>
            <a:ext cx="3145536" cy="0"/>
          </a:xfrm>
          <a:prstGeom prst="line">
            <a:avLst/>
          </a:prstGeom>
          <a:noFill/>
          <a:ln w="3810">
            <a:solidFill>
              <a:srgbClr val="C5D0E6"/>
            </a:solidFill>
            <a:prstDash val="solid"/>
          </a:ln>
        </p:spPr>
      </p:sp>
      <p:sp>
        <p:nvSpPr>
          <p:cNvPr id="120" name="Text 118"/>
          <p:cNvSpPr/>
          <p:nvPr/>
        </p:nvSpPr>
        <p:spPr>
          <a:xfrm>
            <a:off x="8823960" y="4773168"/>
            <a:ext cx="1280160" cy="274320"/>
          </a:xfrm>
          <a:prstGeom prst="rect">
            <a:avLst/>
          </a:prstGeom>
          <a:noFill/>
          <a:ln/>
        </p:spPr>
        <p:txBody>
          <a:bodyPr wrap="square" rtlCol="0" anchor="ctr"/>
          <a:lstStyle/>
          <a:p>
            <a:pPr indent="0" marL="0">
              <a:buNone/>
            </a:pPr>
            <a:r>
              <a:rPr lang="en-US" sz="850" dirty="0">
                <a:solidFill>
                  <a:srgbClr val="1B3A6B"/>
                </a:solidFill>
                <a:latin typeface="Yu Gothic" pitchFamily="34" charset="0"/>
                <a:ea typeface="Yu Gothic" pitchFamily="34" charset="-122"/>
                <a:cs typeface="Yu Gothic" pitchFamily="34" charset="-120"/>
              </a:rPr>
              <a:t>reason</a:t>
            </a:r>
            <a:endParaRPr lang="en-US" sz="850" dirty="0"/>
          </a:p>
        </p:txBody>
      </p:sp>
      <p:sp>
        <p:nvSpPr>
          <p:cNvPr id="121" name="Text 119"/>
          <p:cNvSpPr/>
          <p:nvPr/>
        </p:nvSpPr>
        <p:spPr>
          <a:xfrm>
            <a:off x="10177272" y="4773168"/>
            <a:ext cx="1737360" cy="274320"/>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string  AI選曲理由</a:t>
            </a:r>
            <a:endParaRPr lang="en-US" sz="800" dirty="0"/>
          </a:p>
        </p:txBody>
      </p:sp>
      <p:sp>
        <p:nvSpPr>
          <p:cNvPr id="122" name="Shape 120"/>
          <p:cNvSpPr/>
          <p:nvPr/>
        </p:nvSpPr>
        <p:spPr>
          <a:xfrm>
            <a:off x="8750808" y="5065776"/>
            <a:ext cx="3145536" cy="0"/>
          </a:xfrm>
          <a:prstGeom prst="line">
            <a:avLst/>
          </a:prstGeom>
          <a:noFill/>
          <a:ln w="3810">
            <a:solidFill>
              <a:srgbClr val="C5D0E6"/>
            </a:solidFill>
            <a:prstDash val="solid"/>
          </a:ln>
        </p:spPr>
      </p:sp>
      <p:sp>
        <p:nvSpPr>
          <p:cNvPr id="123" name="Text 121"/>
          <p:cNvSpPr/>
          <p:nvPr/>
        </p:nvSpPr>
        <p:spPr>
          <a:xfrm>
            <a:off x="8823960" y="5120640"/>
            <a:ext cx="1280160" cy="274320"/>
          </a:xfrm>
          <a:prstGeom prst="rect">
            <a:avLst/>
          </a:prstGeom>
          <a:noFill/>
          <a:ln/>
        </p:spPr>
        <p:txBody>
          <a:bodyPr wrap="square" rtlCol="0" anchor="ctr"/>
          <a:lstStyle/>
          <a:p>
            <a:pPr indent="0" marL="0">
              <a:buNone/>
            </a:pPr>
            <a:r>
              <a:rPr lang="en-US" sz="850" dirty="0">
                <a:solidFill>
                  <a:srgbClr val="1B3A6B"/>
                </a:solidFill>
                <a:latin typeface="Yu Gothic" pitchFamily="34" charset="0"/>
                <a:ea typeface="Yu Gothic" pitchFamily="34" charset="-122"/>
                <a:cs typeface="Yu Gothic" pitchFamily="34" charset="-120"/>
              </a:rPr>
              <a:t>preview</a:t>
            </a:r>
            <a:endParaRPr lang="en-US" sz="850" dirty="0"/>
          </a:p>
        </p:txBody>
      </p:sp>
      <p:sp>
        <p:nvSpPr>
          <p:cNvPr id="124" name="Text 122"/>
          <p:cNvSpPr/>
          <p:nvPr/>
        </p:nvSpPr>
        <p:spPr>
          <a:xfrm>
            <a:off x="10177272" y="5120640"/>
            <a:ext cx="1737360" cy="274320"/>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string  Deezer URL</a:t>
            </a:r>
            <a:endParaRPr lang="en-US" sz="800" dirty="0"/>
          </a:p>
        </p:txBody>
      </p:sp>
      <p:sp>
        <p:nvSpPr>
          <p:cNvPr id="125" name="Shape 123"/>
          <p:cNvSpPr/>
          <p:nvPr/>
        </p:nvSpPr>
        <p:spPr>
          <a:xfrm>
            <a:off x="8732520" y="5413248"/>
            <a:ext cx="3182112" cy="347472"/>
          </a:xfrm>
          <a:prstGeom prst="rect">
            <a:avLst/>
          </a:prstGeom>
          <a:solidFill>
            <a:srgbClr val="DDE4F2"/>
          </a:solidFill>
          <a:ln/>
        </p:spPr>
      </p:sp>
      <p:sp>
        <p:nvSpPr>
          <p:cNvPr id="126" name="Shape 124"/>
          <p:cNvSpPr/>
          <p:nvPr/>
        </p:nvSpPr>
        <p:spPr>
          <a:xfrm>
            <a:off x="8750808" y="5413248"/>
            <a:ext cx="3145536" cy="0"/>
          </a:xfrm>
          <a:prstGeom prst="line">
            <a:avLst/>
          </a:prstGeom>
          <a:noFill/>
          <a:ln w="3810">
            <a:solidFill>
              <a:srgbClr val="C5D0E6"/>
            </a:solidFill>
            <a:prstDash val="solid"/>
          </a:ln>
        </p:spPr>
      </p:sp>
      <p:sp>
        <p:nvSpPr>
          <p:cNvPr id="127" name="Text 125"/>
          <p:cNvSpPr/>
          <p:nvPr/>
        </p:nvSpPr>
        <p:spPr>
          <a:xfrm>
            <a:off x="8823960" y="5468112"/>
            <a:ext cx="1280160" cy="274320"/>
          </a:xfrm>
          <a:prstGeom prst="rect">
            <a:avLst/>
          </a:prstGeom>
          <a:noFill/>
          <a:ln/>
        </p:spPr>
        <p:txBody>
          <a:bodyPr wrap="square" rtlCol="0" anchor="ctr"/>
          <a:lstStyle/>
          <a:p>
            <a:pPr indent="0" marL="0">
              <a:buNone/>
            </a:pPr>
            <a:r>
              <a:rPr lang="en-US" sz="850" dirty="0">
                <a:solidFill>
                  <a:srgbClr val="1B3A6B"/>
                </a:solidFill>
                <a:latin typeface="Yu Gothic" pitchFamily="34" charset="0"/>
                <a:ea typeface="Yu Gothic" pitchFamily="34" charset="-122"/>
                <a:cs typeface="Yu Gothic" pitchFamily="34" charset="-120"/>
              </a:rPr>
              <a:t>url</a:t>
            </a:r>
            <a:endParaRPr lang="en-US" sz="850" dirty="0"/>
          </a:p>
        </p:txBody>
      </p:sp>
      <p:sp>
        <p:nvSpPr>
          <p:cNvPr id="128" name="Text 126"/>
          <p:cNvSpPr/>
          <p:nvPr/>
        </p:nvSpPr>
        <p:spPr>
          <a:xfrm>
            <a:off x="10177272" y="5468112"/>
            <a:ext cx="1737360" cy="274320"/>
          </a:xfrm>
          <a:prstGeom prst="rect">
            <a:avLst/>
          </a:prstGeom>
          <a:noFill/>
          <a:ln/>
        </p:spPr>
        <p:txBody>
          <a:bodyPr wrap="square" rtlCol="0" anchor="ctr"/>
          <a:lstStyle/>
          <a:p>
            <a:pPr indent="0" marL="0">
              <a:buNone/>
            </a:pPr>
            <a:r>
              <a:rPr lang="en-US" sz="800" dirty="0">
                <a:solidFill>
                  <a:srgbClr val="888888"/>
                </a:solidFill>
                <a:latin typeface="Yu Gothic" pitchFamily="34" charset="0"/>
                <a:ea typeface="Yu Gothic" pitchFamily="34" charset="-122"/>
                <a:cs typeface="Yu Gothic" pitchFamily="34" charset="-120"/>
              </a:rPr>
              <a:t>string  iTunes URL</a:t>
            </a:r>
            <a:endParaRPr lang="en-US" sz="800" dirty="0"/>
          </a:p>
        </p:txBody>
      </p:sp>
      <p:sp>
        <p:nvSpPr>
          <p:cNvPr id="129" name="Shape 127"/>
          <p:cNvSpPr/>
          <p:nvPr/>
        </p:nvSpPr>
        <p:spPr>
          <a:xfrm>
            <a:off x="411480" y="2395728"/>
            <a:ext cx="0" cy="256032"/>
          </a:xfrm>
          <a:prstGeom prst="line">
            <a:avLst/>
          </a:prstGeom>
          <a:noFill/>
          <a:ln w="15240">
            <a:solidFill>
              <a:srgbClr val="2D5096"/>
            </a:solidFill>
            <a:prstDash val="solid"/>
          </a:ln>
        </p:spPr>
      </p:sp>
      <p:sp>
        <p:nvSpPr>
          <p:cNvPr id="130" name="Text 128"/>
          <p:cNvSpPr/>
          <p:nvPr/>
        </p:nvSpPr>
        <p:spPr>
          <a:xfrm>
            <a:off x="457200" y="2432304"/>
            <a:ext cx="274320" cy="182880"/>
          </a:xfrm>
          <a:prstGeom prst="rect">
            <a:avLst/>
          </a:prstGeom>
          <a:noFill/>
          <a:ln/>
        </p:spPr>
        <p:txBody>
          <a:bodyPr wrap="square" rtlCol="0" anchor="ctr"/>
          <a:lstStyle/>
          <a:p>
            <a:pPr indent="0" marL="0">
              <a:buNone/>
            </a:pPr>
            <a:r>
              <a:rPr lang="en-US" sz="750" dirty="0">
                <a:solidFill>
                  <a:srgbClr val="888888"/>
                </a:solidFill>
                <a:latin typeface="Yu Gothic" pitchFamily="34" charset="0"/>
                <a:ea typeface="Yu Gothic" pitchFamily="34" charset="-122"/>
                <a:cs typeface="Yu Gothic" pitchFamily="34" charset="-120"/>
              </a:rPr>
              <a:t>1:1</a:t>
            </a:r>
            <a:endParaRPr lang="en-US" sz="750" dirty="0"/>
          </a:p>
        </p:txBody>
      </p:sp>
      <p:sp>
        <p:nvSpPr>
          <p:cNvPr id="131" name="Shape 129"/>
          <p:cNvSpPr/>
          <p:nvPr/>
        </p:nvSpPr>
        <p:spPr>
          <a:xfrm>
            <a:off x="3794760" y="1435608"/>
            <a:ext cx="320040" cy="0"/>
          </a:xfrm>
          <a:prstGeom prst="line">
            <a:avLst/>
          </a:prstGeom>
          <a:noFill/>
          <a:ln w="15240">
            <a:solidFill>
              <a:srgbClr val="2D5096"/>
            </a:solidFill>
            <a:prstDash val="solid"/>
          </a:ln>
        </p:spPr>
      </p:sp>
      <p:sp>
        <p:nvSpPr>
          <p:cNvPr id="132" name="Text 130"/>
          <p:cNvSpPr/>
          <p:nvPr/>
        </p:nvSpPr>
        <p:spPr>
          <a:xfrm>
            <a:off x="3813048" y="1234440"/>
            <a:ext cx="256032" cy="182880"/>
          </a:xfrm>
          <a:prstGeom prst="rect">
            <a:avLst/>
          </a:prstGeom>
          <a:noFill/>
          <a:ln/>
        </p:spPr>
        <p:txBody>
          <a:bodyPr wrap="square" rtlCol="0" anchor="ctr"/>
          <a:lstStyle/>
          <a:p>
            <a:pPr indent="0" marL="0">
              <a:buNone/>
            </a:pPr>
            <a:r>
              <a:rPr lang="en-US" sz="750" dirty="0">
                <a:solidFill>
                  <a:srgbClr val="888888"/>
                </a:solidFill>
                <a:latin typeface="Yu Gothic" pitchFamily="34" charset="0"/>
                <a:ea typeface="Yu Gothic" pitchFamily="34" charset="-122"/>
                <a:cs typeface="Yu Gothic" pitchFamily="34" charset="-120"/>
              </a:rPr>
              <a:t>1:N</a:t>
            </a:r>
            <a:endParaRPr lang="en-US" sz="750" dirty="0"/>
          </a:p>
        </p:txBody>
      </p:sp>
      <p:sp>
        <p:nvSpPr>
          <p:cNvPr id="133" name="Shape 131"/>
          <p:cNvSpPr/>
          <p:nvPr/>
        </p:nvSpPr>
        <p:spPr>
          <a:xfrm>
            <a:off x="8412480" y="2587752"/>
            <a:ext cx="320040" cy="0"/>
          </a:xfrm>
          <a:prstGeom prst="line">
            <a:avLst/>
          </a:prstGeom>
          <a:noFill/>
          <a:ln w="12700">
            <a:solidFill>
              <a:srgbClr val="C5D0E6"/>
            </a:solidFill>
            <a:prstDash val="dash"/>
          </a:ln>
        </p:spPr>
      </p:sp>
      <p:sp>
        <p:nvSpPr>
          <p:cNvPr id="134" name="Text 132"/>
          <p:cNvSpPr/>
          <p:nvPr/>
        </p:nvSpPr>
        <p:spPr>
          <a:xfrm>
            <a:off x="8430768" y="2386584"/>
            <a:ext cx="274320" cy="182880"/>
          </a:xfrm>
          <a:prstGeom prst="rect">
            <a:avLst/>
          </a:prstGeom>
          <a:noFill/>
          <a:ln/>
        </p:spPr>
        <p:txBody>
          <a:bodyPr wrap="square" rtlCol="0" anchor="ctr"/>
          <a:lstStyle/>
          <a:p>
            <a:pPr indent="0" marL="0">
              <a:buNone/>
            </a:pPr>
            <a:r>
              <a:rPr lang="en-US" sz="700" dirty="0">
                <a:solidFill>
                  <a:srgbClr val="888888"/>
                </a:solidFill>
                <a:latin typeface="Yu Gothic" pitchFamily="34" charset="0"/>
                <a:ea typeface="Yu Gothic" pitchFamily="34" charset="-122"/>
                <a:cs typeface="Yu Gothic" pitchFamily="34" charset="-120"/>
              </a:rPr>
              <a:t>JSONB</a:t>
            </a:r>
            <a:endParaRPr lang="en-US" sz="700" dirty="0"/>
          </a:p>
        </p:txBody>
      </p:sp>
      <p:sp>
        <p:nvSpPr>
          <p:cNvPr id="135" name="Shape 133"/>
          <p:cNvSpPr/>
          <p:nvPr/>
        </p:nvSpPr>
        <p:spPr>
          <a:xfrm>
            <a:off x="274320" y="5806440"/>
            <a:ext cx="11640312" cy="347472"/>
          </a:xfrm>
          <a:prstGeom prst="rect">
            <a:avLst/>
          </a:prstGeom>
          <a:solidFill>
            <a:srgbClr val="DDE4F2"/>
          </a:solidFill>
          <a:ln w="6350">
            <a:solidFill>
              <a:srgbClr val="4A6FA5"/>
            </a:solidFill>
            <a:prstDash val="solid"/>
          </a:ln>
        </p:spPr>
      </p:sp>
      <p:sp>
        <p:nvSpPr>
          <p:cNvPr id="136" name="Text 134"/>
          <p:cNvSpPr/>
          <p:nvPr/>
        </p:nvSpPr>
        <p:spPr>
          <a:xfrm>
            <a:off x="411480" y="5843016"/>
            <a:ext cx="11365992" cy="274320"/>
          </a:xfrm>
          <a:prstGeom prst="rect">
            <a:avLst/>
          </a:prstGeom>
          <a:noFill/>
          <a:ln/>
        </p:spPr>
        <p:txBody>
          <a:bodyPr wrap="square" rtlCol="0" anchor="ctr"/>
          <a:lstStyle/>
          <a:p>
            <a:pPr indent="0" marL="0">
              <a:buNone/>
            </a:pPr>
            <a:r>
              <a:rPr lang="en-US" sz="900" dirty="0">
                <a:solidFill>
                  <a:srgbClr val="1B3A6B"/>
                </a:solidFill>
                <a:latin typeface="Yu Gothic" pitchFamily="34" charset="0"/>
                <a:ea typeface="Yu Gothic" pitchFamily="34" charset="-122"/>
                <a:cs typeface="Yu Gothic" pitchFamily="34" charset="-120"/>
              </a:rPr>
              <a:t>RLS: playlists は user_id = auth.uid() の行のみ読み書き可。is_public = true の行は全ユーザーが閲覧可。</a:t>
            </a:r>
            <a:endParaRPr lang="en-US" sz="900" dirty="0"/>
          </a:p>
        </p:txBody>
      </p:sp>
      <p:sp>
        <p:nvSpPr>
          <p:cNvPr id="137" name="Shape 135"/>
          <p:cNvSpPr/>
          <p:nvPr/>
        </p:nvSpPr>
        <p:spPr>
          <a:xfrm>
            <a:off x="274320" y="6199632"/>
            <a:ext cx="11640312" cy="347472"/>
          </a:xfrm>
          <a:prstGeom prst="rect">
            <a:avLst/>
          </a:prstGeom>
          <a:solidFill>
            <a:srgbClr val="FFFFFF"/>
          </a:solidFill>
          <a:ln w="6350">
            <a:solidFill>
              <a:srgbClr val="C5D0E6"/>
            </a:solidFill>
            <a:prstDash val="solid"/>
          </a:ln>
        </p:spPr>
      </p:sp>
      <p:sp>
        <p:nvSpPr>
          <p:cNvPr id="138" name="Text 136"/>
          <p:cNvSpPr/>
          <p:nvPr/>
        </p:nvSpPr>
        <p:spPr>
          <a:xfrm>
            <a:off x="411480" y="6236208"/>
            <a:ext cx="11365992" cy="274320"/>
          </a:xfrm>
          <a:prstGeom prst="rect">
            <a:avLst/>
          </a:prstGeom>
          <a:noFill/>
          <a:ln/>
        </p:spPr>
        <p:txBody>
          <a:bodyPr wrap="square" rtlCol="0" anchor="ctr"/>
          <a:lstStyle/>
          <a:p>
            <a:pPr indent="0" marL="0">
              <a:buNone/>
            </a:pPr>
            <a:r>
              <a:rPr lang="en-US" sz="900" i="1" dirty="0">
                <a:solidFill>
                  <a:srgbClr val="888888"/>
                </a:solidFill>
                <a:latin typeface="Yu Gothic" pitchFamily="34" charset="0"/>
                <a:ea typeface="Yu Gothic" pitchFamily="34" charset="-122"/>
                <a:cs typeface="Yu Gothic" pitchFamily="34" charset="-120"/>
              </a:rPr>
              <a:t>※ メール＋パスワード認証のパスワードは Supabase が auth.users 内に encrypted_password としてハッシュ化して管理。自前コードからは参照不可。</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73152"/>
          </a:xfrm>
          <a:prstGeom prst="rect">
            <a:avLst/>
          </a:prstGeom>
          <a:solidFill>
            <a:srgbClr val="1B3A6B"/>
          </a:solidFill>
          <a:ln/>
        </p:spPr>
      </p:sp>
      <p:sp>
        <p:nvSpPr>
          <p:cNvPr id="4" name="Text 2"/>
          <p:cNvSpPr/>
          <p:nvPr/>
        </p:nvSpPr>
        <p:spPr>
          <a:xfrm>
            <a:off x="10972800" y="109728"/>
            <a:ext cx="1005840" cy="201168"/>
          </a:xfrm>
          <a:prstGeom prst="rect">
            <a:avLst/>
          </a:prstGeom>
          <a:noFill/>
          <a:ln/>
        </p:spPr>
        <p:txBody>
          <a:bodyPr wrap="square" rtlCol="0" anchor="ctr"/>
          <a:lstStyle/>
          <a:p>
            <a:pPr algn="r" indent="0" marL="0">
              <a:buNone/>
            </a:pPr>
            <a:r>
              <a:rPr lang="en-US" sz="800" dirty="0">
                <a:solidFill>
                  <a:srgbClr val="888888"/>
                </a:solidFill>
                <a:latin typeface="Yu Gothic" pitchFamily="34" charset="0"/>
                <a:ea typeface="Yu Gothic" pitchFamily="34" charset="-122"/>
                <a:cs typeface="Yu Gothic" pitchFamily="34" charset="-120"/>
              </a:rPr>
              <a:t>10 / 11</a:t>
            </a:r>
            <a:endParaRPr lang="en-US" sz="800" dirty="0"/>
          </a:p>
        </p:txBody>
      </p:sp>
      <p:sp>
        <p:nvSpPr>
          <p:cNvPr id="5" name="Text 3"/>
          <p:cNvSpPr/>
          <p:nvPr/>
        </p:nvSpPr>
        <p:spPr>
          <a:xfrm>
            <a:off x="411480" y="137160"/>
            <a:ext cx="10424160" cy="457200"/>
          </a:xfrm>
          <a:prstGeom prst="rect">
            <a:avLst/>
          </a:prstGeom>
          <a:noFill/>
          <a:ln/>
        </p:spPr>
        <p:txBody>
          <a:bodyPr wrap="square" rtlCol="0" anchor="ctr"/>
          <a:lstStyle/>
          <a:p>
            <a:pPr algn="l" indent="0" marL="0">
              <a:buNone/>
            </a:pPr>
            <a:r>
              <a:rPr lang="en-US" sz="1600" b="1" dirty="0">
                <a:solidFill>
                  <a:srgbClr val="1B3A6B"/>
                </a:solidFill>
                <a:latin typeface="Yu Mincho" pitchFamily="34" charset="0"/>
                <a:ea typeface="Yu Mincho" pitchFamily="34" charset="-122"/>
                <a:cs typeface="Yu Mincho" pitchFamily="34" charset="-120"/>
              </a:rPr>
              <a:t>苦労した点 ── 仕様策定・API選定・スコープ管理</a:t>
            </a:r>
            <a:endParaRPr lang="en-US" sz="1600" dirty="0"/>
          </a:p>
        </p:txBody>
      </p:sp>
      <p:sp>
        <p:nvSpPr>
          <p:cNvPr id="6" name="Shape 4"/>
          <p:cNvSpPr/>
          <p:nvPr/>
        </p:nvSpPr>
        <p:spPr>
          <a:xfrm>
            <a:off x="411480" y="658368"/>
            <a:ext cx="11365992" cy="0"/>
          </a:xfrm>
          <a:prstGeom prst="line">
            <a:avLst/>
          </a:prstGeom>
          <a:noFill/>
          <a:ln w="9525">
            <a:solidFill>
              <a:srgbClr val="4A6FA5"/>
            </a:solidFill>
            <a:prstDash val="solid"/>
          </a:ln>
        </p:spPr>
      </p:sp>
      <p:sp>
        <p:nvSpPr>
          <p:cNvPr id="7" name="Text 5"/>
          <p:cNvSpPr/>
          <p:nvPr/>
        </p:nvSpPr>
        <p:spPr>
          <a:xfrm>
            <a:off x="365760" y="804672"/>
            <a:ext cx="11457432" cy="274320"/>
          </a:xfrm>
          <a:prstGeom prst="rect">
            <a:avLst/>
          </a:prstGeom>
          <a:noFill/>
          <a:ln/>
        </p:spPr>
        <p:txBody>
          <a:bodyPr wrap="square" rtlCol="0" anchor="ctr"/>
          <a:lstStyle/>
          <a:p>
            <a:pPr indent="0" marL="0">
              <a:buNone/>
            </a:pPr>
            <a:r>
              <a:rPr lang="en-US" sz="1100" dirty="0">
                <a:solidFill>
                  <a:srgbClr val="444444"/>
                </a:solidFill>
                <a:latin typeface="Yu Gothic" pitchFamily="34" charset="0"/>
                <a:ea typeface="Yu Gothic" pitchFamily="34" charset="-122"/>
                <a:cs typeface="Yu Gothic" pitchFamily="34" charset="-120"/>
              </a:rPr>
              <a:t>自分がクライアントの立場でChatGPTと相談しながら仕様書を策定したが、開発段階で想定外の壁に繰り返し直面した。</a:t>
            </a:r>
            <a:endParaRPr lang="en-US" sz="1100" dirty="0"/>
          </a:p>
        </p:txBody>
      </p:sp>
      <p:sp>
        <p:nvSpPr>
          <p:cNvPr id="8" name="Shape 6"/>
          <p:cNvSpPr/>
          <p:nvPr/>
        </p:nvSpPr>
        <p:spPr>
          <a:xfrm>
            <a:off x="365760" y="1170432"/>
            <a:ext cx="4754880" cy="2331720"/>
          </a:xfrm>
          <a:prstGeom prst="rect">
            <a:avLst/>
          </a:prstGeom>
          <a:solidFill>
            <a:srgbClr val="EEF2FA"/>
          </a:solidFill>
          <a:ln w="6350">
            <a:solidFill>
              <a:srgbClr val="C5D0E6"/>
            </a:solidFill>
            <a:prstDash val="solid"/>
          </a:ln>
        </p:spPr>
      </p:sp>
      <p:sp>
        <p:nvSpPr>
          <p:cNvPr id="9" name="Shape 7"/>
          <p:cNvSpPr/>
          <p:nvPr/>
        </p:nvSpPr>
        <p:spPr>
          <a:xfrm>
            <a:off x="365760" y="1170432"/>
            <a:ext cx="91440" cy="2331720"/>
          </a:xfrm>
          <a:prstGeom prst="rect">
            <a:avLst/>
          </a:prstGeom>
          <a:solidFill>
            <a:srgbClr val="2D5096"/>
          </a:solidFill>
          <a:ln/>
        </p:spPr>
      </p:sp>
      <p:sp>
        <p:nvSpPr>
          <p:cNvPr id="10" name="Text 8"/>
          <p:cNvSpPr/>
          <p:nvPr/>
        </p:nvSpPr>
        <p:spPr>
          <a:xfrm>
            <a:off x="566928" y="1261872"/>
            <a:ext cx="4480560" cy="329184"/>
          </a:xfrm>
          <a:prstGeom prst="rect">
            <a:avLst/>
          </a:prstGeom>
          <a:noFill/>
          <a:ln/>
        </p:spPr>
        <p:txBody>
          <a:bodyPr wrap="square" rtlCol="0" anchor="ctr"/>
          <a:lstStyle/>
          <a:p>
            <a:pPr indent="0" marL="0">
              <a:buNone/>
            </a:pPr>
            <a:r>
              <a:rPr lang="en-US" sz="1200" b="1" dirty="0">
                <a:solidFill>
                  <a:srgbClr val="1B3A6B"/>
                </a:solidFill>
                <a:latin typeface="Yu Mincho" pitchFamily="34" charset="0"/>
                <a:ea typeface="Yu Mincho" pitchFamily="34" charset="-122"/>
                <a:cs typeface="Yu Mincho" pitchFamily="34" charset="-120"/>
              </a:rPr>
              <a:t>仕様策定の工夫</a:t>
            </a:r>
            <a:endParaRPr lang="en-US" sz="1200" dirty="0"/>
          </a:p>
        </p:txBody>
      </p:sp>
      <p:sp>
        <p:nvSpPr>
          <p:cNvPr id="11" name="Shape 9"/>
          <p:cNvSpPr/>
          <p:nvPr/>
        </p:nvSpPr>
        <p:spPr>
          <a:xfrm>
            <a:off x="566928" y="1627632"/>
            <a:ext cx="4352544" cy="0"/>
          </a:xfrm>
          <a:prstGeom prst="line">
            <a:avLst/>
          </a:prstGeom>
          <a:noFill/>
          <a:ln w="6350">
            <a:solidFill>
              <a:srgbClr val="4A6FA5"/>
            </a:solidFill>
            <a:prstDash val="solid"/>
          </a:ln>
        </p:spPr>
      </p:sp>
      <p:sp>
        <p:nvSpPr>
          <p:cNvPr id="12" name="Text 10"/>
          <p:cNvSpPr/>
          <p:nvPr/>
        </p:nvSpPr>
        <p:spPr>
          <a:xfrm>
            <a:off x="566928" y="1719072"/>
            <a:ext cx="4352544" cy="169164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自分がクライアントの立場に立ち、ChatGPTと対話しながら仕様書を策定した。ユーザー視点で欲しい機能を洗い出し、技術要件に落とし込む作業を事前に行ったことで、開発の方向性がブレにくくなった。</a:t>
            </a:r>
            <a:endParaRPr lang="en-US" sz="1000" dirty="0"/>
          </a:p>
        </p:txBody>
      </p:sp>
      <p:sp>
        <p:nvSpPr>
          <p:cNvPr id="13" name="Shape 11"/>
          <p:cNvSpPr/>
          <p:nvPr/>
        </p:nvSpPr>
        <p:spPr>
          <a:xfrm>
            <a:off x="365760" y="3666744"/>
            <a:ext cx="4754880" cy="2788920"/>
          </a:xfrm>
          <a:prstGeom prst="rect">
            <a:avLst/>
          </a:prstGeom>
          <a:solidFill>
            <a:srgbClr val="EEF2FA"/>
          </a:solidFill>
          <a:ln w="6350">
            <a:solidFill>
              <a:srgbClr val="C5D0E6"/>
            </a:solidFill>
            <a:prstDash val="solid"/>
          </a:ln>
        </p:spPr>
      </p:sp>
      <p:sp>
        <p:nvSpPr>
          <p:cNvPr id="14" name="Shape 12"/>
          <p:cNvSpPr/>
          <p:nvPr/>
        </p:nvSpPr>
        <p:spPr>
          <a:xfrm>
            <a:off x="365760" y="3666744"/>
            <a:ext cx="91440" cy="2788920"/>
          </a:xfrm>
          <a:prstGeom prst="rect">
            <a:avLst/>
          </a:prstGeom>
          <a:solidFill>
            <a:srgbClr val="C8102E"/>
          </a:solidFill>
          <a:ln/>
        </p:spPr>
      </p:sp>
      <p:sp>
        <p:nvSpPr>
          <p:cNvPr id="15" name="Text 13"/>
          <p:cNvSpPr/>
          <p:nvPr/>
        </p:nvSpPr>
        <p:spPr>
          <a:xfrm>
            <a:off x="566928" y="3758184"/>
            <a:ext cx="4480560" cy="329184"/>
          </a:xfrm>
          <a:prstGeom prst="rect">
            <a:avLst/>
          </a:prstGeom>
          <a:noFill/>
          <a:ln/>
        </p:spPr>
        <p:txBody>
          <a:bodyPr wrap="square" rtlCol="0" anchor="ctr"/>
          <a:lstStyle/>
          <a:p>
            <a:pPr indent="0" marL="0">
              <a:buNone/>
            </a:pPr>
            <a:r>
              <a:rPr lang="en-US" sz="1200" b="1" dirty="0">
                <a:solidFill>
                  <a:srgbClr val="1B3A6B"/>
                </a:solidFill>
                <a:latin typeface="Yu Mincho" pitchFamily="34" charset="0"/>
                <a:ea typeface="Yu Mincho" pitchFamily="34" charset="-122"/>
                <a:cs typeface="Yu Mincho" pitchFamily="34" charset="-120"/>
              </a:rPr>
              <a:t>スコープクリープと反省点</a:t>
            </a:r>
            <a:endParaRPr lang="en-US" sz="1200" dirty="0"/>
          </a:p>
        </p:txBody>
      </p:sp>
      <p:sp>
        <p:nvSpPr>
          <p:cNvPr id="16" name="Shape 14"/>
          <p:cNvSpPr/>
          <p:nvPr/>
        </p:nvSpPr>
        <p:spPr>
          <a:xfrm>
            <a:off x="566928" y="4123944"/>
            <a:ext cx="4352544" cy="0"/>
          </a:xfrm>
          <a:prstGeom prst="line">
            <a:avLst/>
          </a:prstGeom>
          <a:noFill/>
          <a:ln w="6350">
            <a:solidFill>
              <a:srgbClr val="4A6FA5"/>
            </a:solidFill>
            <a:prstDash val="solid"/>
          </a:ln>
        </p:spPr>
      </p:sp>
      <p:sp>
        <p:nvSpPr>
          <p:cNvPr id="17" name="Text 15"/>
          <p:cNvSpPr/>
          <p:nvPr/>
        </p:nvSpPr>
        <p:spPr>
          <a:xfrm>
            <a:off x="566928" y="4215384"/>
            <a:ext cx="4352544" cy="2148840"/>
          </a:xfrm>
          <a:prstGeom prst="rect">
            <a:avLst/>
          </a:prstGeom>
          <a:noFill/>
          <a:ln/>
        </p:spPr>
        <p:txBody>
          <a:bodyPr wrap="square" rtlCol="0" anchor="ctr"/>
          <a:lstStyle/>
          <a:p>
            <a:pPr indent="0" marL="0">
              <a:buNone/>
            </a:pPr>
            <a:r>
              <a:rPr lang="en-US" sz="1000" dirty="0">
                <a:solidFill>
                  <a:srgbClr val="444444"/>
                </a:solidFill>
                <a:latin typeface="Yu Gothic" pitchFamily="34" charset="0"/>
                <a:ea typeface="Yu Gothic" pitchFamily="34" charset="-122"/>
                <a:cs typeface="Yu Gothic" pitchFamily="34" charset="-120"/>
              </a:rPr>
              <a:t>開発が進むにつれ「この機能も追加したい」が増え続け、当初の想定より完成が大幅に遅れた。仕様書の段階でMust / Want を厳密に切り分け、スコープを固めてから着手すべきだった。</a:t>
            </a:r>
            <a:endParaRPr lang="en-US" sz="1000" dirty="0"/>
          </a:p>
          <a:p>
            <a:pPr indent="0" marL="0">
              <a:buNone/>
            </a:pPr>
            <a:endParaRPr lang="en-US" sz="1000" dirty="0"/>
          </a:p>
          <a:p>
            <a:pPr indent="0" marL="0">
              <a:buNone/>
            </a:pPr>
            <a:r>
              <a:rPr lang="en-US" sz="1000" dirty="0">
                <a:solidFill>
                  <a:srgbClr val="444444"/>
                </a:solidFill>
                <a:latin typeface="Yu Gothic" pitchFamily="34" charset="0"/>
                <a:ea typeface="Yu Gothic" pitchFamily="34" charset="-122"/>
                <a:cs typeface="Yu Gothic" pitchFamily="34" charset="-120"/>
              </a:rPr>
              <a:t>また、使用するAPIの選定をAIの提案にそのまま従ってしまい、実際に試して初めて「無料枠の廃止」「CORS制約」「URLの有効期限」などの制約に気づくケースが多く、遠回りになった。設計段階で公式ドキュメントや利用規約を自分で調べてから採用を決めるべきだった。</a:t>
            </a:r>
            <a:endParaRPr lang="en-US" sz="1000" dirty="0"/>
          </a:p>
        </p:txBody>
      </p:sp>
      <p:sp>
        <p:nvSpPr>
          <p:cNvPr id="18" name="Shape 16"/>
          <p:cNvSpPr/>
          <p:nvPr/>
        </p:nvSpPr>
        <p:spPr>
          <a:xfrm>
            <a:off x="5303520" y="1170432"/>
            <a:ext cx="6492240" cy="5285232"/>
          </a:xfrm>
          <a:prstGeom prst="rect">
            <a:avLst/>
          </a:prstGeom>
          <a:solidFill>
            <a:srgbClr val="EEF2FA"/>
          </a:solidFill>
          <a:ln w="6350">
            <a:solidFill>
              <a:srgbClr val="C5D0E6"/>
            </a:solidFill>
            <a:prstDash val="solid"/>
          </a:ln>
        </p:spPr>
      </p:sp>
      <p:sp>
        <p:nvSpPr>
          <p:cNvPr id="19" name="Shape 17"/>
          <p:cNvSpPr/>
          <p:nvPr/>
        </p:nvSpPr>
        <p:spPr>
          <a:xfrm>
            <a:off x="5303520" y="1170432"/>
            <a:ext cx="91440" cy="5285232"/>
          </a:xfrm>
          <a:prstGeom prst="rect">
            <a:avLst/>
          </a:prstGeom>
          <a:solidFill>
            <a:srgbClr val="1B3A6B"/>
          </a:solidFill>
          <a:ln/>
        </p:spPr>
      </p:sp>
      <p:sp>
        <p:nvSpPr>
          <p:cNvPr id="20" name="Text 18"/>
          <p:cNvSpPr/>
          <p:nvPr/>
        </p:nvSpPr>
        <p:spPr>
          <a:xfrm>
            <a:off x="5504688" y="1261872"/>
            <a:ext cx="6217920" cy="347472"/>
          </a:xfrm>
          <a:prstGeom prst="rect">
            <a:avLst/>
          </a:prstGeom>
          <a:noFill/>
          <a:ln/>
        </p:spPr>
        <p:txBody>
          <a:bodyPr wrap="square" rtlCol="0" anchor="ctr"/>
          <a:lstStyle/>
          <a:p>
            <a:pPr indent="0" marL="0">
              <a:buNone/>
            </a:pPr>
            <a:r>
              <a:rPr lang="en-US" sz="1300" b="1" dirty="0">
                <a:solidFill>
                  <a:srgbClr val="1B3A6B"/>
                </a:solidFill>
                <a:latin typeface="Yu Mincho" pitchFamily="34" charset="0"/>
                <a:ea typeface="Yu Mincho" pitchFamily="34" charset="-122"/>
                <a:cs typeface="Yu Mincho" pitchFamily="34" charset="-120"/>
              </a:rPr>
              <a:t>API 選定の試行錯誤</a:t>
            </a:r>
            <a:endParaRPr lang="en-US" sz="1300" dirty="0"/>
          </a:p>
        </p:txBody>
      </p:sp>
      <p:sp>
        <p:nvSpPr>
          <p:cNvPr id="21" name="Text 19"/>
          <p:cNvSpPr/>
          <p:nvPr/>
        </p:nvSpPr>
        <p:spPr>
          <a:xfrm>
            <a:off x="5504688" y="1627632"/>
            <a:ext cx="6217920" cy="237744"/>
          </a:xfrm>
          <a:prstGeom prst="rect">
            <a:avLst/>
          </a:prstGeom>
          <a:noFill/>
          <a:ln/>
        </p:spPr>
        <p:txBody>
          <a:bodyPr wrap="square" rtlCol="0" anchor="ctr"/>
          <a:lstStyle/>
          <a:p>
            <a:pPr indent="0" marL="0">
              <a:buNone/>
            </a:pPr>
            <a:r>
              <a:rPr lang="en-US" sz="950" i="1" dirty="0">
                <a:solidFill>
                  <a:srgbClr val="444444"/>
                </a:solidFill>
                <a:latin typeface="Yu Gothic" pitchFamily="34" charset="0"/>
                <a:ea typeface="Yu Gothic" pitchFamily="34" charset="-122"/>
                <a:cs typeface="Yu Gothic" pitchFamily="34" charset="-120"/>
              </a:rPr>
              <a:t>当初想定したAPIが使えず、仕様を大幅に変更せざるをえなかった</a:t>
            </a:r>
            <a:endParaRPr lang="en-US" sz="950" dirty="0"/>
          </a:p>
        </p:txBody>
      </p:sp>
      <p:sp>
        <p:nvSpPr>
          <p:cNvPr id="22" name="Shape 20"/>
          <p:cNvSpPr/>
          <p:nvPr/>
        </p:nvSpPr>
        <p:spPr>
          <a:xfrm>
            <a:off x="5504688" y="1920240"/>
            <a:ext cx="6089904" cy="0"/>
          </a:xfrm>
          <a:prstGeom prst="line">
            <a:avLst/>
          </a:prstGeom>
          <a:noFill/>
          <a:ln w="6350">
            <a:solidFill>
              <a:srgbClr val="4A6FA5"/>
            </a:solidFill>
            <a:prstDash val="solid"/>
          </a:ln>
        </p:spPr>
      </p:sp>
      <p:sp>
        <p:nvSpPr>
          <p:cNvPr id="23" name="Shape 21"/>
          <p:cNvSpPr/>
          <p:nvPr/>
        </p:nvSpPr>
        <p:spPr>
          <a:xfrm>
            <a:off x="5504688" y="2048256"/>
            <a:ext cx="1737360" cy="219456"/>
          </a:xfrm>
          <a:prstGeom prst="rect">
            <a:avLst/>
          </a:prstGeom>
          <a:solidFill>
            <a:srgbClr val="2D5096"/>
          </a:solidFill>
          <a:ln/>
        </p:spPr>
      </p:sp>
      <p:sp>
        <p:nvSpPr>
          <p:cNvPr id="24" name="Text 22"/>
          <p:cNvSpPr/>
          <p:nvPr/>
        </p:nvSpPr>
        <p:spPr>
          <a:xfrm>
            <a:off x="5504688" y="2048256"/>
            <a:ext cx="1737360" cy="219456"/>
          </a:xfrm>
          <a:prstGeom prst="rect">
            <a:avLst/>
          </a:prstGeom>
          <a:noFill/>
          <a:ln/>
        </p:spPr>
        <p:txBody>
          <a:bodyPr wrap="square"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Spotify API</a:t>
            </a:r>
            <a:endParaRPr lang="en-US" sz="850" dirty="0"/>
          </a:p>
        </p:txBody>
      </p:sp>
      <p:sp>
        <p:nvSpPr>
          <p:cNvPr id="25" name="Text 23"/>
          <p:cNvSpPr/>
          <p:nvPr/>
        </p:nvSpPr>
        <p:spPr>
          <a:xfrm>
            <a:off x="7296912" y="2029968"/>
            <a:ext cx="256032" cy="256032"/>
          </a:xfrm>
          <a:prstGeom prst="rect">
            <a:avLst/>
          </a:prstGeom>
          <a:noFill/>
          <a:ln/>
        </p:spPr>
        <p:txBody>
          <a:bodyPr wrap="square" rtlCol="0" anchor="ctr"/>
          <a:lstStyle/>
          <a:p>
            <a:pPr indent="0" marL="0">
              <a:buNone/>
            </a:pPr>
            <a:r>
              <a:rPr lang="en-US" sz="1100" b="1" dirty="0">
                <a:solidFill>
                  <a:srgbClr val="1B3A6B"/>
                </a:solidFill>
                <a:latin typeface="Yu Gothic" pitchFamily="34" charset="0"/>
                <a:ea typeface="Yu Gothic" pitchFamily="34" charset="-122"/>
                <a:cs typeface="Yu Gothic" pitchFamily="34" charset="-120"/>
              </a:rPr>
              <a:t>→</a:t>
            </a:r>
            <a:endParaRPr lang="en-US" sz="1100" dirty="0"/>
          </a:p>
        </p:txBody>
      </p:sp>
      <p:sp>
        <p:nvSpPr>
          <p:cNvPr id="26" name="Text 24"/>
          <p:cNvSpPr/>
          <p:nvPr/>
        </p:nvSpPr>
        <p:spPr>
          <a:xfrm>
            <a:off x="7589520" y="2048256"/>
            <a:ext cx="4023360" cy="219456"/>
          </a:xfrm>
          <a:prstGeom prst="rect">
            <a:avLst/>
          </a:prstGeom>
          <a:noFill/>
          <a:ln/>
        </p:spPr>
        <p:txBody>
          <a:bodyPr wrap="square" rtlCol="0" anchor="ctr"/>
          <a:lstStyle/>
          <a:p>
            <a:pPr indent="0" marL="0">
              <a:buNone/>
            </a:pPr>
            <a:r>
              <a:rPr lang="en-US" sz="950" b="1" dirty="0">
                <a:solidFill>
                  <a:srgbClr val="1B3A6B"/>
                </a:solidFill>
                <a:latin typeface="Yu Gothic" pitchFamily="34" charset="0"/>
                <a:ea typeface="Yu Gothic" pitchFamily="34" charset="-122"/>
                <a:cs typeface="Yu Gothic" pitchFamily="34" charset="-120"/>
              </a:rPr>
              <a:t>iTunes + Deezer へ切替</a:t>
            </a:r>
            <a:endParaRPr lang="en-US" sz="950" dirty="0"/>
          </a:p>
        </p:txBody>
      </p:sp>
      <p:sp>
        <p:nvSpPr>
          <p:cNvPr id="27" name="Text 25"/>
          <p:cNvSpPr/>
          <p:nvPr/>
        </p:nvSpPr>
        <p:spPr>
          <a:xfrm>
            <a:off x="5504688" y="2304288"/>
            <a:ext cx="6089904" cy="749808"/>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Spotify APIで楽曲検索・BPM取得を想定していたが、無料枠が廃止されており利用不可だった。認証不要のiTunes Search APIへ移行し、BPM補完はDeezer APIで対応する構成に変更した。</a:t>
            </a:r>
            <a:endParaRPr lang="en-US" sz="900" dirty="0"/>
          </a:p>
        </p:txBody>
      </p:sp>
      <p:sp>
        <p:nvSpPr>
          <p:cNvPr id="28" name="Shape 26"/>
          <p:cNvSpPr/>
          <p:nvPr/>
        </p:nvSpPr>
        <p:spPr>
          <a:xfrm>
            <a:off x="5504688" y="3145536"/>
            <a:ext cx="1737360" cy="219456"/>
          </a:xfrm>
          <a:prstGeom prst="rect">
            <a:avLst/>
          </a:prstGeom>
          <a:solidFill>
            <a:srgbClr val="2D5096"/>
          </a:solidFill>
          <a:ln/>
        </p:spPr>
      </p:sp>
      <p:sp>
        <p:nvSpPr>
          <p:cNvPr id="29" name="Text 27"/>
          <p:cNvSpPr/>
          <p:nvPr/>
        </p:nvSpPr>
        <p:spPr>
          <a:xfrm>
            <a:off x="5504688" y="3145536"/>
            <a:ext cx="1737360" cy="219456"/>
          </a:xfrm>
          <a:prstGeom prst="rect">
            <a:avLst/>
          </a:prstGeom>
          <a:noFill/>
          <a:ln/>
        </p:spPr>
        <p:txBody>
          <a:bodyPr wrap="square"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BPM解析API</a:t>
            </a:r>
            <a:endParaRPr lang="en-US" sz="850" dirty="0"/>
          </a:p>
        </p:txBody>
      </p:sp>
      <p:sp>
        <p:nvSpPr>
          <p:cNvPr id="30" name="Text 28"/>
          <p:cNvSpPr/>
          <p:nvPr/>
        </p:nvSpPr>
        <p:spPr>
          <a:xfrm>
            <a:off x="7296912" y="3127248"/>
            <a:ext cx="256032" cy="256032"/>
          </a:xfrm>
          <a:prstGeom prst="rect">
            <a:avLst/>
          </a:prstGeom>
          <a:noFill/>
          <a:ln/>
        </p:spPr>
        <p:txBody>
          <a:bodyPr wrap="square" rtlCol="0" anchor="ctr"/>
          <a:lstStyle/>
          <a:p>
            <a:pPr indent="0" marL="0">
              <a:buNone/>
            </a:pPr>
            <a:r>
              <a:rPr lang="en-US" sz="1100" b="1" dirty="0">
                <a:solidFill>
                  <a:srgbClr val="1B3A6B"/>
                </a:solidFill>
                <a:latin typeface="Yu Gothic" pitchFamily="34" charset="0"/>
                <a:ea typeface="Yu Gothic" pitchFamily="34" charset="-122"/>
                <a:cs typeface="Yu Gothic" pitchFamily="34" charset="-120"/>
              </a:rPr>
              <a:t>→</a:t>
            </a:r>
            <a:endParaRPr lang="en-US" sz="1100" dirty="0"/>
          </a:p>
        </p:txBody>
      </p:sp>
      <p:sp>
        <p:nvSpPr>
          <p:cNvPr id="31" name="Text 29"/>
          <p:cNvSpPr/>
          <p:nvPr/>
        </p:nvSpPr>
        <p:spPr>
          <a:xfrm>
            <a:off x="7589520" y="3145536"/>
            <a:ext cx="4023360" cy="219456"/>
          </a:xfrm>
          <a:prstGeom prst="rect">
            <a:avLst/>
          </a:prstGeom>
          <a:noFill/>
          <a:ln/>
        </p:spPr>
        <p:txBody>
          <a:bodyPr wrap="square" rtlCol="0" anchor="ctr"/>
          <a:lstStyle/>
          <a:p>
            <a:pPr indent="0" marL="0">
              <a:buNone/>
            </a:pPr>
            <a:r>
              <a:rPr lang="en-US" sz="950" b="1" dirty="0">
                <a:solidFill>
                  <a:srgbClr val="1B3A6B"/>
                </a:solidFill>
                <a:latin typeface="Yu Gothic" pitchFamily="34" charset="0"/>
                <a:ea typeface="Yu Gothic" pitchFamily="34" charset="-122"/>
                <a:cs typeface="Yu Gothic" pitchFamily="34" charset="-120"/>
              </a:rPr>
              <a:t>Gemini API による推定に変更</a:t>
            </a:r>
            <a:endParaRPr lang="en-US" sz="950" dirty="0"/>
          </a:p>
        </p:txBody>
      </p:sp>
      <p:sp>
        <p:nvSpPr>
          <p:cNvPr id="32" name="Text 30"/>
          <p:cNvSpPr/>
          <p:nvPr/>
        </p:nvSpPr>
        <p:spPr>
          <a:xfrm>
            <a:off x="5504688" y="3401568"/>
            <a:ext cx="6089904" cy="749808"/>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既存のBPM解析サービスを試したが対応楽曲数が少なく精度も不十分だった。GeminiにBPM・キー・エネルギー値の推定を委ねる方針に切替え、結果をキャッシュして呼び出しを最小化した。</a:t>
            </a:r>
            <a:endParaRPr lang="en-US" sz="900" dirty="0"/>
          </a:p>
        </p:txBody>
      </p:sp>
      <p:sp>
        <p:nvSpPr>
          <p:cNvPr id="33" name="Shape 31"/>
          <p:cNvSpPr/>
          <p:nvPr/>
        </p:nvSpPr>
        <p:spPr>
          <a:xfrm>
            <a:off x="5504688" y="4242816"/>
            <a:ext cx="1737360" cy="219456"/>
          </a:xfrm>
          <a:prstGeom prst="rect">
            <a:avLst/>
          </a:prstGeom>
          <a:solidFill>
            <a:srgbClr val="2D5096"/>
          </a:solidFill>
          <a:ln/>
        </p:spPr>
      </p:sp>
      <p:sp>
        <p:nvSpPr>
          <p:cNvPr id="34" name="Text 32"/>
          <p:cNvSpPr/>
          <p:nvPr/>
        </p:nvSpPr>
        <p:spPr>
          <a:xfrm>
            <a:off x="5504688" y="4242816"/>
            <a:ext cx="1737360" cy="219456"/>
          </a:xfrm>
          <a:prstGeom prst="rect">
            <a:avLst/>
          </a:prstGeom>
          <a:noFill/>
          <a:ln/>
        </p:spPr>
        <p:txBody>
          <a:bodyPr wrap="square"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プレビュー再生</a:t>
            </a:r>
            <a:endParaRPr lang="en-US" sz="850" dirty="0"/>
          </a:p>
        </p:txBody>
      </p:sp>
      <p:sp>
        <p:nvSpPr>
          <p:cNvPr id="35" name="Text 33"/>
          <p:cNvSpPr/>
          <p:nvPr/>
        </p:nvSpPr>
        <p:spPr>
          <a:xfrm>
            <a:off x="7296912" y="4224528"/>
            <a:ext cx="256032" cy="256032"/>
          </a:xfrm>
          <a:prstGeom prst="rect">
            <a:avLst/>
          </a:prstGeom>
          <a:noFill/>
          <a:ln/>
        </p:spPr>
        <p:txBody>
          <a:bodyPr wrap="square" rtlCol="0" anchor="ctr"/>
          <a:lstStyle/>
          <a:p>
            <a:pPr indent="0" marL="0">
              <a:buNone/>
            </a:pPr>
            <a:r>
              <a:rPr lang="en-US" sz="1100" b="1" dirty="0">
                <a:solidFill>
                  <a:srgbClr val="1B3A6B"/>
                </a:solidFill>
                <a:latin typeface="Yu Gothic" pitchFamily="34" charset="0"/>
                <a:ea typeface="Yu Gothic" pitchFamily="34" charset="-122"/>
                <a:cs typeface="Yu Gothic" pitchFamily="34" charset="-120"/>
              </a:rPr>
              <a:t>→</a:t>
            </a:r>
            <a:endParaRPr lang="en-US" sz="1100" dirty="0"/>
          </a:p>
        </p:txBody>
      </p:sp>
      <p:sp>
        <p:nvSpPr>
          <p:cNvPr id="36" name="Text 34"/>
          <p:cNvSpPr/>
          <p:nvPr/>
        </p:nvSpPr>
        <p:spPr>
          <a:xfrm>
            <a:off x="7589520" y="4242816"/>
            <a:ext cx="4023360" cy="219456"/>
          </a:xfrm>
          <a:prstGeom prst="rect">
            <a:avLst/>
          </a:prstGeom>
          <a:noFill/>
          <a:ln/>
        </p:spPr>
        <p:txBody>
          <a:bodyPr wrap="square" rtlCol="0" anchor="ctr"/>
          <a:lstStyle/>
          <a:p>
            <a:pPr indent="0" marL="0">
              <a:buNone/>
            </a:pPr>
            <a:r>
              <a:rPr lang="en-US" sz="950" b="1" dirty="0">
                <a:solidFill>
                  <a:srgbClr val="1B3A6B"/>
                </a:solidFill>
                <a:latin typeface="Yu Gothic" pitchFamily="34" charset="0"/>
                <a:ea typeface="Yu Gothic" pitchFamily="34" charset="-122"/>
                <a:cs typeface="Yu Gothic" pitchFamily="34" charset="-120"/>
              </a:rPr>
              <a:t>iTunes + Deezer のフォールバック構成</a:t>
            </a:r>
            <a:endParaRPr lang="en-US" sz="950" dirty="0"/>
          </a:p>
        </p:txBody>
      </p:sp>
      <p:sp>
        <p:nvSpPr>
          <p:cNvPr id="37" name="Text 35"/>
          <p:cNvSpPr/>
          <p:nvPr/>
        </p:nvSpPr>
        <p:spPr>
          <a:xfrm>
            <a:off x="5504688" y="4498848"/>
            <a:ext cx="6089904" cy="749808"/>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iTunesのpreviewUrlをプライマリとして使用。URLが期限切れで再生失敗した場合は、再生ボタン押下時にサーバー経由でDeezer APIから最新URLを取得するフォールバック設計を追加実装した。</a:t>
            </a:r>
            <a:endParaRPr lang="en-US" sz="900" dirty="0"/>
          </a:p>
        </p:txBody>
      </p:sp>
      <p:sp>
        <p:nvSpPr>
          <p:cNvPr id="38" name="Shape 36"/>
          <p:cNvSpPr/>
          <p:nvPr/>
        </p:nvSpPr>
        <p:spPr>
          <a:xfrm>
            <a:off x="5504688" y="5340096"/>
            <a:ext cx="1737360" cy="219456"/>
          </a:xfrm>
          <a:prstGeom prst="rect">
            <a:avLst/>
          </a:prstGeom>
          <a:solidFill>
            <a:srgbClr val="2D5096"/>
          </a:solidFill>
          <a:ln/>
        </p:spPr>
      </p:sp>
      <p:sp>
        <p:nvSpPr>
          <p:cNvPr id="39" name="Text 37"/>
          <p:cNvSpPr/>
          <p:nvPr/>
        </p:nvSpPr>
        <p:spPr>
          <a:xfrm>
            <a:off x="5504688" y="5340096"/>
            <a:ext cx="1737360" cy="219456"/>
          </a:xfrm>
          <a:prstGeom prst="rect">
            <a:avLst/>
          </a:prstGeom>
          <a:noFill/>
          <a:ln/>
        </p:spPr>
        <p:txBody>
          <a:bodyPr wrap="square" rtlCol="0" anchor="ctr"/>
          <a:lstStyle/>
          <a:p>
            <a:pPr algn="ctr" indent="0" marL="0">
              <a:buNone/>
            </a:pPr>
            <a:r>
              <a:rPr lang="en-US" sz="850" b="1" dirty="0">
                <a:solidFill>
                  <a:srgbClr val="FFFFFF"/>
                </a:solidFill>
                <a:latin typeface="Yu Gothic" pitchFamily="34" charset="0"/>
                <a:ea typeface="Yu Gothic" pitchFamily="34" charset="-122"/>
                <a:cs typeface="Yu Gothic" pitchFamily="34" charset="-120"/>
              </a:rPr>
              <a:t>Gemini モデル選定</a:t>
            </a:r>
            <a:endParaRPr lang="en-US" sz="850" dirty="0"/>
          </a:p>
        </p:txBody>
      </p:sp>
      <p:sp>
        <p:nvSpPr>
          <p:cNvPr id="40" name="Text 38"/>
          <p:cNvSpPr/>
          <p:nvPr/>
        </p:nvSpPr>
        <p:spPr>
          <a:xfrm>
            <a:off x="7296912" y="5321808"/>
            <a:ext cx="256032" cy="256032"/>
          </a:xfrm>
          <a:prstGeom prst="rect">
            <a:avLst/>
          </a:prstGeom>
          <a:noFill/>
          <a:ln/>
        </p:spPr>
        <p:txBody>
          <a:bodyPr wrap="square" rtlCol="0" anchor="ctr"/>
          <a:lstStyle/>
          <a:p>
            <a:pPr indent="0" marL="0">
              <a:buNone/>
            </a:pPr>
            <a:r>
              <a:rPr lang="en-US" sz="1100" b="1" dirty="0">
                <a:solidFill>
                  <a:srgbClr val="1B3A6B"/>
                </a:solidFill>
                <a:latin typeface="Yu Gothic" pitchFamily="34" charset="0"/>
                <a:ea typeface="Yu Gothic" pitchFamily="34" charset="-122"/>
                <a:cs typeface="Yu Gothic" pitchFamily="34" charset="-120"/>
              </a:rPr>
              <a:t>→</a:t>
            </a:r>
            <a:endParaRPr lang="en-US" sz="1100" dirty="0"/>
          </a:p>
        </p:txBody>
      </p:sp>
      <p:sp>
        <p:nvSpPr>
          <p:cNvPr id="41" name="Text 39"/>
          <p:cNvSpPr/>
          <p:nvPr/>
        </p:nvSpPr>
        <p:spPr>
          <a:xfrm>
            <a:off x="7589520" y="5340096"/>
            <a:ext cx="4023360" cy="219456"/>
          </a:xfrm>
          <a:prstGeom prst="rect">
            <a:avLst/>
          </a:prstGeom>
          <a:noFill/>
          <a:ln/>
        </p:spPr>
        <p:txBody>
          <a:bodyPr wrap="square" rtlCol="0" anchor="ctr"/>
          <a:lstStyle/>
          <a:p>
            <a:pPr indent="0" marL="0">
              <a:buNone/>
            </a:pPr>
            <a:r>
              <a:rPr lang="en-US" sz="950" b="1" dirty="0">
                <a:solidFill>
                  <a:srgbClr val="1B3A6B"/>
                </a:solidFill>
                <a:latin typeface="Yu Gothic" pitchFamily="34" charset="0"/>
                <a:ea typeface="Yu Gothic" pitchFamily="34" charset="-122"/>
                <a:cs typeface="Yu Gothic" pitchFamily="34" charset="-120"/>
              </a:rPr>
              <a:t>アプリ要件に合うモデルを複数検証して採用</a:t>
            </a:r>
            <a:endParaRPr lang="en-US" sz="950" dirty="0"/>
          </a:p>
        </p:txBody>
      </p:sp>
      <p:sp>
        <p:nvSpPr>
          <p:cNvPr id="42" name="Text 40"/>
          <p:cNvSpPr/>
          <p:nvPr/>
        </p:nvSpPr>
        <p:spPr>
          <a:xfrm>
            <a:off x="5504688" y="5596128"/>
            <a:ext cx="6089904" cy="749808"/>
          </a:xfrm>
          <a:prstGeom prst="rect">
            <a:avLst/>
          </a:prstGeom>
          <a:noFill/>
          <a:ln/>
        </p:spPr>
        <p:txBody>
          <a:bodyPr wrap="square" rtlCol="0" anchor="ctr"/>
          <a:lstStyle/>
          <a:p>
            <a:pPr indent="0" marL="0">
              <a:buNone/>
            </a:pPr>
            <a:r>
              <a:rPr lang="en-US" sz="900" dirty="0">
                <a:solidFill>
                  <a:srgbClr val="444444"/>
                </a:solidFill>
                <a:latin typeface="Yu Gothic" pitchFamily="34" charset="0"/>
                <a:ea typeface="Yu Gothic" pitchFamily="34" charset="-122"/>
                <a:cs typeface="Yu Gothic" pitchFamily="34" charset="-120"/>
              </a:rPr>
              <a:t>日英両対応・長文出力・低レイテンシという要件を複数モデルで検証した。精度・速度・無料枠のトレードオフを考慮し、最終的にgemini-3.1-flash-lite-previewを選定するまで試行錯誤が必要だった。</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FFFFFF"/>
          </a:solidFill>
          <a:ln/>
        </p:spPr>
      </p:sp>
      <p:sp>
        <p:nvSpPr>
          <p:cNvPr id="3" name="Shape 1"/>
          <p:cNvSpPr/>
          <p:nvPr/>
        </p:nvSpPr>
        <p:spPr>
          <a:xfrm>
            <a:off x="0" y="0"/>
            <a:ext cx="12188952" cy="73152"/>
          </a:xfrm>
          <a:prstGeom prst="rect">
            <a:avLst/>
          </a:prstGeom>
          <a:solidFill>
            <a:srgbClr val="1B3A6B"/>
          </a:solidFill>
          <a:ln/>
        </p:spPr>
      </p:sp>
      <p:sp>
        <p:nvSpPr>
          <p:cNvPr id="4" name="Text 2"/>
          <p:cNvSpPr/>
          <p:nvPr/>
        </p:nvSpPr>
        <p:spPr>
          <a:xfrm>
            <a:off x="10972800" y="109728"/>
            <a:ext cx="1005840" cy="201168"/>
          </a:xfrm>
          <a:prstGeom prst="rect">
            <a:avLst/>
          </a:prstGeom>
          <a:noFill/>
          <a:ln/>
        </p:spPr>
        <p:txBody>
          <a:bodyPr wrap="square" rtlCol="0" anchor="ctr"/>
          <a:lstStyle/>
          <a:p>
            <a:pPr algn="r" indent="0" marL="0">
              <a:buNone/>
            </a:pPr>
            <a:r>
              <a:rPr lang="en-US" sz="800" dirty="0">
                <a:solidFill>
                  <a:srgbClr val="888888"/>
                </a:solidFill>
                <a:latin typeface="Yu Gothic" pitchFamily="34" charset="0"/>
                <a:ea typeface="Yu Gothic" pitchFamily="34" charset="-122"/>
                <a:cs typeface="Yu Gothic" pitchFamily="34" charset="-120"/>
              </a:rPr>
              <a:t>11 / 11</a:t>
            </a:r>
            <a:endParaRPr lang="en-US" sz="800" dirty="0"/>
          </a:p>
        </p:txBody>
      </p:sp>
      <p:sp>
        <p:nvSpPr>
          <p:cNvPr id="5" name="Text 3"/>
          <p:cNvSpPr/>
          <p:nvPr/>
        </p:nvSpPr>
        <p:spPr>
          <a:xfrm>
            <a:off x="411480" y="137160"/>
            <a:ext cx="10424160" cy="457200"/>
          </a:xfrm>
          <a:prstGeom prst="rect">
            <a:avLst/>
          </a:prstGeom>
          <a:noFill/>
          <a:ln/>
        </p:spPr>
        <p:txBody>
          <a:bodyPr wrap="square" rtlCol="0" anchor="ctr"/>
          <a:lstStyle/>
          <a:p>
            <a:pPr algn="l" indent="0" marL="0">
              <a:buNone/>
            </a:pPr>
            <a:r>
              <a:rPr lang="en-US" sz="1600" b="1" dirty="0">
                <a:solidFill>
                  <a:srgbClr val="1B3A6B"/>
                </a:solidFill>
                <a:latin typeface="Yu Mincho" pitchFamily="34" charset="0"/>
                <a:ea typeface="Yu Mincho" pitchFamily="34" charset="-122"/>
                <a:cs typeface="Yu Mincho" pitchFamily="34" charset="-120"/>
              </a:rPr>
              <a:t>まとめ</a:t>
            </a:r>
            <a:endParaRPr lang="en-US" sz="1600" dirty="0"/>
          </a:p>
        </p:txBody>
      </p:sp>
      <p:sp>
        <p:nvSpPr>
          <p:cNvPr id="6" name="Shape 4"/>
          <p:cNvSpPr/>
          <p:nvPr/>
        </p:nvSpPr>
        <p:spPr>
          <a:xfrm>
            <a:off x="411480" y="658368"/>
            <a:ext cx="11365992" cy="0"/>
          </a:xfrm>
          <a:prstGeom prst="line">
            <a:avLst/>
          </a:prstGeom>
          <a:noFill/>
          <a:ln w="9525">
            <a:solidFill>
              <a:srgbClr val="4A6FA5"/>
            </a:solidFill>
            <a:prstDash val="solid"/>
          </a:ln>
        </p:spPr>
      </p:sp>
      <p:sp>
        <p:nvSpPr>
          <p:cNvPr id="7" name="Shape 5"/>
          <p:cNvSpPr/>
          <p:nvPr/>
        </p:nvSpPr>
        <p:spPr>
          <a:xfrm>
            <a:off x="411480" y="1682496"/>
            <a:ext cx="11365992" cy="292608"/>
          </a:xfrm>
          <a:prstGeom prst="rect">
            <a:avLst/>
          </a:prstGeom>
          <a:solidFill>
            <a:srgbClr val="DDE4F2"/>
          </a:solidFill>
          <a:ln w="6350">
            <a:solidFill>
              <a:srgbClr val="4A6FA5"/>
            </a:solidFill>
            <a:prstDash val="solid"/>
          </a:ln>
        </p:spPr>
      </p:sp>
      <p:sp>
        <p:nvSpPr>
          <p:cNvPr id="8" name="Text 6"/>
          <p:cNvSpPr/>
          <p:nvPr/>
        </p:nvSpPr>
        <p:spPr>
          <a:xfrm>
            <a:off x="548640" y="1682496"/>
            <a:ext cx="3657600" cy="292608"/>
          </a:xfrm>
          <a:prstGeom prst="rect">
            <a:avLst/>
          </a:prstGeom>
          <a:noFill/>
          <a:ln/>
        </p:spPr>
        <p:txBody>
          <a:bodyPr wrap="square" rtlCol="0" anchor="ctr"/>
          <a:lstStyle/>
          <a:p>
            <a:pPr indent="0" marL="0">
              <a:buNone/>
            </a:pPr>
            <a:r>
              <a:rPr lang="en-US" sz="1200" b="1" dirty="0">
                <a:solidFill>
                  <a:srgbClr val="1B3A6B"/>
                </a:solidFill>
                <a:latin typeface="Yu Mincho" pitchFamily="34" charset="0"/>
                <a:ea typeface="Yu Mincho" pitchFamily="34" charset="-122"/>
                <a:cs typeface="Yu Mincho" pitchFamily="34" charset="-120"/>
              </a:rPr>
              <a:t>今回の気づき</a:t>
            </a:r>
            <a:endParaRPr lang="en-US" sz="1200" dirty="0"/>
          </a:p>
        </p:txBody>
      </p:sp>
      <p:sp>
        <p:nvSpPr>
          <p:cNvPr id="9" name="Shape 7"/>
          <p:cNvSpPr/>
          <p:nvPr/>
        </p:nvSpPr>
        <p:spPr>
          <a:xfrm>
            <a:off x="411480" y="2112264"/>
            <a:ext cx="3666744" cy="3931920"/>
          </a:xfrm>
          <a:prstGeom prst="rect">
            <a:avLst/>
          </a:prstGeom>
          <a:solidFill>
            <a:srgbClr val="EEF2FA"/>
          </a:solidFill>
          <a:ln w="6350">
            <a:solidFill>
              <a:srgbClr val="C5D0E6"/>
            </a:solidFill>
            <a:prstDash val="solid"/>
          </a:ln>
        </p:spPr>
      </p:sp>
      <p:sp>
        <p:nvSpPr>
          <p:cNvPr id="10" name="Shape 8"/>
          <p:cNvSpPr/>
          <p:nvPr/>
        </p:nvSpPr>
        <p:spPr>
          <a:xfrm>
            <a:off x="411480" y="2112264"/>
            <a:ext cx="3666744" cy="73152"/>
          </a:xfrm>
          <a:prstGeom prst="rect">
            <a:avLst/>
          </a:prstGeom>
          <a:solidFill>
            <a:srgbClr val="2D5096"/>
          </a:solidFill>
          <a:ln/>
        </p:spPr>
      </p:sp>
      <p:sp>
        <p:nvSpPr>
          <p:cNvPr id="11" name="Text 9"/>
          <p:cNvSpPr/>
          <p:nvPr/>
        </p:nvSpPr>
        <p:spPr>
          <a:xfrm>
            <a:off x="576072" y="2258568"/>
            <a:ext cx="3374136" cy="548640"/>
          </a:xfrm>
          <a:prstGeom prst="rect">
            <a:avLst/>
          </a:prstGeom>
          <a:noFill/>
          <a:ln/>
        </p:spPr>
        <p:txBody>
          <a:bodyPr wrap="square" rtlCol="0" anchor="ctr"/>
          <a:lstStyle/>
          <a:p>
            <a:pPr indent="0" marL="0">
              <a:buNone/>
            </a:pPr>
            <a:r>
              <a:rPr lang="en-US" sz="1200" b="1" dirty="0">
                <a:solidFill>
                  <a:srgbClr val="1B3A6B"/>
                </a:solidFill>
                <a:latin typeface="Yu Mincho" pitchFamily="34" charset="0"/>
                <a:ea typeface="Yu Mincho" pitchFamily="34" charset="-122"/>
                <a:cs typeface="Yu Mincho" pitchFamily="34" charset="-120"/>
              </a:rPr>
              <a:t>①  AIは実装を加速させるが、設計の判断は人間が持つべき</a:t>
            </a:r>
            <a:endParaRPr lang="en-US" sz="1200" dirty="0"/>
          </a:p>
        </p:txBody>
      </p:sp>
      <p:sp>
        <p:nvSpPr>
          <p:cNvPr id="12" name="Shape 10"/>
          <p:cNvSpPr/>
          <p:nvPr/>
        </p:nvSpPr>
        <p:spPr>
          <a:xfrm>
            <a:off x="576072" y="2880360"/>
            <a:ext cx="3337560" cy="0"/>
          </a:xfrm>
          <a:prstGeom prst="line">
            <a:avLst/>
          </a:prstGeom>
          <a:noFill/>
          <a:ln w="5080">
            <a:solidFill>
              <a:srgbClr val="C5D0E6"/>
            </a:solidFill>
            <a:prstDash val="solid"/>
          </a:ln>
        </p:spPr>
      </p:sp>
      <p:sp>
        <p:nvSpPr>
          <p:cNvPr id="13" name="Text 11"/>
          <p:cNvSpPr/>
          <p:nvPr/>
        </p:nvSpPr>
        <p:spPr>
          <a:xfrm>
            <a:off x="576072" y="2990088"/>
            <a:ext cx="3374136" cy="2944368"/>
          </a:xfrm>
          <a:prstGeom prst="rect">
            <a:avLst/>
          </a:prstGeom>
          <a:noFill/>
          <a:ln/>
        </p:spPr>
        <p:txBody>
          <a:bodyPr wrap="square" rtlCol="0" anchor="ctr"/>
          <a:lstStyle/>
          <a:p>
            <a:pPr indent="0" marL="0">
              <a:lnSpc>
                <a:spcPct val="130000"/>
              </a:lnSpc>
              <a:buNone/>
            </a:pPr>
            <a:r>
              <a:rPr lang="en-US" sz="1100" dirty="0">
                <a:solidFill>
                  <a:srgbClr val="444444"/>
                </a:solidFill>
                <a:latin typeface="Yu Gothic" pitchFamily="34" charset="0"/>
                <a:ea typeface="Yu Gothic" pitchFamily="34" charset="-122"/>
                <a:cs typeface="Yu Gothic" pitchFamily="34" charset="-120"/>
              </a:rPr>
              <a:t>Claude Code でコード生成・デバッグ・診断が驚くほど速く進んだ。一方、API選定などをAIにまかせると制約に気づくのが遅れ手戻りが生じた。AIは「手を動かす道具」、判断は自分でする、という役割分担を体で学んだ。</a:t>
            </a:r>
            <a:endParaRPr lang="en-US" sz="1100" dirty="0"/>
          </a:p>
        </p:txBody>
      </p:sp>
      <p:sp>
        <p:nvSpPr>
          <p:cNvPr id="14" name="Shape 12"/>
          <p:cNvSpPr/>
          <p:nvPr/>
        </p:nvSpPr>
        <p:spPr>
          <a:xfrm>
            <a:off x="4261104" y="2112264"/>
            <a:ext cx="3666744" cy="3931920"/>
          </a:xfrm>
          <a:prstGeom prst="rect">
            <a:avLst/>
          </a:prstGeom>
          <a:solidFill>
            <a:srgbClr val="EEF2FA"/>
          </a:solidFill>
          <a:ln w="6350">
            <a:solidFill>
              <a:srgbClr val="C5D0E6"/>
            </a:solidFill>
            <a:prstDash val="solid"/>
          </a:ln>
        </p:spPr>
      </p:sp>
      <p:sp>
        <p:nvSpPr>
          <p:cNvPr id="15" name="Shape 13"/>
          <p:cNvSpPr/>
          <p:nvPr/>
        </p:nvSpPr>
        <p:spPr>
          <a:xfrm>
            <a:off x="4261104" y="2112264"/>
            <a:ext cx="3666744" cy="73152"/>
          </a:xfrm>
          <a:prstGeom prst="rect">
            <a:avLst/>
          </a:prstGeom>
          <a:solidFill>
            <a:srgbClr val="2D5096"/>
          </a:solidFill>
          <a:ln/>
        </p:spPr>
      </p:sp>
      <p:sp>
        <p:nvSpPr>
          <p:cNvPr id="16" name="Text 14"/>
          <p:cNvSpPr/>
          <p:nvPr/>
        </p:nvSpPr>
        <p:spPr>
          <a:xfrm>
            <a:off x="4425696" y="2258568"/>
            <a:ext cx="3374136" cy="548640"/>
          </a:xfrm>
          <a:prstGeom prst="rect">
            <a:avLst/>
          </a:prstGeom>
          <a:noFill/>
          <a:ln/>
        </p:spPr>
        <p:txBody>
          <a:bodyPr wrap="square" rtlCol="0" anchor="ctr"/>
          <a:lstStyle/>
          <a:p>
            <a:pPr indent="0" marL="0">
              <a:buNone/>
            </a:pPr>
            <a:r>
              <a:rPr lang="en-US" sz="1200" b="1" dirty="0">
                <a:solidFill>
                  <a:srgbClr val="1B3A6B"/>
                </a:solidFill>
                <a:latin typeface="Yu Mincho" pitchFamily="34" charset="0"/>
                <a:ea typeface="Yu Mincho" pitchFamily="34" charset="-122"/>
                <a:cs typeface="Yu Mincho" pitchFamily="34" charset="-120"/>
              </a:rPr>
              <a:t>②  授業では習わなかった領域を実践で習得した</a:t>
            </a:r>
            <a:endParaRPr lang="en-US" sz="1200" dirty="0"/>
          </a:p>
        </p:txBody>
      </p:sp>
      <p:sp>
        <p:nvSpPr>
          <p:cNvPr id="17" name="Shape 15"/>
          <p:cNvSpPr/>
          <p:nvPr/>
        </p:nvSpPr>
        <p:spPr>
          <a:xfrm>
            <a:off x="4425696" y="2880360"/>
            <a:ext cx="3337560" cy="0"/>
          </a:xfrm>
          <a:prstGeom prst="line">
            <a:avLst/>
          </a:prstGeom>
          <a:noFill/>
          <a:ln w="5080">
            <a:solidFill>
              <a:srgbClr val="C5D0E6"/>
            </a:solidFill>
            <a:prstDash val="solid"/>
          </a:ln>
        </p:spPr>
      </p:sp>
      <p:sp>
        <p:nvSpPr>
          <p:cNvPr id="18" name="Text 16"/>
          <p:cNvSpPr/>
          <p:nvPr/>
        </p:nvSpPr>
        <p:spPr>
          <a:xfrm>
            <a:off x="4425696" y="2990088"/>
            <a:ext cx="3374136" cy="2944368"/>
          </a:xfrm>
          <a:prstGeom prst="rect">
            <a:avLst/>
          </a:prstGeom>
          <a:noFill/>
          <a:ln/>
        </p:spPr>
        <p:txBody>
          <a:bodyPr wrap="square" rtlCol="0" anchor="ctr"/>
          <a:lstStyle/>
          <a:p>
            <a:pPr indent="0" marL="0">
              <a:lnSpc>
                <a:spcPct val="130000"/>
              </a:lnSpc>
              <a:buNone/>
            </a:pPr>
            <a:r>
              <a:rPr lang="en-US" sz="1100" dirty="0">
                <a:solidFill>
                  <a:srgbClr val="444444"/>
                </a:solidFill>
                <a:latin typeface="Yu Gothic" pitchFamily="34" charset="0"/>
                <a:ea typeface="Yu Gothic" pitchFamily="34" charset="-122"/>
                <a:cs typeface="Yu Gothic" pitchFamily="34" charset="-120"/>
              </a:rPr>
              <a:t>Vercel での本番環境へのデプロイ・GitHub と連携した開発フロー・iOS の Safe Area や PWA 対応など、授業では習わなかった実装上のハマりどころを実際に経験した。「なぜ動かないか」を調べる力がついた。</a:t>
            </a:r>
            <a:endParaRPr lang="en-US" sz="1100" dirty="0"/>
          </a:p>
        </p:txBody>
      </p:sp>
      <p:sp>
        <p:nvSpPr>
          <p:cNvPr id="19" name="Shape 17"/>
          <p:cNvSpPr/>
          <p:nvPr/>
        </p:nvSpPr>
        <p:spPr>
          <a:xfrm>
            <a:off x="8110728" y="2112264"/>
            <a:ext cx="3666744" cy="3931920"/>
          </a:xfrm>
          <a:prstGeom prst="rect">
            <a:avLst/>
          </a:prstGeom>
          <a:solidFill>
            <a:srgbClr val="EEF2FA"/>
          </a:solidFill>
          <a:ln w="6350">
            <a:solidFill>
              <a:srgbClr val="C5D0E6"/>
            </a:solidFill>
            <a:prstDash val="solid"/>
          </a:ln>
        </p:spPr>
      </p:sp>
      <p:sp>
        <p:nvSpPr>
          <p:cNvPr id="20" name="Shape 18"/>
          <p:cNvSpPr/>
          <p:nvPr/>
        </p:nvSpPr>
        <p:spPr>
          <a:xfrm>
            <a:off x="8110728" y="2112264"/>
            <a:ext cx="3666744" cy="73152"/>
          </a:xfrm>
          <a:prstGeom prst="rect">
            <a:avLst/>
          </a:prstGeom>
          <a:solidFill>
            <a:srgbClr val="2D5096"/>
          </a:solidFill>
          <a:ln/>
        </p:spPr>
      </p:sp>
      <p:sp>
        <p:nvSpPr>
          <p:cNvPr id="21" name="Text 19"/>
          <p:cNvSpPr/>
          <p:nvPr/>
        </p:nvSpPr>
        <p:spPr>
          <a:xfrm>
            <a:off x="8275320" y="2258568"/>
            <a:ext cx="3374136" cy="548640"/>
          </a:xfrm>
          <a:prstGeom prst="rect">
            <a:avLst/>
          </a:prstGeom>
          <a:noFill/>
          <a:ln/>
        </p:spPr>
        <p:txBody>
          <a:bodyPr wrap="square" rtlCol="0" anchor="ctr"/>
          <a:lstStyle/>
          <a:p>
            <a:pPr indent="0" marL="0">
              <a:buNone/>
            </a:pPr>
            <a:r>
              <a:rPr lang="en-US" sz="1200" b="1" dirty="0">
                <a:solidFill>
                  <a:srgbClr val="1B3A6B"/>
                </a:solidFill>
                <a:latin typeface="Yu Mincho" pitchFamily="34" charset="0"/>
                <a:ea typeface="Yu Mincho" pitchFamily="34" charset="-122"/>
                <a:cs typeface="Yu Mincho" pitchFamily="34" charset="-120"/>
              </a:rPr>
              <a:t>③  セキュリティは AI 任せが限界、自分で学ぶ必要がある</a:t>
            </a:r>
            <a:endParaRPr lang="en-US" sz="1200" dirty="0"/>
          </a:p>
        </p:txBody>
      </p:sp>
      <p:sp>
        <p:nvSpPr>
          <p:cNvPr id="22" name="Shape 20"/>
          <p:cNvSpPr/>
          <p:nvPr/>
        </p:nvSpPr>
        <p:spPr>
          <a:xfrm>
            <a:off x="8275320" y="2880360"/>
            <a:ext cx="3337560" cy="0"/>
          </a:xfrm>
          <a:prstGeom prst="line">
            <a:avLst/>
          </a:prstGeom>
          <a:noFill/>
          <a:ln w="5080">
            <a:solidFill>
              <a:srgbClr val="C5D0E6"/>
            </a:solidFill>
            <a:prstDash val="solid"/>
          </a:ln>
        </p:spPr>
      </p:sp>
      <p:sp>
        <p:nvSpPr>
          <p:cNvPr id="23" name="Text 21"/>
          <p:cNvSpPr/>
          <p:nvPr/>
        </p:nvSpPr>
        <p:spPr>
          <a:xfrm>
            <a:off x="8275320" y="2990088"/>
            <a:ext cx="3374136" cy="2944368"/>
          </a:xfrm>
          <a:prstGeom prst="rect">
            <a:avLst/>
          </a:prstGeom>
          <a:noFill/>
          <a:ln/>
        </p:spPr>
        <p:txBody>
          <a:bodyPr wrap="square" rtlCol="0" anchor="ctr"/>
          <a:lstStyle/>
          <a:p>
            <a:pPr indent="0" marL="0">
              <a:lnSpc>
                <a:spcPct val="130000"/>
              </a:lnSpc>
              <a:buNone/>
            </a:pPr>
            <a:r>
              <a:rPr lang="en-US" sz="1100" dirty="0">
                <a:solidFill>
                  <a:srgbClr val="444444"/>
                </a:solidFill>
                <a:latin typeface="Yu Gothic" pitchFamily="34" charset="0"/>
                <a:ea typeface="Yu Gothic" pitchFamily="34" charset="-122"/>
                <a:cs typeface="Yu Gothic" pitchFamily="34" charset="-120"/>
              </a:rPr>
              <a:t>今回のセキュリティ対策は Claude による診断に頼った部分が大きく、「なぜ危険か」を自分の言葉で説明できるレベルには達していない。</a:t>
            </a:r>
            <a:endParaRPr lang="en-US" sz="1100" dirty="0"/>
          </a:p>
          <a:p>
            <a:pPr indent="0" marL="0">
              <a:lnSpc>
                <a:spcPct val="130000"/>
              </a:lnSpc>
              <a:buNone/>
            </a:pPr>
            <a:endParaRPr lang="en-US" sz="1100" dirty="0"/>
          </a:p>
          <a:p>
            <a:pPr indent="0" marL="0">
              <a:lnSpc>
                <a:spcPct val="130000"/>
              </a:lnSpc>
              <a:buNone/>
            </a:pPr>
            <a:r>
              <a:rPr lang="en-US" sz="1100" dirty="0">
                <a:solidFill>
                  <a:srgbClr val="444444"/>
                </a:solidFill>
                <a:latin typeface="Yu Gothic" pitchFamily="34" charset="0"/>
                <a:ea typeface="Yu Gothic" pitchFamily="34" charset="-122"/>
                <a:cs typeface="Yu Gothic" pitchFamily="34" charset="-120"/>
              </a:rPr>
              <a:t>本番環境として運用するなら、SQL インジェクション・XSS・CORS・認証の仕組みなどを体系的に自分で学ぶ必要があると強く感じた。AI は問題を発見してくれるが、理解と判断は自分が持つべきだという課題が残った。</a:t>
            </a:r>
            <a:endParaRPr lang="en-US" sz="1100" dirty="0"/>
          </a:p>
        </p:txBody>
      </p:sp>
      <p:sp>
        <p:nvSpPr>
          <p:cNvPr id="24" name="Shape 22"/>
          <p:cNvSpPr/>
          <p:nvPr/>
        </p:nvSpPr>
        <p:spPr>
          <a:xfrm>
            <a:off x="411480" y="6217920"/>
            <a:ext cx="11365992" cy="347472"/>
          </a:xfrm>
          <a:prstGeom prst="rect">
            <a:avLst/>
          </a:prstGeom>
          <a:solidFill>
            <a:srgbClr val="DDE4F2"/>
          </a:solidFill>
          <a:ln w="6350">
            <a:solidFill>
              <a:srgbClr val="4A6FA5"/>
            </a:solidFill>
            <a:prstDash val="solid"/>
          </a:ln>
        </p:spPr>
      </p:sp>
      <p:sp>
        <p:nvSpPr>
          <p:cNvPr id="25" name="Text 23"/>
          <p:cNvSpPr/>
          <p:nvPr/>
        </p:nvSpPr>
        <p:spPr>
          <a:xfrm>
            <a:off x="594360" y="6217920"/>
            <a:ext cx="11064240" cy="347472"/>
          </a:xfrm>
          <a:prstGeom prst="rect">
            <a:avLst/>
          </a:prstGeom>
          <a:noFill/>
          <a:ln/>
        </p:spPr>
        <p:txBody>
          <a:bodyPr wrap="square" rtlCol="0" anchor="ctr"/>
          <a:lstStyle/>
          <a:p>
            <a:pPr algn="ctr" indent="0" marL="0">
              <a:buNone/>
            </a:pPr>
            <a:r>
              <a:rPr lang="en-US" sz="1200" u="sng" dirty="0">
                <a:solidFill>
                  <a:srgbClr val="1B3A6B"/>
                </a:solidFill>
                <a:latin typeface="Yu Gothic" pitchFamily="34" charset="0"/>
                <a:ea typeface="Yu Gothic" pitchFamily="34" charset="-122"/>
                <a:cs typeface="Yu Gothic" pitchFamily="34" charset="-120"/>
              </a:rPr>
              <a:t>https://ripplefm.vercel.app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2026-03-30T02:27:53Z</dcterms:created>
  <dcterms:modified xsi:type="dcterms:W3CDTF">2026-03-30T02:27:53Z</dcterms:modified>
</cp:coreProperties>
</file>